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JetBrains Mono"/>
      <p:bold r:id="rId11"/>
    </p:embeddedFon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bet Eliot, BKW Energie AG" userId="eca77083-a850-4263-84d0-47e104089f76" providerId="ADAL" clId="{8E52AFE9-FC63-472D-95AE-DC52623EA9BD}"/>
    <pc:docChg chg="delSld">
      <pc:chgData name="Tabet Eliot, BKW Energie AG" userId="eca77083-a850-4263-84d0-47e104089f76" providerId="ADAL" clId="{8E52AFE9-FC63-472D-95AE-DC52623EA9BD}" dt="2026-10-21T09:37:27.350" v="3" actId="47"/>
      <pc:docMkLst>
        <pc:docMk/>
      </pc:docMkLst>
      <pc:sldChg chg="del">
        <pc:chgData name="Tabet Eliot, BKW Energie AG" userId="eca77083-a850-4263-84d0-47e104089f76" providerId="ADAL" clId="{8E52AFE9-FC63-472D-95AE-DC52623EA9BD}" dt="2026-10-21T09:37:26.342" v="2" actId="47"/>
        <pc:sldMkLst>
          <pc:docMk/>
          <pc:sldMk cId="0" sldId="265"/>
        </pc:sldMkLst>
      </pc:sldChg>
      <pc:sldChg chg="del">
        <pc:chgData name="Tabet Eliot, BKW Energie AG" userId="eca77083-a850-4263-84d0-47e104089f76" providerId="ADAL" clId="{8E52AFE9-FC63-472D-95AE-DC52623EA9BD}" dt="2026-10-21T09:37:27.350" v="3" actId="47"/>
        <pc:sldMkLst>
          <pc:docMk/>
          <pc:sldMk cId="0" sldId="266"/>
        </pc:sldMkLst>
      </pc:sldChg>
      <pc:sldChg chg="del">
        <pc:chgData name="Tabet Eliot, BKW Energie AG" userId="eca77083-a850-4263-84d0-47e104089f76" providerId="ADAL" clId="{8E52AFE9-FC63-472D-95AE-DC52623EA9BD}" dt="2026-10-21T09:37:17.595" v="1" actId="47"/>
        <pc:sldMkLst>
          <pc:docMk/>
          <pc:sldMk cId="0" sldId="267"/>
        </pc:sldMkLst>
      </pc:sldChg>
      <pc:sldChg chg="del">
        <pc:chgData name="Tabet Eliot, BKW Energie AG" userId="eca77083-a850-4263-84d0-47e104089f76" providerId="ADAL" clId="{8E52AFE9-FC63-472D-95AE-DC52623EA9BD}" dt="2026-10-21T09:37:15.300" v="0" actId="47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470052"/>
            <a:ext cx="10668000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470052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746277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4746277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4746277"/>
            <a:ext cx="1524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940272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Plus Jakarta Sans"/>
              </a:rPr>
              <a:t>JUNIOR ANALYST TRAINING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187922"/>
            <a:ext cx="860107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Fundamentals of Global Coal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17552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Understanding energy grades, Asia-Atlantic dynamics, benchmark pricing mechanics, and physical trade flow analytics.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4746277"/>
            <a:ext cx="1266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Market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0325" y="4746277"/>
            <a:ext cx="128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Seaborne Trade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2900" y="4746277"/>
            <a:ext cx="1821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API2 / API4 / Newcastle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90850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990850"/>
            <a:ext cx="38100" cy="16954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990850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30749" y="2990850"/>
            <a:ext cx="38100" cy="1695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2990850"/>
            <a:ext cx="3530649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51899" y="2990850"/>
            <a:ext cx="38100" cy="16954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COAL GRADES TAXONOMY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Spectrum of Coal: From Lignite to Metallurgical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19450"/>
            <a:ext cx="3168699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Lowest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349" y="3219450"/>
            <a:ext cx="3168699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Seaborne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499" y="3219450"/>
            <a:ext cx="3168699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Industrial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476625"/>
            <a:ext cx="39838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Lignite (Brown)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29050"/>
            <a:ext cx="3794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Energy: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~2,500–4,000 kcal/kg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114800"/>
            <a:ext cx="31305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Un-traded locally burned fuel. Highly polluting (1.2 tCO2/MWh) &amp; high sulfur (~3%).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449" y="3476625"/>
            <a:ext cx="39838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Thermal (Steam)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449" y="3829050"/>
            <a:ext cx="3794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Energy: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5,500–7,000 kcal/kg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7449" y="4114800"/>
            <a:ext cx="31305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Global power benchmark. Called "sea coal" in US. Primary focus of API &amp; Newcastle pricing.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599" y="3476625"/>
            <a:ext cx="38734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Metallurgical (Coking)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99" y="3829050"/>
            <a:ext cx="3794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Energy: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High Grade / Low 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599" y="4114800"/>
            <a:ext cx="31305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Essential for 74% of global steel production. Low moisture/sulfur coke feed stock.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0" y="2524125"/>
            <a:ext cx="5638800" cy="2628900"/>
          </a:xfrm>
          <a:prstGeom prst="roundRect">
            <a:avLst>
              <a:gd name="adj" fmla="val 43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47912"/>
            <a:ext cx="50292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52812"/>
            <a:ext cx="5029200" cy="771525"/>
          </a:xfrm>
          <a:prstGeom prst="roundRect">
            <a:avLst>
              <a:gd name="adj" fmla="val 1481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376737"/>
            <a:ext cx="50292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GRADE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Lignite: Cheap Energy vs Carbon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2828925"/>
            <a:ext cx="5943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0A5FA"/>
                </a:solidFill>
                <a:latin typeface="Plus Jakarta Sans"/>
              </a:rPr>
              <a:t>EMISSIONS DISADVANTAGE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057525"/>
            <a:ext cx="5943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FFFF"/>
                </a:solidFill>
                <a:latin typeface="Plus Jakarta Sans"/>
              </a:rPr>
              <a:t>1.26x Higher Carbon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538412"/>
            <a:ext cx="581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No International Trade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747962"/>
            <a:ext cx="47434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Uneconomic to transport long distances due to low energy density and high moisture.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43312"/>
            <a:ext cx="581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EU Cost Base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852862"/>
            <a:ext cx="5810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Median EU mining and fixed operating costs hover at </a:t>
            </a:r>
            <a:r>
              <a:rPr sz="1125" b="1" i="0" u="none">
                <a:solidFill>
                  <a:srgbClr val="334155"/>
                </a:solidFill>
                <a:latin typeface="Plus Jakarta Sans"/>
              </a:rPr>
              <a:t>15 €/Ton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567237"/>
            <a:ext cx="581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Strategic Self-Sufficiency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776787"/>
            <a:ext cx="47434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Cheapest baseload source providing domestic energy independence across Europe (e.g. Germany).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3533775"/>
            <a:ext cx="5943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Lignite Emission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3762375"/>
            <a:ext cx="59436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F4444"/>
                </a:solidFill>
                <a:latin typeface="Plus Jakarta Sans"/>
              </a:rPr>
              <a:t>1.20 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tCO2 / MWh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4286250"/>
            <a:ext cx="5943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Hard Coal Emission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4514850"/>
            <a:ext cx="59436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Plus Jakarta Sans"/>
              </a:rPr>
              <a:t>0.95 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tCO2 / MWh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2750"/>
            <a:ext cx="353064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2952750"/>
            <a:ext cx="353064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952750"/>
            <a:ext cx="3530649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4295775"/>
            <a:ext cx="1304925" cy="219075"/>
          </a:xfrm>
          <a:prstGeom prst="roundRect">
            <a:avLst>
              <a:gd name="adj" fmla="val 26086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68874" y="4295775"/>
            <a:ext cx="1438275" cy="219075"/>
          </a:xfrm>
          <a:prstGeom prst="roundRect">
            <a:avLst>
              <a:gd name="adj" fmla="val 2608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90024" y="4295775"/>
            <a:ext cx="1114425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PRICE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The Three Pillar Seaborne Coal Indexes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190875"/>
            <a:ext cx="3817999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JetBrains Mono"/>
              </a:rPr>
              <a:t>API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543300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Northwest Europe (CIF ARA)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29050"/>
            <a:ext cx="31496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Import reference for Amsterdam, Rotterdam, Antwerp hub.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333875"/>
            <a:ext cx="1247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30A3"/>
                </a:solidFill>
                <a:latin typeface="Plus Jakarta Sans"/>
              </a:rPr>
              <a:t>Spec: 6,000 kcal/kg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190875"/>
            <a:ext cx="3817999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JetBrains Mono"/>
              </a:rPr>
              <a:t>API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543300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South Africa (FOB Richards Bay)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829050"/>
            <a:ext cx="31496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Primary export index bridging Atlantic and Indo-Pacific 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074" y="4333875"/>
            <a:ext cx="1381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Plus Jakarta Sans"/>
              </a:rPr>
              <a:t>Largest African 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190875"/>
            <a:ext cx="3817999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97706"/>
                </a:solidFill>
                <a:latin typeface="JetBrains Mono"/>
              </a:rPr>
              <a:t>NEWCASTLE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3543300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Australia (FOB Newcastle)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024" y="3829050"/>
            <a:ext cx="31496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Asian demand benchmark. Key signal for Pacific Basin dynamics.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224" y="4333875"/>
            <a:ext cx="1057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Plus Jakarta Sans"/>
              </a:rPr>
              <a:t>Pacific Hub Driver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0362"/>
            <a:ext cx="5353050" cy="1876425"/>
          </a:xfrm>
          <a:prstGeom prst="roundRect">
            <a:avLst>
              <a:gd name="adj" fmla="val 609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809875"/>
            <a:ext cx="5353050" cy="2057400"/>
          </a:xfrm>
          <a:prstGeom prst="roundRect">
            <a:avLst>
              <a:gd name="adj" fmla="val 5555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STRUCTURAL TRADE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Market Gravity Shift: Atlantic Decline to Pacific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167062"/>
            <a:ext cx="63257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Plus Jakarta Sans"/>
              </a:rPr>
              <a:t>European Union: Sunset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57587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• Strict decarbonization regulations and rising carbon prices (EUA).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2862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• ARA terminal stock levels no longer drive global price discovery.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148137"/>
            <a:ext cx="4914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• Post-2022 pivot away from historical Russian supply dependency (55% pre-war import reliance).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3076575"/>
            <a:ext cx="56959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Plus Jakarta Sans"/>
              </a:rPr>
              <a:t>Asia: Global Demand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3467100"/>
            <a:ext cx="5695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4532D"/>
                </a:solidFill>
                <a:latin typeface="Plus Jakarta Sans"/>
              </a:rPr>
              <a:t>• Primary growth engine for thermal and metallurgical coal.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3762375"/>
            <a:ext cx="4914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4532D"/>
                </a:solidFill>
                <a:latin typeface="Plus Jakarta Sans"/>
              </a:rPr>
              <a:t>• China: Imports ~281M Tons/year; balances domestic support with seaborne buying.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4238625"/>
            <a:ext cx="4914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4532D"/>
                </a:solidFill>
                <a:latin typeface="Plus Jakarta Sans"/>
              </a:rPr>
              <a:t>• India &amp; Southeast Asia: Major destinations for US high-sulfur and Australian exports.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43262"/>
            <a:ext cx="260032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57537"/>
            <a:ext cx="2600325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243262"/>
            <a:ext cx="260032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243262"/>
            <a:ext cx="260032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EXPORTERS &amp;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Key Global Exporters &amp; Quality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43376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Australia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29037"/>
            <a:ext cx="2314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#1 global supplier of high-CV thermal &amp; met coal. Dominant exporter alongside Qatar in LNG.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0925" y="3348037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United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0925" y="3643312"/>
            <a:ext cx="23145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Requires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$80/ton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floor to maintain export flows. High sulfur content limits buyers (India key, Egypt emerging).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343376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Colombia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3729037"/>
            <a:ext cx="2314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Premium low-sulfur thermal coal supplier, highly valued by strictly regulated power utilities.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2575" y="343376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South Africa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2575" y="3729037"/>
            <a:ext cx="23145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Richards Bay (RBCT) serves as flexible swing exporter between European and Asian buyers.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5600"/>
            <a:ext cx="5181600" cy="1885950"/>
          </a:xfrm>
          <a:prstGeom prst="roundRect">
            <a:avLst>
              <a:gd name="adj" fmla="val 606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0" y="2800350"/>
            <a:ext cx="5486400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0" y="3914775"/>
            <a:ext cx="5486400" cy="962025"/>
          </a:xfrm>
          <a:prstGeom prst="roundRect">
            <a:avLst>
              <a:gd name="adj" fmla="val 11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CROSS-COMMODITY LINKAGE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Steel Demand as a Direct Driver of Met Coal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5715000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400" b="1" i="0" u="none">
                <a:solidFill>
                  <a:srgbClr val="38BDF8"/>
                </a:solidFill>
                <a:latin typeface="Plus Jakarta Sans"/>
              </a:rPr>
              <a:t>74%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38600"/>
            <a:ext cx="46672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Plus Jakarta Sans"/>
              </a:rPr>
              <a:t>Of total global steel production depends directly on metallurgical coal input for blast furnaces.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6025" y="3000375"/>
            <a:ext cx="58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Positive Demand Transmission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6025" y="3219450"/>
            <a:ext cx="5181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Rising steel demand / margins → Blast furnace utilization increases → Met coal spot prices surge.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6025" y="4114800"/>
            <a:ext cx="58959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Negative Demand Transmission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6025" y="4333875"/>
            <a:ext cx="5181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Steel slowdown / construction slump → Steel mill margin compression → Fast met coal price correction.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21994" y="2214562"/>
            <a:ext cx="5860405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21994" y="3348037"/>
            <a:ext cx="5860405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21994" y="4481512"/>
            <a:ext cx="5860405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76350"/>
            <a:ext cx="4883794" cy="512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494" y="2433637"/>
            <a:ext cx="1714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494" y="3567112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494" y="4700587"/>
            <a:ext cx="1714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SUPPLY CHAIN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Physical Bottlenecks &amp; Route Vulnerabilities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2494" y="2405062"/>
            <a:ext cx="6279505" cy="2000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Waterway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2494" y="2662237"/>
            <a:ext cx="557465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Inland river levels (e.g., Rhine, Mississippi) restrict barge capacities, creating regional supply backlogs.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2494" y="3538537"/>
            <a:ext cx="6279505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Weather &amp; Storms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2494" y="3795712"/>
            <a:ext cx="557465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Cyclones in Queensland (Australia) or heavy rains in Kalimantan (Indonesia) rapidly halt mining and vessel loading.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2494" y="4672012"/>
            <a:ext cx="6279505" cy="2000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Port Congestion Signaling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2494" y="4929187"/>
            <a:ext cx="557465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Tracking queue lengths and empty vessel counts anchored at Newcastle offers real-time physical demand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19437"/>
            <a:ext cx="435858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196780" y="2357437"/>
            <a:ext cx="6385619" cy="2962275"/>
          </a:xfrm>
          <a:prstGeom prst="roundRect">
            <a:avLst>
              <a:gd name="adj" fmla="val 38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63480" y="2995612"/>
            <a:ext cx="5852219" cy="6096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63480" y="3719512"/>
            <a:ext cx="5852219" cy="6096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63480" y="4443412"/>
            <a:ext cx="5852219" cy="6096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DERIVATIVES &amp; TRADING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API2 Futures Settlement Mechanics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48037"/>
            <a:ext cx="3996630" cy="981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Contract 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24262"/>
            <a:ext cx="512056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1 Lot = 1,000 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86212"/>
            <a:ext cx="39966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All API2 and API4 futures traded on ICE/CME settle financially in USD based on monthly average index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3480" y="2624137"/>
            <a:ext cx="67285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Plus Jakarta Sans"/>
              </a:rPr>
              <a:t>Delivery Month Settlement Dynamics (e.g., March Contract)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830" y="3128962"/>
            <a:ext cx="568076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Plus Jakarta Sans"/>
              </a:rPr>
              <a:t>Daily Calculation:</a:t>
            </a:r>
            <a:r>
              <a:rPr sz="1050" b="0" i="0" u="none">
                <a:solidFill>
                  <a:srgbClr val="F8FAFC"/>
                </a:solidFill>
                <a:latin typeface="Plus Jakarta Sans"/>
              </a:rPr>
              <a:t> Settles against the average daily API2 index values during the month of March.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830" y="3852862"/>
            <a:ext cx="568076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Plus Jakarta Sans"/>
              </a:rPr>
              <a:t>Active Trading:</a:t>
            </a:r>
            <a:r>
              <a:rPr sz="1050" b="0" i="0" u="none">
                <a:solidFill>
                  <a:srgbClr val="F8FAFC"/>
                </a:solidFill>
                <a:latin typeface="Plus Jakarta Sans"/>
              </a:rPr>
              <a:t> March contract remains active for trading throughout March while index prints daily.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830" y="4576762"/>
            <a:ext cx="568076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Plus Jakarta Sans"/>
              </a:rPr>
              <a:t>Expiry &amp; Final Strike:</a:t>
            </a:r>
            <a:r>
              <a:rPr sz="1050" b="0" i="0" u="none">
                <a:solidFill>
                  <a:srgbClr val="F8FAFC"/>
                </a:solidFill>
                <a:latin typeface="Plus Jakarta Sans"/>
              </a:rPr>
              <a:t> Last trading day is the last Friday of the month, but settlement strike calculates until calendar month-end.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bdd62b9-39f1-45ea-989a-e3b3cb1dd7ef}" enabled="1" method="Privileged" siteId="{376e33ca-d656-4e46-8bcb-7d5ba898ae6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Plus Jakarta Sans</vt:lpstr>
      <vt:lpstr>JetBrains Mono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Tabet Eliot, BKW Energie AG</cp:lastModifiedBy>
  <cp:revision>1</cp:revision>
  <dcterms:created xsi:type="dcterms:W3CDTF">2013-01-27T09:14:16Z</dcterms:created>
  <dcterms:modified xsi:type="dcterms:W3CDTF">2026-10-21T09:37:30Z</dcterms:modified>
  <cp:category/>
</cp:coreProperties>
</file>