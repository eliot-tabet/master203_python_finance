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Proxima Nova"/>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ProximaNova-bold.fntdata"/><Relationship Id="rId12" Type="http://schemas.openxmlformats.org/officeDocument/2006/relationships/font" Target="fonts/ProximaNov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roximaNova-boldItalic.fntdata"/><Relationship Id="rId14"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8955da4e1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8955da4e1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1331de28b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1331de28b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d13c2ebd3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d13c2ebd3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d13c2ebd3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d13c2ebd3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d13c2ebd3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d13c2ebd3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de"/>
              <a:t>Python Bootcamp</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Session 4 : NumPy and Pandas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What are Numpy and Pandas ?</a:t>
            </a:r>
            <a:endParaRPr/>
          </a:p>
        </p:txBody>
      </p:sp>
      <p:sp>
        <p:nvSpPr>
          <p:cNvPr id="66" name="Google Shape;66;p14"/>
          <p:cNvSpPr txBox="1"/>
          <p:nvPr>
            <p:ph idx="1" type="body"/>
          </p:nvPr>
        </p:nvSpPr>
        <p:spPr>
          <a:xfrm>
            <a:off x="311700" y="1017725"/>
            <a:ext cx="8520600" cy="4125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de"/>
              <a:t>A module or library is a</a:t>
            </a:r>
            <a:r>
              <a:rPr lang="de"/>
              <a:t> file that contains a set of functions that you want to use</a:t>
            </a:r>
            <a:endParaRPr/>
          </a:p>
          <a:p>
            <a:pPr indent="-342900" lvl="0" marL="457200" rtl="0" algn="l">
              <a:spcBef>
                <a:spcPts val="0"/>
              </a:spcBef>
              <a:spcAft>
                <a:spcPts val="0"/>
              </a:spcAft>
              <a:buSzPts val="1800"/>
              <a:buChar char="●"/>
            </a:pPr>
            <a:r>
              <a:rPr lang="de"/>
              <a:t>NumPy and Pandas are both Python modules, arguably the most used ones</a:t>
            </a:r>
            <a:endParaRPr/>
          </a:p>
          <a:p>
            <a:pPr indent="-342900" lvl="0" marL="457200" rtl="0" algn="l">
              <a:spcBef>
                <a:spcPts val="0"/>
              </a:spcBef>
              <a:spcAft>
                <a:spcPts val="0"/>
              </a:spcAft>
              <a:buSzPts val="1800"/>
              <a:buChar char="●"/>
            </a:pPr>
            <a:r>
              <a:rPr lang="de"/>
              <a:t>NumPy stands for Numerical Python, it is a module that allows you to work with arrays, matrices and has some linear algebra functions</a:t>
            </a:r>
            <a:endParaRPr/>
          </a:p>
          <a:p>
            <a:pPr indent="-342900" lvl="0" marL="457200" rtl="0" algn="l">
              <a:spcBef>
                <a:spcPts val="0"/>
              </a:spcBef>
              <a:spcAft>
                <a:spcPts val="0"/>
              </a:spcAft>
              <a:buSzPts val="1800"/>
              <a:buChar char="●"/>
            </a:pPr>
            <a:r>
              <a:rPr lang="de"/>
              <a:t>Pandas stands for Python Data Analysis, it is a module that allows to work with data sets. It has functions for analyzing, cleaning, exploring, and manipulating data</a:t>
            </a:r>
            <a:endParaRPr/>
          </a:p>
          <a:p>
            <a:pPr indent="-342900" lvl="0" marL="457200" rtl="0" algn="l">
              <a:spcBef>
                <a:spcPts val="0"/>
              </a:spcBef>
              <a:spcAft>
                <a:spcPts val="0"/>
              </a:spcAft>
              <a:buSzPts val="1800"/>
              <a:buChar char="●"/>
            </a:pPr>
            <a:r>
              <a:rPr lang="de"/>
              <a:t>Whenever you import a module it is custom to give it an alias to make it easy to use the functions of the module. np is the alias given to numpy and pd the one given to pandas and so you would write: </a:t>
            </a:r>
            <a:r>
              <a:rPr b="1" lang="de" u="sng">
                <a:solidFill>
                  <a:srgbClr val="FF0000"/>
                </a:solidFill>
              </a:rPr>
              <a:t>import pandas as pd, import numpy as np</a:t>
            </a:r>
            <a:endParaRPr b="1" u="sng">
              <a:solidFill>
                <a:srgbClr val="FF0000"/>
              </a:solidFill>
            </a:endParaRPr>
          </a:p>
          <a:p>
            <a:pPr indent="-342900" lvl="0" marL="457200" rtl="0" algn="l">
              <a:spcBef>
                <a:spcPts val="0"/>
              </a:spcBef>
              <a:spcAft>
                <a:spcPts val="0"/>
              </a:spcAft>
              <a:buSzPts val="1800"/>
              <a:buChar char="●"/>
            </a:pPr>
            <a:r>
              <a:rPr lang="de"/>
              <a:t>You would write np.max to use the max function from the numpy library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NumPy Arrays</a:t>
            </a:r>
            <a:endParaRPr/>
          </a:p>
        </p:txBody>
      </p:sp>
      <p:sp>
        <p:nvSpPr>
          <p:cNvPr id="72" name="Google Shape;72;p15"/>
          <p:cNvSpPr txBox="1"/>
          <p:nvPr>
            <p:ph idx="1" type="body"/>
          </p:nvPr>
        </p:nvSpPr>
        <p:spPr>
          <a:xfrm>
            <a:off x="311700" y="1152475"/>
            <a:ext cx="8520600" cy="3899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de"/>
              <a:t>NumPy arrays can be seen as vectors. They are used since NumPy allows quicker operations which is important in Data Science when you have list of millions of values</a:t>
            </a:r>
            <a:endParaRPr/>
          </a:p>
          <a:p>
            <a:pPr indent="-342900" lvl="0" marL="457200" rtl="0" algn="l">
              <a:spcBef>
                <a:spcPts val="0"/>
              </a:spcBef>
              <a:spcAft>
                <a:spcPts val="0"/>
              </a:spcAft>
              <a:buSzPts val="1800"/>
              <a:buChar char="●"/>
            </a:pPr>
            <a:r>
              <a:rPr lang="de"/>
              <a:t>Creating an array in numpy is easy:</a:t>
            </a:r>
            <a:endParaRPr/>
          </a:p>
          <a:p>
            <a:pPr indent="0" lvl="0" marL="0" rtl="0" algn="l">
              <a:spcBef>
                <a:spcPts val="1200"/>
              </a:spcBef>
              <a:spcAft>
                <a:spcPts val="0"/>
              </a:spcAft>
              <a:buNone/>
            </a:pPr>
            <a:r>
              <a:rPr lang="de" sz="1650">
                <a:solidFill>
                  <a:srgbClr val="0000CD"/>
                </a:solidFill>
                <a:highlight>
                  <a:srgbClr val="FFFFFF"/>
                </a:highlight>
                <a:latin typeface="Consolas"/>
                <a:ea typeface="Consolas"/>
                <a:cs typeface="Consolas"/>
                <a:sym typeface="Consolas"/>
              </a:rPr>
              <a:t>import</a:t>
            </a:r>
            <a:r>
              <a:rPr lang="de" sz="1650">
                <a:solidFill>
                  <a:srgbClr val="000000"/>
                </a:solidFill>
                <a:highlight>
                  <a:srgbClr val="FFFFFF"/>
                </a:highlight>
                <a:latin typeface="Consolas"/>
                <a:ea typeface="Consolas"/>
                <a:cs typeface="Consolas"/>
                <a:sym typeface="Consolas"/>
              </a:rPr>
              <a:t> numpy </a:t>
            </a:r>
            <a:r>
              <a:rPr lang="de" sz="1650">
                <a:solidFill>
                  <a:srgbClr val="0000CD"/>
                </a:solidFill>
                <a:highlight>
                  <a:srgbClr val="FFFFFF"/>
                </a:highlight>
                <a:latin typeface="Consolas"/>
                <a:ea typeface="Consolas"/>
                <a:cs typeface="Consolas"/>
                <a:sym typeface="Consolas"/>
              </a:rPr>
              <a:t>as</a:t>
            </a:r>
            <a:r>
              <a:rPr lang="de" sz="1650">
                <a:solidFill>
                  <a:srgbClr val="000000"/>
                </a:solidFill>
                <a:highlight>
                  <a:srgbClr val="FFFFFF"/>
                </a:highlight>
                <a:latin typeface="Consolas"/>
                <a:ea typeface="Consolas"/>
                <a:cs typeface="Consolas"/>
                <a:sym typeface="Consolas"/>
              </a:rPr>
              <a:t> np</a:t>
            </a:r>
            <a:endParaRPr sz="1600">
              <a:solidFill>
                <a:srgbClr val="000000"/>
              </a:solidFill>
              <a:latin typeface="Arial"/>
              <a:ea typeface="Arial"/>
              <a:cs typeface="Arial"/>
              <a:sym typeface="Arial"/>
            </a:endParaRPr>
          </a:p>
          <a:p>
            <a:pPr indent="0" lvl="0" marL="0" rtl="0" algn="l">
              <a:spcBef>
                <a:spcPts val="1200"/>
              </a:spcBef>
              <a:spcAft>
                <a:spcPts val="0"/>
              </a:spcAft>
              <a:buNone/>
            </a:pPr>
            <a:r>
              <a:rPr lang="de" sz="1650">
                <a:solidFill>
                  <a:srgbClr val="000000"/>
                </a:solidFill>
                <a:highlight>
                  <a:srgbClr val="FFFFFF"/>
                </a:highlight>
                <a:latin typeface="Consolas"/>
                <a:ea typeface="Consolas"/>
                <a:cs typeface="Consolas"/>
                <a:sym typeface="Consolas"/>
              </a:rPr>
              <a:t>arr = np.array([</a:t>
            </a:r>
            <a:r>
              <a:rPr lang="de" sz="1650">
                <a:solidFill>
                  <a:srgbClr val="FF0000"/>
                </a:solidFill>
                <a:highlight>
                  <a:srgbClr val="FFFFFF"/>
                </a:highlight>
                <a:latin typeface="Consolas"/>
                <a:ea typeface="Consolas"/>
                <a:cs typeface="Consolas"/>
                <a:sym typeface="Consolas"/>
              </a:rPr>
              <a:t>1</a:t>
            </a:r>
            <a:r>
              <a:rPr lang="de" sz="1650">
                <a:solidFill>
                  <a:srgbClr val="000000"/>
                </a:solidFill>
                <a:highlight>
                  <a:srgbClr val="FFFFFF"/>
                </a:highlight>
                <a:latin typeface="Consolas"/>
                <a:ea typeface="Consolas"/>
                <a:cs typeface="Consolas"/>
                <a:sym typeface="Consolas"/>
              </a:rPr>
              <a:t>, </a:t>
            </a:r>
            <a:r>
              <a:rPr lang="de" sz="1650">
                <a:solidFill>
                  <a:srgbClr val="FF0000"/>
                </a:solidFill>
                <a:highlight>
                  <a:srgbClr val="FFFFFF"/>
                </a:highlight>
                <a:latin typeface="Consolas"/>
                <a:ea typeface="Consolas"/>
                <a:cs typeface="Consolas"/>
                <a:sym typeface="Consolas"/>
              </a:rPr>
              <a:t>2</a:t>
            </a:r>
            <a:r>
              <a:rPr lang="de" sz="1650">
                <a:solidFill>
                  <a:srgbClr val="000000"/>
                </a:solidFill>
                <a:highlight>
                  <a:srgbClr val="FFFFFF"/>
                </a:highlight>
                <a:latin typeface="Consolas"/>
                <a:ea typeface="Consolas"/>
                <a:cs typeface="Consolas"/>
                <a:sym typeface="Consolas"/>
              </a:rPr>
              <a:t>, </a:t>
            </a:r>
            <a:r>
              <a:rPr lang="de" sz="1650">
                <a:solidFill>
                  <a:srgbClr val="FF0000"/>
                </a:solidFill>
                <a:highlight>
                  <a:srgbClr val="FFFFFF"/>
                </a:highlight>
                <a:latin typeface="Consolas"/>
                <a:ea typeface="Consolas"/>
                <a:cs typeface="Consolas"/>
                <a:sym typeface="Consolas"/>
              </a:rPr>
              <a:t>3</a:t>
            </a:r>
            <a:r>
              <a:rPr lang="de" sz="1650">
                <a:solidFill>
                  <a:srgbClr val="000000"/>
                </a:solidFill>
                <a:highlight>
                  <a:srgbClr val="FFFFFF"/>
                </a:highlight>
                <a:latin typeface="Consolas"/>
                <a:ea typeface="Consolas"/>
                <a:cs typeface="Consolas"/>
                <a:sym typeface="Consolas"/>
              </a:rPr>
              <a:t>, </a:t>
            </a:r>
            <a:r>
              <a:rPr lang="de" sz="1650">
                <a:solidFill>
                  <a:srgbClr val="FF0000"/>
                </a:solidFill>
                <a:highlight>
                  <a:srgbClr val="FFFFFF"/>
                </a:highlight>
                <a:latin typeface="Consolas"/>
                <a:ea typeface="Consolas"/>
                <a:cs typeface="Consolas"/>
                <a:sym typeface="Consolas"/>
              </a:rPr>
              <a:t>4</a:t>
            </a:r>
            <a:r>
              <a:rPr lang="de" sz="1650">
                <a:solidFill>
                  <a:srgbClr val="000000"/>
                </a:solidFill>
                <a:highlight>
                  <a:srgbClr val="FFFFFF"/>
                </a:highlight>
                <a:latin typeface="Consolas"/>
                <a:ea typeface="Consolas"/>
                <a:cs typeface="Consolas"/>
                <a:sym typeface="Consolas"/>
              </a:rPr>
              <a:t>, </a:t>
            </a:r>
            <a:r>
              <a:rPr lang="de" sz="1650">
                <a:solidFill>
                  <a:srgbClr val="FF0000"/>
                </a:solidFill>
                <a:highlight>
                  <a:srgbClr val="FFFFFF"/>
                </a:highlight>
                <a:latin typeface="Consolas"/>
                <a:ea typeface="Consolas"/>
                <a:cs typeface="Consolas"/>
                <a:sym typeface="Consolas"/>
              </a:rPr>
              <a:t>5</a:t>
            </a:r>
            <a:r>
              <a:rPr lang="de" sz="1650">
                <a:solidFill>
                  <a:srgbClr val="000000"/>
                </a:solidFill>
                <a:highlight>
                  <a:srgbClr val="FFFFFF"/>
                </a:highlight>
                <a:latin typeface="Consolas"/>
                <a:ea typeface="Consolas"/>
                <a:cs typeface="Consolas"/>
                <a:sym typeface="Consolas"/>
              </a:rPr>
              <a:t>])</a:t>
            </a:r>
            <a:endParaRPr sz="1650">
              <a:solidFill>
                <a:srgbClr val="000000"/>
              </a:solidFill>
              <a:highlight>
                <a:srgbClr val="FFFFFF"/>
              </a:highlight>
              <a:latin typeface="Consolas"/>
              <a:ea typeface="Consolas"/>
              <a:cs typeface="Consolas"/>
              <a:sym typeface="Consolas"/>
            </a:endParaRPr>
          </a:p>
          <a:p>
            <a:pPr indent="-342900" lvl="0" marL="457200" rtl="0" algn="l">
              <a:spcBef>
                <a:spcPts val="1200"/>
              </a:spcBef>
              <a:spcAft>
                <a:spcPts val="0"/>
              </a:spcAft>
              <a:buSzPts val="1800"/>
              <a:buChar char="●"/>
            </a:pPr>
            <a:r>
              <a:rPr lang="de"/>
              <a:t>Notice that what is </a:t>
            </a:r>
            <a:r>
              <a:rPr lang="de"/>
              <a:t>inside the parentheses is a list and so </a:t>
            </a:r>
            <a:r>
              <a:rPr b="1" lang="de" u="sng">
                <a:solidFill>
                  <a:srgbClr val="FF0000"/>
                </a:solidFill>
              </a:rPr>
              <a:t>lists are what arrays (vectors)  are created from</a:t>
            </a:r>
            <a:endParaRPr b="1" sz="1650" u="sng">
              <a:solidFill>
                <a:srgbClr val="FF0000"/>
              </a:solidFill>
              <a:highlight>
                <a:srgbClr val="FFFFFF"/>
              </a:highlight>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NumPy Array Methods</a:t>
            </a:r>
            <a:endParaRPr/>
          </a:p>
        </p:txBody>
      </p:sp>
      <p:sp>
        <p:nvSpPr>
          <p:cNvPr id="78" name="Google Shape;78;p16"/>
          <p:cNvSpPr txBox="1"/>
          <p:nvPr>
            <p:ph idx="1" type="body"/>
          </p:nvPr>
        </p:nvSpPr>
        <p:spPr>
          <a:xfrm>
            <a:off x="311700" y="1152475"/>
            <a:ext cx="8520600" cy="3838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sz="1650">
                <a:solidFill>
                  <a:srgbClr val="0000CD"/>
                </a:solidFill>
                <a:highlight>
                  <a:schemeClr val="lt1"/>
                </a:highlight>
                <a:latin typeface="Consolas"/>
                <a:ea typeface="Consolas"/>
                <a:cs typeface="Consolas"/>
                <a:sym typeface="Consolas"/>
              </a:rPr>
              <a:t>import</a:t>
            </a:r>
            <a:r>
              <a:rPr lang="de" sz="1650">
                <a:solidFill>
                  <a:srgbClr val="000000"/>
                </a:solidFill>
                <a:highlight>
                  <a:schemeClr val="lt1"/>
                </a:highlight>
                <a:latin typeface="Consolas"/>
                <a:ea typeface="Consolas"/>
                <a:cs typeface="Consolas"/>
                <a:sym typeface="Consolas"/>
              </a:rPr>
              <a:t> numpy </a:t>
            </a:r>
            <a:r>
              <a:rPr lang="de" sz="1650">
                <a:solidFill>
                  <a:srgbClr val="0000CD"/>
                </a:solidFill>
                <a:highlight>
                  <a:schemeClr val="lt1"/>
                </a:highlight>
                <a:latin typeface="Consolas"/>
                <a:ea typeface="Consolas"/>
                <a:cs typeface="Consolas"/>
                <a:sym typeface="Consolas"/>
              </a:rPr>
              <a:t>as</a:t>
            </a:r>
            <a:r>
              <a:rPr lang="de" sz="1650">
                <a:solidFill>
                  <a:srgbClr val="000000"/>
                </a:solidFill>
                <a:highlight>
                  <a:schemeClr val="lt1"/>
                </a:highlight>
                <a:latin typeface="Consolas"/>
                <a:ea typeface="Consolas"/>
                <a:cs typeface="Consolas"/>
                <a:sym typeface="Consolas"/>
              </a:rPr>
              <a:t> np</a:t>
            </a:r>
            <a:endParaRPr sz="1600">
              <a:solidFill>
                <a:srgbClr val="000000"/>
              </a:solidFill>
              <a:latin typeface="Arial"/>
              <a:ea typeface="Arial"/>
              <a:cs typeface="Arial"/>
              <a:sym typeface="Arial"/>
            </a:endParaRPr>
          </a:p>
          <a:p>
            <a:pPr indent="0" lvl="0" marL="0" rtl="0" algn="l">
              <a:spcBef>
                <a:spcPts val="1200"/>
              </a:spcBef>
              <a:spcAft>
                <a:spcPts val="0"/>
              </a:spcAft>
              <a:buNone/>
            </a:pPr>
            <a:r>
              <a:rPr lang="de" sz="1650">
                <a:solidFill>
                  <a:srgbClr val="000000"/>
                </a:solidFill>
                <a:highlight>
                  <a:schemeClr val="lt1"/>
                </a:highlight>
                <a:latin typeface="Consolas"/>
                <a:ea typeface="Consolas"/>
                <a:cs typeface="Consolas"/>
                <a:sym typeface="Consolas"/>
              </a:rPr>
              <a:t>arr = np.array([</a:t>
            </a:r>
            <a:r>
              <a:rPr lang="de" sz="1650">
                <a:solidFill>
                  <a:srgbClr val="FF0000"/>
                </a:solidFill>
                <a:highlight>
                  <a:schemeClr val="lt1"/>
                </a:highlight>
                <a:latin typeface="Consolas"/>
                <a:ea typeface="Consolas"/>
                <a:cs typeface="Consolas"/>
                <a:sym typeface="Consolas"/>
              </a:rPr>
              <a:t>0.5</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0.75</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1.0</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1.5</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2.0</a:t>
            </a:r>
            <a:r>
              <a:rPr lang="de" sz="1650">
                <a:solidFill>
                  <a:srgbClr val="000000"/>
                </a:solidFill>
                <a:highlight>
                  <a:schemeClr val="lt1"/>
                </a:highlight>
                <a:latin typeface="Consolas"/>
                <a:ea typeface="Consolas"/>
                <a:cs typeface="Consolas"/>
                <a:sym typeface="Consolas"/>
              </a:rPr>
              <a:t>])</a:t>
            </a:r>
            <a:endParaRPr sz="1650">
              <a:solidFill>
                <a:srgbClr val="000000"/>
              </a:solidFill>
              <a:highlight>
                <a:schemeClr val="lt1"/>
              </a:highlight>
              <a:latin typeface="Consolas"/>
              <a:ea typeface="Consolas"/>
              <a:cs typeface="Consolas"/>
              <a:sym typeface="Consolas"/>
            </a:endParaRPr>
          </a:p>
          <a:p>
            <a:pPr indent="-333375" lvl="0" marL="457200" rtl="0" algn="l">
              <a:spcBef>
                <a:spcPts val="1200"/>
              </a:spcBef>
              <a:spcAft>
                <a:spcPts val="0"/>
              </a:spcAft>
              <a:buClr>
                <a:srgbClr val="000000"/>
              </a:buClr>
              <a:buSzPts val="1650"/>
              <a:buFont typeface="Consolas"/>
              <a:buAutoNum type="arabicPeriod"/>
            </a:pPr>
            <a:r>
              <a:rPr lang="de" sz="1650">
                <a:solidFill>
                  <a:srgbClr val="000000"/>
                </a:solidFill>
                <a:highlight>
                  <a:schemeClr val="lt1"/>
                </a:highlight>
                <a:latin typeface="Consolas"/>
                <a:ea typeface="Consolas"/>
                <a:cs typeface="Consolas"/>
                <a:sym typeface="Consolas"/>
              </a:rPr>
              <a:t>Sum of elements: arr.sum() = 5.75</a:t>
            </a:r>
            <a:endParaRPr sz="1650">
              <a:solidFill>
                <a:srgbClr val="000000"/>
              </a:solidFill>
              <a:highlight>
                <a:schemeClr val="lt1"/>
              </a:highlight>
              <a:latin typeface="Consolas"/>
              <a:ea typeface="Consolas"/>
              <a:cs typeface="Consolas"/>
              <a:sym typeface="Consolas"/>
            </a:endParaRPr>
          </a:p>
          <a:p>
            <a:pPr indent="-333375" lvl="0" marL="457200" rtl="0" algn="l">
              <a:spcBef>
                <a:spcPts val="0"/>
              </a:spcBef>
              <a:spcAft>
                <a:spcPts val="0"/>
              </a:spcAft>
              <a:buClr>
                <a:srgbClr val="000000"/>
              </a:buClr>
              <a:buSzPts val="1650"/>
              <a:buFont typeface="Consolas"/>
              <a:buAutoNum type="arabicPeriod"/>
            </a:pPr>
            <a:r>
              <a:rPr lang="de" sz="1650">
                <a:solidFill>
                  <a:srgbClr val="000000"/>
                </a:solidFill>
                <a:highlight>
                  <a:schemeClr val="lt1"/>
                </a:highlight>
                <a:latin typeface="Consolas"/>
                <a:ea typeface="Consolas"/>
                <a:cs typeface="Consolas"/>
                <a:sym typeface="Consolas"/>
              </a:rPr>
              <a:t>Standard deviation: arr.std() = 0.53</a:t>
            </a:r>
            <a:endParaRPr sz="1650">
              <a:solidFill>
                <a:srgbClr val="000000"/>
              </a:solidFill>
              <a:highlight>
                <a:schemeClr val="lt1"/>
              </a:highlight>
              <a:latin typeface="Consolas"/>
              <a:ea typeface="Consolas"/>
              <a:cs typeface="Consolas"/>
              <a:sym typeface="Consolas"/>
            </a:endParaRPr>
          </a:p>
          <a:p>
            <a:pPr indent="-333375" lvl="0" marL="457200" rtl="0" algn="l">
              <a:spcBef>
                <a:spcPts val="0"/>
              </a:spcBef>
              <a:spcAft>
                <a:spcPts val="0"/>
              </a:spcAft>
              <a:buClr>
                <a:srgbClr val="000000"/>
              </a:buClr>
              <a:buSzPts val="1650"/>
              <a:buFont typeface="Consolas"/>
              <a:buAutoNum type="arabicPeriod"/>
            </a:pPr>
            <a:r>
              <a:rPr lang="de" sz="1650">
                <a:solidFill>
                  <a:srgbClr val="000000"/>
                </a:solidFill>
                <a:highlight>
                  <a:schemeClr val="lt1"/>
                </a:highlight>
                <a:latin typeface="Consolas"/>
                <a:ea typeface="Consolas"/>
                <a:cs typeface="Consolas"/>
                <a:sym typeface="Consolas"/>
              </a:rPr>
              <a:t>Cumulative sum: arr.cumsum() = array([</a:t>
            </a:r>
            <a:r>
              <a:rPr lang="de" sz="1650">
                <a:solidFill>
                  <a:srgbClr val="FF0000"/>
                </a:solidFill>
                <a:highlight>
                  <a:schemeClr val="lt1"/>
                </a:highlight>
                <a:latin typeface="Consolas"/>
                <a:ea typeface="Consolas"/>
                <a:cs typeface="Consolas"/>
                <a:sym typeface="Consolas"/>
              </a:rPr>
              <a:t>0.5</a:t>
            </a:r>
            <a:r>
              <a:rPr lang="de" sz="1650">
                <a:solidFill>
                  <a:srgbClr val="000000"/>
                </a:solidFill>
                <a:highlight>
                  <a:schemeClr val="lt1"/>
                </a:highlight>
                <a:latin typeface="Consolas"/>
                <a:ea typeface="Consolas"/>
                <a:cs typeface="Consolas"/>
                <a:sym typeface="Consolas"/>
              </a:rPr>
              <a:t>,</a:t>
            </a:r>
            <a:r>
              <a:rPr lang="de" sz="1650">
                <a:solidFill>
                  <a:srgbClr val="FF0000"/>
                </a:solidFill>
                <a:highlight>
                  <a:schemeClr val="lt1"/>
                </a:highlight>
                <a:latin typeface="Consolas"/>
                <a:ea typeface="Consolas"/>
                <a:cs typeface="Consolas"/>
                <a:sym typeface="Consolas"/>
              </a:rPr>
              <a:t> 1.25</a:t>
            </a:r>
            <a:r>
              <a:rPr lang="de" sz="1650">
                <a:solidFill>
                  <a:srgbClr val="000000"/>
                </a:solidFill>
                <a:highlight>
                  <a:schemeClr val="lt1"/>
                </a:highlight>
                <a:latin typeface="Consolas"/>
                <a:ea typeface="Consolas"/>
                <a:cs typeface="Consolas"/>
                <a:sym typeface="Consolas"/>
              </a:rPr>
              <a:t>,</a:t>
            </a:r>
            <a:r>
              <a:rPr lang="de" sz="1650">
                <a:solidFill>
                  <a:srgbClr val="FF0000"/>
                </a:solidFill>
                <a:highlight>
                  <a:schemeClr val="lt1"/>
                </a:highlight>
                <a:latin typeface="Consolas"/>
                <a:ea typeface="Consolas"/>
                <a:cs typeface="Consolas"/>
                <a:sym typeface="Consolas"/>
              </a:rPr>
              <a:t> 2.25</a:t>
            </a:r>
            <a:r>
              <a:rPr lang="de" sz="1650">
                <a:solidFill>
                  <a:srgbClr val="000000"/>
                </a:solidFill>
                <a:highlight>
                  <a:schemeClr val="lt1"/>
                </a:highlight>
                <a:latin typeface="Consolas"/>
                <a:ea typeface="Consolas"/>
                <a:cs typeface="Consolas"/>
                <a:sym typeface="Consolas"/>
              </a:rPr>
              <a:t>,</a:t>
            </a:r>
            <a:r>
              <a:rPr lang="de" sz="1650">
                <a:solidFill>
                  <a:srgbClr val="FF0000"/>
                </a:solidFill>
                <a:highlight>
                  <a:schemeClr val="lt1"/>
                </a:highlight>
                <a:latin typeface="Consolas"/>
                <a:ea typeface="Consolas"/>
                <a:cs typeface="Consolas"/>
                <a:sym typeface="Consolas"/>
              </a:rPr>
              <a:t> 3.75</a:t>
            </a:r>
            <a:r>
              <a:rPr lang="de" sz="1650">
                <a:solidFill>
                  <a:srgbClr val="000000"/>
                </a:solidFill>
                <a:highlight>
                  <a:schemeClr val="lt1"/>
                </a:highlight>
                <a:latin typeface="Consolas"/>
                <a:ea typeface="Consolas"/>
                <a:cs typeface="Consolas"/>
                <a:sym typeface="Consolas"/>
              </a:rPr>
              <a:t>,</a:t>
            </a:r>
            <a:r>
              <a:rPr lang="de" sz="1650">
                <a:solidFill>
                  <a:srgbClr val="FF0000"/>
                </a:solidFill>
                <a:highlight>
                  <a:schemeClr val="lt1"/>
                </a:highlight>
                <a:latin typeface="Consolas"/>
                <a:ea typeface="Consolas"/>
                <a:cs typeface="Consolas"/>
                <a:sym typeface="Consolas"/>
              </a:rPr>
              <a:t> 5.75</a:t>
            </a:r>
            <a:r>
              <a:rPr lang="de" sz="1650">
                <a:solidFill>
                  <a:srgbClr val="000000"/>
                </a:solidFill>
                <a:highlight>
                  <a:schemeClr val="lt1"/>
                </a:highlight>
                <a:latin typeface="Consolas"/>
                <a:ea typeface="Consolas"/>
                <a:cs typeface="Consolas"/>
                <a:sym typeface="Consolas"/>
              </a:rPr>
              <a:t>])</a:t>
            </a:r>
            <a:endParaRPr sz="1650">
              <a:solidFill>
                <a:srgbClr val="000000"/>
              </a:solidFill>
              <a:highlight>
                <a:schemeClr val="lt1"/>
              </a:highlight>
              <a:latin typeface="Consolas"/>
              <a:ea typeface="Consolas"/>
              <a:cs typeface="Consolas"/>
              <a:sym typeface="Consolas"/>
            </a:endParaRPr>
          </a:p>
          <a:p>
            <a:pPr indent="-333375" lvl="0" marL="457200" rtl="0" algn="l">
              <a:spcBef>
                <a:spcPts val="0"/>
              </a:spcBef>
              <a:spcAft>
                <a:spcPts val="0"/>
              </a:spcAft>
              <a:buClr>
                <a:srgbClr val="000000"/>
              </a:buClr>
              <a:buSzPts val="1650"/>
              <a:buFont typeface="Consolas"/>
              <a:buAutoNum type="arabicPeriod"/>
            </a:pPr>
            <a:r>
              <a:rPr lang="de" sz="1650">
                <a:solidFill>
                  <a:srgbClr val="000000"/>
                </a:solidFill>
                <a:highlight>
                  <a:schemeClr val="lt1"/>
                </a:highlight>
                <a:latin typeface="Consolas"/>
                <a:ea typeface="Consolas"/>
                <a:cs typeface="Consolas"/>
                <a:sym typeface="Consolas"/>
              </a:rPr>
              <a:t>Scalar multiplication, powers, square root...:</a:t>
            </a:r>
            <a:endParaRPr sz="1650">
              <a:solidFill>
                <a:srgbClr val="000000"/>
              </a:solidFill>
              <a:highlight>
                <a:schemeClr val="lt1"/>
              </a:highlight>
              <a:latin typeface="Consolas"/>
              <a:ea typeface="Consolas"/>
              <a:cs typeface="Consolas"/>
              <a:sym typeface="Consolas"/>
            </a:endParaRPr>
          </a:p>
          <a:p>
            <a:pPr indent="-333375" lvl="1" marL="914400" rtl="0" algn="l">
              <a:spcBef>
                <a:spcPts val="0"/>
              </a:spcBef>
              <a:spcAft>
                <a:spcPts val="0"/>
              </a:spcAft>
              <a:buClr>
                <a:srgbClr val="000000"/>
              </a:buClr>
              <a:buSzPts val="1650"/>
              <a:buFont typeface="Consolas"/>
              <a:buAutoNum type="alphaLcPeriod"/>
            </a:pPr>
            <a:r>
              <a:rPr lang="de" sz="1650">
                <a:solidFill>
                  <a:srgbClr val="000000"/>
                </a:solidFill>
                <a:highlight>
                  <a:schemeClr val="lt1"/>
                </a:highlight>
                <a:latin typeface="Consolas"/>
                <a:ea typeface="Consolas"/>
                <a:cs typeface="Consolas"/>
                <a:sym typeface="Consolas"/>
              </a:rPr>
              <a:t>arr *2 = array([</a:t>
            </a:r>
            <a:r>
              <a:rPr lang="de" sz="1650">
                <a:solidFill>
                  <a:srgbClr val="FF0000"/>
                </a:solidFill>
                <a:highlight>
                  <a:schemeClr val="lt1"/>
                </a:highlight>
                <a:latin typeface="Consolas"/>
                <a:ea typeface="Consolas"/>
                <a:cs typeface="Consolas"/>
                <a:sym typeface="Consolas"/>
              </a:rPr>
              <a:t>1</a:t>
            </a:r>
            <a:r>
              <a:rPr lang="de" sz="1650">
                <a:solidFill>
                  <a:srgbClr val="000000"/>
                </a:solidFill>
                <a:highlight>
                  <a:schemeClr val="lt1"/>
                </a:highlight>
                <a:latin typeface="Consolas"/>
                <a:ea typeface="Consolas"/>
                <a:cs typeface="Consolas"/>
                <a:sym typeface="Consolas"/>
              </a:rPr>
              <a:t>,</a:t>
            </a:r>
            <a:r>
              <a:rPr lang="de" sz="1650">
                <a:solidFill>
                  <a:srgbClr val="FF0000"/>
                </a:solidFill>
                <a:highlight>
                  <a:schemeClr val="lt1"/>
                </a:highlight>
                <a:latin typeface="Consolas"/>
                <a:ea typeface="Consolas"/>
                <a:cs typeface="Consolas"/>
                <a:sym typeface="Consolas"/>
              </a:rPr>
              <a:t> 1.5</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2.0</a:t>
            </a:r>
            <a:r>
              <a:rPr lang="de" sz="1650">
                <a:solidFill>
                  <a:srgbClr val="000000"/>
                </a:solidFill>
                <a:highlight>
                  <a:schemeClr val="lt1"/>
                </a:highlight>
                <a:latin typeface="Consolas"/>
                <a:ea typeface="Consolas"/>
                <a:cs typeface="Consolas"/>
                <a:sym typeface="Consolas"/>
              </a:rPr>
              <a:t>,</a:t>
            </a:r>
            <a:r>
              <a:rPr lang="de" sz="1650">
                <a:solidFill>
                  <a:srgbClr val="FF0000"/>
                </a:solidFill>
                <a:highlight>
                  <a:schemeClr val="lt1"/>
                </a:highlight>
                <a:latin typeface="Consolas"/>
                <a:ea typeface="Consolas"/>
                <a:cs typeface="Consolas"/>
                <a:sym typeface="Consolas"/>
              </a:rPr>
              <a:t> 3.0</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4.0</a:t>
            </a:r>
            <a:r>
              <a:rPr lang="de" sz="1650">
                <a:solidFill>
                  <a:srgbClr val="000000"/>
                </a:solidFill>
                <a:highlight>
                  <a:schemeClr val="lt1"/>
                </a:highlight>
                <a:latin typeface="Consolas"/>
                <a:ea typeface="Consolas"/>
                <a:cs typeface="Consolas"/>
                <a:sym typeface="Consolas"/>
              </a:rPr>
              <a:t>])</a:t>
            </a:r>
            <a:endParaRPr sz="1650">
              <a:solidFill>
                <a:srgbClr val="000000"/>
              </a:solidFill>
              <a:highlight>
                <a:schemeClr val="lt1"/>
              </a:highlight>
              <a:latin typeface="Consolas"/>
              <a:ea typeface="Consolas"/>
              <a:cs typeface="Consolas"/>
              <a:sym typeface="Consolas"/>
            </a:endParaRPr>
          </a:p>
          <a:p>
            <a:pPr indent="-333375" lvl="1" marL="914400" rtl="0" algn="l">
              <a:spcBef>
                <a:spcPts val="0"/>
              </a:spcBef>
              <a:spcAft>
                <a:spcPts val="0"/>
              </a:spcAft>
              <a:buClr>
                <a:srgbClr val="000000"/>
              </a:buClr>
              <a:buSzPts val="1650"/>
              <a:buFont typeface="Consolas"/>
              <a:buAutoNum type="alphaLcPeriod"/>
            </a:pPr>
            <a:r>
              <a:rPr lang="de" sz="1650">
                <a:solidFill>
                  <a:srgbClr val="000000"/>
                </a:solidFill>
                <a:highlight>
                  <a:schemeClr val="lt1"/>
                </a:highlight>
                <a:latin typeface="Consolas"/>
                <a:ea typeface="Consolas"/>
                <a:cs typeface="Consolas"/>
                <a:sym typeface="Consolas"/>
              </a:rPr>
              <a:t>arr **2 =array([ </a:t>
            </a:r>
            <a:r>
              <a:rPr lang="de" sz="1650">
                <a:solidFill>
                  <a:srgbClr val="FF0000"/>
                </a:solidFill>
                <a:highlight>
                  <a:schemeClr val="lt1"/>
                </a:highlight>
                <a:latin typeface="Consolas"/>
                <a:ea typeface="Consolas"/>
                <a:cs typeface="Consolas"/>
                <a:sym typeface="Consolas"/>
              </a:rPr>
              <a:t>0.25</a:t>
            </a:r>
            <a:r>
              <a:rPr lang="de" sz="1650">
                <a:solidFill>
                  <a:srgbClr val="000000"/>
                </a:solidFill>
                <a:highlight>
                  <a:schemeClr val="lt1"/>
                </a:highlight>
                <a:latin typeface="Consolas"/>
                <a:ea typeface="Consolas"/>
                <a:cs typeface="Consolas"/>
                <a:sym typeface="Consolas"/>
              </a:rPr>
              <a:t> , </a:t>
            </a:r>
            <a:r>
              <a:rPr lang="de" sz="1650">
                <a:solidFill>
                  <a:srgbClr val="FF0000"/>
                </a:solidFill>
                <a:highlight>
                  <a:schemeClr val="lt1"/>
                </a:highlight>
                <a:latin typeface="Consolas"/>
                <a:ea typeface="Consolas"/>
                <a:cs typeface="Consolas"/>
                <a:sym typeface="Consolas"/>
              </a:rPr>
              <a:t>0.5625</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1.</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 2.25</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4.</a:t>
            </a:r>
            <a:r>
              <a:rPr lang="de" sz="1650">
                <a:solidFill>
                  <a:srgbClr val="000000"/>
                </a:solidFill>
                <a:highlight>
                  <a:schemeClr val="lt1"/>
                </a:highlight>
                <a:latin typeface="Consolas"/>
                <a:ea typeface="Consolas"/>
                <a:cs typeface="Consolas"/>
                <a:sym typeface="Consolas"/>
              </a:rPr>
              <a:t>])</a:t>
            </a:r>
            <a:endParaRPr sz="1650">
              <a:solidFill>
                <a:srgbClr val="000000"/>
              </a:solidFill>
              <a:highlight>
                <a:schemeClr val="lt1"/>
              </a:highlight>
              <a:latin typeface="Consolas"/>
              <a:ea typeface="Consolas"/>
              <a:cs typeface="Consolas"/>
              <a:sym typeface="Consolas"/>
            </a:endParaRPr>
          </a:p>
          <a:p>
            <a:pPr indent="-333375" lvl="1" marL="914400" rtl="0" algn="l">
              <a:spcBef>
                <a:spcPts val="0"/>
              </a:spcBef>
              <a:spcAft>
                <a:spcPts val="0"/>
              </a:spcAft>
              <a:buClr>
                <a:srgbClr val="000000"/>
              </a:buClr>
              <a:buSzPts val="1650"/>
              <a:buFont typeface="Consolas"/>
              <a:buAutoNum type="alphaLcPeriod"/>
            </a:pPr>
            <a:r>
              <a:rPr lang="de" sz="1650">
                <a:solidFill>
                  <a:srgbClr val="000000"/>
                </a:solidFill>
                <a:highlight>
                  <a:schemeClr val="lt1"/>
                </a:highlight>
                <a:latin typeface="Consolas"/>
                <a:ea typeface="Consolas"/>
                <a:cs typeface="Consolas"/>
                <a:sym typeface="Consolas"/>
              </a:rPr>
              <a:t>2 * arr + 3 = array([</a:t>
            </a:r>
            <a:r>
              <a:rPr lang="de" sz="1650">
                <a:solidFill>
                  <a:srgbClr val="FF0000"/>
                </a:solidFill>
                <a:highlight>
                  <a:schemeClr val="lt1"/>
                </a:highlight>
                <a:latin typeface="Consolas"/>
                <a:ea typeface="Consolas"/>
                <a:cs typeface="Consolas"/>
                <a:sym typeface="Consolas"/>
              </a:rPr>
              <a:t>4</a:t>
            </a:r>
            <a:r>
              <a:rPr lang="de" sz="1650">
                <a:solidFill>
                  <a:srgbClr val="000000"/>
                </a:solidFill>
                <a:highlight>
                  <a:schemeClr val="lt1"/>
                </a:highlight>
                <a:latin typeface="Consolas"/>
                <a:ea typeface="Consolas"/>
                <a:cs typeface="Consolas"/>
                <a:sym typeface="Consolas"/>
              </a:rPr>
              <a:t>,</a:t>
            </a:r>
            <a:r>
              <a:rPr lang="de" sz="1650">
                <a:solidFill>
                  <a:srgbClr val="FF0000"/>
                </a:solidFill>
                <a:highlight>
                  <a:schemeClr val="lt1"/>
                </a:highlight>
                <a:latin typeface="Consolas"/>
                <a:ea typeface="Consolas"/>
                <a:cs typeface="Consolas"/>
                <a:sym typeface="Consolas"/>
              </a:rPr>
              <a:t> 4.5</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5.0</a:t>
            </a:r>
            <a:r>
              <a:rPr lang="de" sz="1650">
                <a:solidFill>
                  <a:srgbClr val="000000"/>
                </a:solidFill>
                <a:highlight>
                  <a:schemeClr val="lt1"/>
                </a:highlight>
                <a:latin typeface="Consolas"/>
                <a:ea typeface="Consolas"/>
                <a:cs typeface="Consolas"/>
                <a:sym typeface="Consolas"/>
              </a:rPr>
              <a:t>,</a:t>
            </a:r>
            <a:r>
              <a:rPr lang="de" sz="1650">
                <a:solidFill>
                  <a:srgbClr val="FF0000"/>
                </a:solidFill>
                <a:highlight>
                  <a:schemeClr val="lt1"/>
                </a:highlight>
                <a:latin typeface="Consolas"/>
                <a:ea typeface="Consolas"/>
                <a:cs typeface="Consolas"/>
                <a:sym typeface="Consolas"/>
              </a:rPr>
              <a:t> 6.0</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7.0</a:t>
            </a:r>
            <a:r>
              <a:rPr lang="de" sz="1650">
                <a:solidFill>
                  <a:srgbClr val="000000"/>
                </a:solidFill>
                <a:highlight>
                  <a:schemeClr val="lt1"/>
                </a:highlight>
                <a:latin typeface="Consolas"/>
                <a:ea typeface="Consolas"/>
                <a:cs typeface="Consolas"/>
                <a:sym typeface="Consolas"/>
              </a:rPr>
              <a:t>])</a:t>
            </a:r>
            <a:endParaRPr sz="1650">
              <a:solidFill>
                <a:srgbClr val="000000"/>
              </a:solidFill>
              <a:highlight>
                <a:schemeClr val="lt1"/>
              </a:highlight>
              <a:latin typeface="Consolas"/>
              <a:ea typeface="Consolas"/>
              <a:cs typeface="Consolas"/>
              <a:sym typeface="Consolas"/>
            </a:endParaRPr>
          </a:p>
          <a:p>
            <a:pPr indent="0" lvl="0" marL="0" rtl="0" algn="l">
              <a:spcBef>
                <a:spcPts val="1200"/>
              </a:spcBef>
              <a:spcAft>
                <a:spcPts val="1200"/>
              </a:spcAft>
              <a:buNone/>
            </a:pPr>
            <a:r>
              <a:t/>
            </a:r>
            <a:endParaRPr sz="1650">
              <a:solidFill>
                <a:srgbClr val="000000"/>
              </a:solidFill>
              <a:highlight>
                <a:schemeClr val="lt1"/>
              </a:highlight>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NumPy Matrices</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de" u="sng">
                <a:solidFill>
                  <a:srgbClr val="FF0000"/>
                </a:solidFill>
              </a:rPr>
              <a:t>A matrix is just a list of lists</a:t>
            </a:r>
            <a:endParaRPr/>
          </a:p>
          <a:p>
            <a:pPr indent="0" lvl="0" marL="0" rtl="0" algn="l">
              <a:spcBef>
                <a:spcPts val="1200"/>
              </a:spcBef>
              <a:spcAft>
                <a:spcPts val="0"/>
              </a:spcAft>
              <a:buNone/>
            </a:pPr>
            <a:r>
              <a:rPr lang="de" sz="1650">
                <a:solidFill>
                  <a:srgbClr val="0000CD"/>
                </a:solidFill>
                <a:highlight>
                  <a:srgbClr val="FFFFFF"/>
                </a:highlight>
                <a:latin typeface="Consolas"/>
                <a:ea typeface="Consolas"/>
                <a:cs typeface="Consolas"/>
                <a:sym typeface="Consolas"/>
              </a:rPr>
              <a:t>import</a:t>
            </a:r>
            <a:r>
              <a:rPr lang="de" sz="1650">
                <a:solidFill>
                  <a:srgbClr val="000000"/>
                </a:solidFill>
                <a:highlight>
                  <a:schemeClr val="lt1"/>
                </a:highlight>
                <a:latin typeface="Consolas"/>
                <a:ea typeface="Consolas"/>
                <a:cs typeface="Consolas"/>
                <a:sym typeface="Consolas"/>
              </a:rPr>
              <a:t> numpy </a:t>
            </a:r>
            <a:r>
              <a:rPr lang="de" sz="1650">
                <a:solidFill>
                  <a:srgbClr val="0000CD"/>
                </a:solidFill>
                <a:highlight>
                  <a:srgbClr val="FFFFFF"/>
                </a:highlight>
                <a:latin typeface="Consolas"/>
                <a:ea typeface="Consolas"/>
                <a:cs typeface="Consolas"/>
                <a:sym typeface="Consolas"/>
              </a:rPr>
              <a:t>as</a:t>
            </a:r>
            <a:r>
              <a:rPr lang="de" sz="1650">
                <a:solidFill>
                  <a:srgbClr val="000000"/>
                </a:solidFill>
                <a:highlight>
                  <a:schemeClr val="lt1"/>
                </a:highlight>
                <a:latin typeface="Consolas"/>
                <a:ea typeface="Consolas"/>
                <a:cs typeface="Consolas"/>
                <a:sym typeface="Consolas"/>
              </a:rPr>
              <a:t> np</a:t>
            </a:r>
            <a:endParaRPr/>
          </a:p>
          <a:p>
            <a:pPr indent="0" lvl="0" marL="0" rtl="0" algn="l">
              <a:spcBef>
                <a:spcPts val="1200"/>
              </a:spcBef>
              <a:spcAft>
                <a:spcPts val="0"/>
              </a:spcAft>
              <a:buNone/>
            </a:pPr>
            <a:r>
              <a:rPr lang="de" sz="1650">
                <a:solidFill>
                  <a:srgbClr val="000000"/>
                </a:solidFill>
                <a:highlight>
                  <a:schemeClr val="lt1"/>
                </a:highlight>
                <a:latin typeface="Consolas"/>
                <a:ea typeface="Consolas"/>
                <a:cs typeface="Consolas"/>
                <a:sym typeface="Consolas"/>
              </a:rPr>
              <a:t>m1 = np.array([[</a:t>
            </a:r>
            <a:r>
              <a:rPr lang="de" sz="1650">
                <a:solidFill>
                  <a:srgbClr val="FF0000"/>
                </a:solidFill>
                <a:highlight>
                  <a:schemeClr val="lt1"/>
                </a:highlight>
                <a:latin typeface="Consolas"/>
                <a:ea typeface="Consolas"/>
                <a:cs typeface="Consolas"/>
                <a:sym typeface="Consolas"/>
              </a:rPr>
              <a:t> 0</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1</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2</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3</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4</a:t>
            </a:r>
            <a:r>
              <a:rPr lang="de" sz="1650">
                <a:solidFill>
                  <a:srgbClr val="000000"/>
                </a:solidFill>
                <a:highlight>
                  <a:schemeClr val="lt1"/>
                </a:highlight>
                <a:latin typeface="Consolas"/>
                <a:ea typeface="Consolas"/>
                <a:cs typeface="Consolas"/>
                <a:sym typeface="Consolas"/>
              </a:rPr>
              <a:t>], [ </a:t>
            </a:r>
            <a:r>
              <a:rPr lang="de" sz="1650">
                <a:solidFill>
                  <a:srgbClr val="FF0000"/>
                </a:solidFill>
                <a:highlight>
                  <a:schemeClr val="lt1"/>
                </a:highlight>
                <a:latin typeface="Consolas"/>
                <a:ea typeface="Consolas"/>
                <a:cs typeface="Consolas"/>
                <a:sym typeface="Consolas"/>
              </a:rPr>
              <a:t>5</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6</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7</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8</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9</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10</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11</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12</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13</a:t>
            </a:r>
            <a:r>
              <a:rPr lang="de" sz="1650">
                <a:solidFill>
                  <a:srgbClr val="000000"/>
                </a:solidFill>
                <a:highlight>
                  <a:schemeClr val="lt1"/>
                </a:highlight>
                <a:latin typeface="Consolas"/>
                <a:ea typeface="Consolas"/>
                <a:cs typeface="Consolas"/>
                <a:sym typeface="Consolas"/>
              </a:rPr>
              <a:t>, </a:t>
            </a:r>
            <a:r>
              <a:rPr lang="de" sz="1650">
                <a:solidFill>
                  <a:srgbClr val="FF0000"/>
                </a:solidFill>
                <a:highlight>
                  <a:schemeClr val="lt1"/>
                </a:highlight>
                <a:latin typeface="Consolas"/>
                <a:ea typeface="Consolas"/>
                <a:cs typeface="Consolas"/>
                <a:sym typeface="Consolas"/>
              </a:rPr>
              <a:t>14</a:t>
            </a:r>
            <a:r>
              <a:rPr lang="de" sz="1650">
                <a:solidFill>
                  <a:srgbClr val="000000"/>
                </a:solidFill>
                <a:highlight>
                  <a:schemeClr val="lt1"/>
                </a:highlight>
                <a:latin typeface="Consolas"/>
                <a:ea typeface="Consolas"/>
                <a:cs typeface="Consolas"/>
                <a:sym typeface="Consolas"/>
              </a:rPr>
              <a:t>]])</a:t>
            </a:r>
            <a:endParaRPr sz="1650">
              <a:solidFill>
                <a:srgbClr val="000000"/>
              </a:solidFill>
              <a:highlight>
                <a:schemeClr val="lt1"/>
              </a:highlight>
              <a:latin typeface="Consolas"/>
              <a:ea typeface="Consolas"/>
              <a:cs typeface="Consolas"/>
              <a:sym typeface="Consolas"/>
            </a:endParaRPr>
          </a:p>
          <a:p>
            <a:pPr indent="-333375" lvl="0" marL="457200" rtl="0" algn="l">
              <a:spcBef>
                <a:spcPts val="1200"/>
              </a:spcBef>
              <a:spcAft>
                <a:spcPts val="0"/>
              </a:spcAft>
              <a:buClr>
                <a:srgbClr val="000000"/>
              </a:buClr>
              <a:buSzPts val="1650"/>
              <a:buFont typeface="Consolas"/>
              <a:buAutoNum type="arabicPeriod"/>
            </a:pPr>
            <a:r>
              <a:rPr lang="de" sz="1650">
                <a:solidFill>
                  <a:srgbClr val="000000"/>
                </a:solidFill>
                <a:highlight>
                  <a:schemeClr val="lt1"/>
                </a:highlight>
                <a:latin typeface="Consolas"/>
                <a:ea typeface="Consolas"/>
                <a:cs typeface="Consolas"/>
                <a:sym typeface="Consolas"/>
              </a:rPr>
              <a:t>Indexing is (row, column): m1[0, 2] is third element of first row</a:t>
            </a:r>
            <a:endParaRPr sz="1650">
              <a:solidFill>
                <a:srgbClr val="000000"/>
              </a:solidFill>
              <a:highlight>
                <a:schemeClr val="lt1"/>
              </a:highlight>
              <a:latin typeface="Consolas"/>
              <a:ea typeface="Consolas"/>
              <a:cs typeface="Consolas"/>
              <a:sym typeface="Consolas"/>
            </a:endParaRPr>
          </a:p>
          <a:p>
            <a:pPr indent="-333375" lvl="0" marL="457200" rtl="0" algn="l">
              <a:spcBef>
                <a:spcPts val="0"/>
              </a:spcBef>
              <a:spcAft>
                <a:spcPts val="0"/>
              </a:spcAft>
              <a:buClr>
                <a:srgbClr val="000000"/>
              </a:buClr>
              <a:buSzPts val="1650"/>
              <a:buFont typeface="Consolas"/>
              <a:buAutoNum type="arabicPeriod"/>
            </a:pPr>
            <a:r>
              <a:rPr lang="de" sz="1650">
                <a:solidFill>
                  <a:srgbClr val="000000"/>
                </a:solidFill>
                <a:highlight>
                  <a:schemeClr val="lt1"/>
                </a:highlight>
                <a:latin typeface="Consolas"/>
                <a:ea typeface="Consolas"/>
                <a:cs typeface="Consolas"/>
                <a:sym typeface="Consolas"/>
              </a:rPr>
              <a:t>Column sum: m1.sum(axis=0) , Row sum: m1.sum(axis=1)</a:t>
            </a:r>
            <a:endParaRPr sz="1650">
              <a:solidFill>
                <a:srgbClr val="000000"/>
              </a:solidFill>
              <a:highlight>
                <a:schemeClr val="lt1"/>
              </a:highlight>
              <a:latin typeface="Consolas"/>
              <a:ea typeface="Consolas"/>
              <a:cs typeface="Consolas"/>
              <a:sym typeface="Consolas"/>
            </a:endParaRPr>
          </a:p>
          <a:p>
            <a:pPr indent="-333375" lvl="0" marL="457200" rtl="0" algn="l">
              <a:spcBef>
                <a:spcPts val="0"/>
              </a:spcBef>
              <a:spcAft>
                <a:spcPts val="0"/>
              </a:spcAft>
              <a:buClr>
                <a:srgbClr val="000000"/>
              </a:buClr>
              <a:buSzPts val="1650"/>
              <a:buFont typeface="Consolas"/>
              <a:buAutoNum type="arabicPeriod"/>
            </a:pPr>
            <a:r>
              <a:rPr lang="de" sz="1650">
                <a:solidFill>
                  <a:srgbClr val="000000"/>
                </a:solidFill>
                <a:highlight>
                  <a:schemeClr val="lt1"/>
                </a:highlight>
                <a:latin typeface="Consolas"/>
                <a:ea typeface="Consolas"/>
                <a:cs typeface="Consolas"/>
                <a:sym typeface="Consolas"/>
              </a:rPr>
              <a:t>Initialzing an array or a matrix : np.zeros((row_number,col_number))</a:t>
            </a:r>
            <a:endParaRPr sz="1650">
              <a:solidFill>
                <a:srgbClr val="000000"/>
              </a:solidFill>
              <a:highlight>
                <a:schemeClr val="lt1"/>
              </a:highlight>
              <a:latin typeface="Consolas"/>
              <a:ea typeface="Consolas"/>
              <a:cs typeface="Consolas"/>
              <a:sym typeface="Consolas"/>
            </a:endParaRPr>
          </a:p>
          <a:p>
            <a:pPr indent="0" lvl="0" marL="0" rtl="0" algn="l">
              <a:spcBef>
                <a:spcPts val="1200"/>
              </a:spcBef>
              <a:spcAft>
                <a:spcPts val="1200"/>
              </a:spcAft>
              <a:buNone/>
            </a:pPr>
            <a:r>
              <a:t/>
            </a:r>
            <a:endParaRPr sz="1650">
              <a:solidFill>
                <a:srgbClr val="000000"/>
              </a:solidFill>
              <a:highlight>
                <a:schemeClr val="lt1"/>
              </a:highlight>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Pandas DataFrames</a:t>
            </a:r>
            <a:endParaRPr/>
          </a:p>
        </p:txBody>
      </p:sp>
      <p:sp>
        <p:nvSpPr>
          <p:cNvPr id="90" name="Google Shape;90;p18"/>
          <p:cNvSpPr txBox="1"/>
          <p:nvPr>
            <p:ph idx="1" type="body"/>
          </p:nvPr>
        </p:nvSpPr>
        <p:spPr>
          <a:xfrm>
            <a:off x="311700" y="1152475"/>
            <a:ext cx="8520600" cy="3884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de"/>
              <a:t>DataFrames are like matrices with column names and sometimes row names. Think of them as Excel sheets</a:t>
            </a:r>
            <a:endParaRPr/>
          </a:p>
          <a:p>
            <a:pPr indent="0" lvl="0" marL="0" rtl="0" algn="l">
              <a:spcBef>
                <a:spcPts val="1200"/>
              </a:spcBef>
              <a:spcAft>
                <a:spcPts val="0"/>
              </a:spcAft>
              <a:buNone/>
            </a:pPr>
            <a:r>
              <a:rPr lang="de" sz="1550">
                <a:solidFill>
                  <a:srgbClr val="0000CD"/>
                </a:solidFill>
                <a:highlight>
                  <a:srgbClr val="FFFFFF"/>
                </a:highlight>
                <a:latin typeface="Consolas"/>
                <a:ea typeface="Consolas"/>
                <a:cs typeface="Consolas"/>
                <a:sym typeface="Consolas"/>
              </a:rPr>
              <a:t>import</a:t>
            </a:r>
            <a:r>
              <a:rPr lang="de" sz="1550">
                <a:solidFill>
                  <a:srgbClr val="000000"/>
                </a:solidFill>
                <a:highlight>
                  <a:srgbClr val="FFFFFF"/>
                </a:highlight>
                <a:latin typeface="Consolas"/>
                <a:ea typeface="Consolas"/>
                <a:cs typeface="Consolas"/>
                <a:sym typeface="Consolas"/>
              </a:rPr>
              <a:t> pandas</a:t>
            </a:r>
            <a:endParaRPr sz="1500">
              <a:solidFill>
                <a:srgbClr val="000000"/>
              </a:solidFill>
              <a:latin typeface="Arial"/>
              <a:ea typeface="Arial"/>
              <a:cs typeface="Arial"/>
              <a:sym typeface="Arial"/>
            </a:endParaRPr>
          </a:p>
          <a:p>
            <a:pPr indent="0" lvl="0" marL="0" rtl="0" algn="l">
              <a:spcBef>
                <a:spcPts val="1200"/>
              </a:spcBef>
              <a:spcAft>
                <a:spcPts val="0"/>
              </a:spcAft>
              <a:buNone/>
            </a:pPr>
            <a:r>
              <a:rPr lang="de" sz="1550">
                <a:solidFill>
                  <a:srgbClr val="000000"/>
                </a:solidFill>
                <a:highlight>
                  <a:srgbClr val="FFFFFF"/>
                </a:highlight>
                <a:latin typeface="Consolas"/>
                <a:ea typeface="Consolas"/>
                <a:cs typeface="Consolas"/>
                <a:sym typeface="Consolas"/>
              </a:rPr>
              <a:t>myvar = pandas.DataFrame(</a:t>
            </a:r>
            <a:r>
              <a:rPr lang="de" sz="1550">
                <a:solidFill>
                  <a:srgbClr val="000000"/>
                </a:solidFill>
                <a:highlight>
                  <a:srgbClr val="FFFFFF"/>
                </a:highlight>
                <a:latin typeface="Consolas"/>
                <a:ea typeface="Consolas"/>
                <a:cs typeface="Consolas"/>
                <a:sym typeface="Consolas"/>
              </a:rPr>
              <a:t>{</a:t>
            </a:r>
            <a:endParaRPr sz="1550">
              <a:solidFill>
                <a:srgbClr val="000000"/>
              </a:solidFill>
              <a:highlight>
                <a:srgbClr val="FFFFFF"/>
              </a:highlight>
              <a:latin typeface="Consolas"/>
              <a:ea typeface="Consolas"/>
              <a:cs typeface="Consolas"/>
              <a:sym typeface="Consolas"/>
            </a:endParaRPr>
          </a:p>
          <a:p>
            <a:pPr indent="0" lvl="0" marL="0" rtl="0" algn="l">
              <a:spcBef>
                <a:spcPts val="1200"/>
              </a:spcBef>
              <a:spcAft>
                <a:spcPts val="0"/>
              </a:spcAft>
              <a:buNone/>
            </a:pPr>
            <a:r>
              <a:rPr lang="de" sz="1550">
                <a:solidFill>
                  <a:srgbClr val="000000"/>
                </a:solidFill>
                <a:highlight>
                  <a:srgbClr val="FFFFFF"/>
                </a:highlight>
                <a:latin typeface="Consolas"/>
                <a:ea typeface="Consolas"/>
                <a:cs typeface="Consolas"/>
                <a:sym typeface="Consolas"/>
              </a:rPr>
              <a:t>  </a:t>
            </a:r>
            <a:r>
              <a:rPr lang="de" sz="1550">
                <a:solidFill>
                  <a:srgbClr val="A52A2A"/>
                </a:solidFill>
                <a:highlight>
                  <a:srgbClr val="FFFFFF"/>
                </a:highlight>
                <a:latin typeface="Consolas"/>
                <a:ea typeface="Consolas"/>
                <a:cs typeface="Consolas"/>
                <a:sym typeface="Consolas"/>
              </a:rPr>
              <a:t>'cars'</a:t>
            </a:r>
            <a:r>
              <a:rPr lang="de" sz="1550">
                <a:solidFill>
                  <a:srgbClr val="000000"/>
                </a:solidFill>
                <a:highlight>
                  <a:srgbClr val="FFFFFF"/>
                </a:highlight>
                <a:latin typeface="Consolas"/>
                <a:ea typeface="Consolas"/>
                <a:cs typeface="Consolas"/>
                <a:sym typeface="Consolas"/>
              </a:rPr>
              <a:t>: [</a:t>
            </a:r>
            <a:r>
              <a:rPr lang="de" sz="1550">
                <a:solidFill>
                  <a:srgbClr val="A52A2A"/>
                </a:solidFill>
                <a:highlight>
                  <a:srgbClr val="FFFFFF"/>
                </a:highlight>
                <a:latin typeface="Consolas"/>
                <a:ea typeface="Consolas"/>
                <a:cs typeface="Consolas"/>
                <a:sym typeface="Consolas"/>
              </a:rPr>
              <a:t>"BMW"</a:t>
            </a:r>
            <a:r>
              <a:rPr lang="de" sz="1550">
                <a:solidFill>
                  <a:srgbClr val="000000"/>
                </a:solidFill>
                <a:highlight>
                  <a:srgbClr val="FFFFFF"/>
                </a:highlight>
                <a:latin typeface="Consolas"/>
                <a:ea typeface="Consolas"/>
                <a:cs typeface="Consolas"/>
                <a:sym typeface="Consolas"/>
              </a:rPr>
              <a:t>, </a:t>
            </a:r>
            <a:r>
              <a:rPr lang="de" sz="1550">
                <a:solidFill>
                  <a:srgbClr val="A52A2A"/>
                </a:solidFill>
                <a:highlight>
                  <a:srgbClr val="FFFFFF"/>
                </a:highlight>
                <a:latin typeface="Consolas"/>
                <a:ea typeface="Consolas"/>
                <a:cs typeface="Consolas"/>
                <a:sym typeface="Consolas"/>
              </a:rPr>
              <a:t>"Volvo"</a:t>
            </a:r>
            <a:r>
              <a:rPr lang="de" sz="1550">
                <a:solidFill>
                  <a:srgbClr val="000000"/>
                </a:solidFill>
                <a:highlight>
                  <a:srgbClr val="FFFFFF"/>
                </a:highlight>
                <a:latin typeface="Consolas"/>
                <a:ea typeface="Consolas"/>
                <a:cs typeface="Consolas"/>
                <a:sym typeface="Consolas"/>
              </a:rPr>
              <a:t>, </a:t>
            </a:r>
            <a:r>
              <a:rPr lang="de" sz="1550">
                <a:solidFill>
                  <a:srgbClr val="A52A2A"/>
                </a:solidFill>
                <a:highlight>
                  <a:srgbClr val="FFFFFF"/>
                </a:highlight>
                <a:latin typeface="Consolas"/>
                <a:ea typeface="Consolas"/>
                <a:cs typeface="Consolas"/>
                <a:sym typeface="Consolas"/>
              </a:rPr>
              <a:t>"Ford"</a:t>
            </a:r>
            <a:r>
              <a:rPr lang="de" sz="1550">
                <a:solidFill>
                  <a:srgbClr val="000000"/>
                </a:solidFill>
                <a:highlight>
                  <a:srgbClr val="FFFFFF"/>
                </a:highlight>
                <a:latin typeface="Consolas"/>
                <a:ea typeface="Consolas"/>
                <a:cs typeface="Consolas"/>
                <a:sym typeface="Consolas"/>
              </a:rPr>
              <a:t>],</a:t>
            </a:r>
            <a:endParaRPr sz="1550">
              <a:solidFill>
                <a:srgbClr val="000000"/>
              </a:solidFill>
              <a:highlight>
                <a:srgbClr val="FFFFFF"/>
              </a:highlight>
              <a:latin typeface="Consolas"/>
              <a:ea typeface="Consolas"/>
              <a:cs typeface="Consolas"/>
              <a:sym typeface="Consolas"/>
            </a:endParaRPr>
          </a:p>
          <a:p>
            <a:pPr indent="0" lvl="0" marL="0" rtl="0" algn="l">
              <a:spcBef>
                <a:spcPts val="1200"/>
              </a:spcBef>
              <a:spcAft>
                <a:spcPts val="0"/>
              </a:spcAft>
              <a:buNone/>
            </a:pPr>
            <a:r>
              <a:rPr lang="de" sz="1550">
                <a:solidFill>
                  <a:srgbClr val="000000"/>
                </a:solidFill>
                <a:highlight>
                  <a:srgbClr val="FFFFFF"/>
                </a:highlight>
                <a:latin typeface="Consolas"/>
                <a:ea typeface="Consolas"/>
                <a:cs typeface="Consolas"/>
                <a:sym typeface="Consolas"/>
              </a:rPr>
              <a:t>  </a:t>
            </a:r>
            <a:r>
              <a:rPr lang="de" sz="1550">
                <a:solidFill>
                  <a:srgbClr val="A52A2A"/>
                </a:solidFill>
                <a:highlight>
                  <a:srgbClr val="FFFFFF"/>
                </a:highlight>
                <a:latin typeface="Consolas"/>
                <a:ea typeface="Consolas"/>
                <a:cs typeface="Consolas"/>
                <a:sym typeface="Consolas"/>
              </a:rPr>
              <a:t>'passings'</a:t>
            </a:r>
            <a:r>
              <a:rPr lang="de" sz="1550">
                <a:solidFill>
                  <a:srgbClr val="000000"/>
                </a:solidFill>
                <a:highlight>
                  <a:srgbClr val="FFFFFF"/>
                </a:highlight>
                <a:latin typeface="Consolas"/>
                <a:ea typeface="Consolas"/>
                <a:cs typeface="Consolas"/>
                <a:sym typeface="Consolas"/>
              </a:rPr>
              <a:t>: [</a:t>
            </a:r>
            <a:r>
              <a:rPr lang="de" sz="1550">
                <a:solidFill>
                  <a:srgbClr val="FF0000"/>
                </a:solidFill>
                <a:highlight>
                  <a:srgbClr val="FFFFFF"/>
                </a:highlight>
                <a:latin typeface="Consolas"/>
                <a:ea typeface="Consolas"/>
                <a:cs typeface="Consolas"/>
                <a:sym typeface="Consolas"/>
              </a:rPr>
              <a:t>3</a:t>
            </a:r>
            <a:r>
              <a:rPr lang="de" sz="1550">
                <a:solidFill>
                  <a:srgbClr val="000000"/>
                </a:solidFill>
                <a:highlight>
                  <a:srgbClr val="FFFFFF"/>
                </a:highlight>
                <a:latin typeface="Consolas"/>
                <a:ea typeface="Consolas"/>
                <a:cs typeface="Consolas"/>
                <a:sym typeface="Consolas"/>
              </a:rPr>
              <a:t>, </a:t>
            </a:r>
            <a:r>
              <a:rPr lang="de" sz="1550">
                <a:solidFill>
                  <a:srgbClr val="FF0000"/>
                </a:solidFill>
                <a:highlight>
                  <a:srgbClr val="FFFFFF"/>
                </a:highlight>
                <a:latin typeface="Consolas"/>
                <a:ea typeface="Consolas"/>
                <a:cs typeface="Consolas"/>
                <a:sym typeface="Consolas"/>
              </a:rPr>
              <a:t>7</a:t>
            </a:r>
            <a:r>
              <a:rPr lang="de" sz="1550">
                <a:solidFill>
                  <a:srgbClr val="000000"/>
                </a:solidFill>
                <a:highlight>
                  <a:srgbClr val="FFFFFF"/>
                </a:highlight>
                <a:latin typeface="Consolas"/>
                <a:ea typeface="Consolas"/>
                <a:cs typeface="Consolas"/>
                <a:sym typeface="Consolas"/>
              </a:rPr>
              <a:t>, </a:t>
            </a:r>
            <a:r>
              <a:rPr lang="de" sz="1550">
                <a:solidFill>
                  <a:srgbClr val="FF0000"/>
                </a:solidFill>
                <a:highlight>
                  <a:srgbClr val="FFFFFF"/>
                </a:highlight>
                <a:latin typeface="Consolas"/>
                <a:ea typeface="Consolas"/>
                <a:cs typeface="Consolas"/>
                <a:sym typeface="Consolas"/>
              </a:rPr>
              <a:t>2</a:t>
            </a:r>
            <a:r>
              <a:rPr lang="de" sz="1550">
                <a:solidFill>
                  <a:srgbClr val="000000"/>
                </a:solidFill>
                <a:highlight>
                  <a:srgbClr val="FFFFFF"/>
                </a:highlight>
                <a:latin typeface="Consolas"/>
                <a:ea typeface="Consolas"/>
                <a:cs typeface="Consolas"/>
                <a:sym typeface="Consolas"/>
              </a:rPr>
              <a:t>]}</a:t>
            </a:r>
            <a:r>
              <a:rPr lang="de" sz="1550">
                <a:solidFill>
                  <a:srgbClr val="000000"/>
                </a:solidFill>
                <a:highlight>
                  <a:srgbClr val="FFFFFF"/>
                </a:highlight>
                <a:latin typeface="Consolas"/>
                <a:ea typeface="Consolas"/>
                <a:cs typeface="Consolas"/>
                <a:sym typeface="Consolas"/>
              </a:rPr>
              <a:t>)</a:t>
            </a:r>
            <a:endParaRPr sz="1550">
              <a:solidFill>
                <a:srgbClr val="000000"/>
              </a:solidFill>
              <a:highlight>
                <a:srgbClr val="FFFFFF"/>
              </a:highlight>
              <a:latin typeface="Consolas"/>
              <a:ea typeface="Consolas"/>
              <a:cs typeface="Consolas"/>
              <a:sym typeface="Consolas"/>
            </a:endParaRPr>
          </a:p>
          <a:p>
            <a:pPr indent="-342900" lvl="0" marL="457200" rtl="0" algn="l">
              <a:spcBef>
                <a:spcPts val="1200"/>
              </a:spcBef>
              <a:spcAft>
                <a:spcPts val="0"/>
              </a:spcAft>
              <a:buSzPts val="1800"/>
              <a:buChar char="●"/>
            </a:pPr>
            <a:r>
              <a:rPr lang="de"/>
              <a:t>Notice that what is inside the </a:t>
            </a:r>
            <a:r>
              <a:rPr lang="de"/>
              <a:t>parentheses</a:t>
            </a:r>
            <a:r>
              <a:rPr lang="de"/>
              <a:t> is a dictionary with values that are of type list. Dictionary keys will become column names. </a:t>
            </a:r>
            <a:r>
              <a:rPr b="1" lang="de" u="sng">
                <a:solidFill>
                  <a:srgbClr val="FF0000"/>
                </a:solidFill>
              </a:rPr>
              <a:t>A pandas DataFrame is created from a dictionary</a:t>
            </a:r>
            <a:endParaRPr b="1" u="sng">
              <a:solidFill>
                <a:srgbClr val="FF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