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Proxima Nova"/>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ProximaNova-regular.fntdata"/><Relationship Id="rId10" Type="http://schemas.openxmlformats.org/officeDocument/2006/relationships/slide" Target="slides/slide5.xml"/><Relationship Id="rId13" Type="http://schemas.openxmlformats.org/officeDocument/2006/relationships/font" Target="fonts/ProximaNova-italic.fntdata"/><Relationship Id="rId12" Type="http://schemas.openxmlformats.org/officeDocument/2006/relationships/font" Target="fonts/ProximaNova-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font" Target="fonts/ProximaNova-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8955da4e1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8955da4e1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8955da4e14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8955da4e1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8955da4e1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8955da4e1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0e74892f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0e74892f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de"/>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anaconda.com/products/distributi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Python Bootcamp</a:t>
            </a:r>
            <a:endParaRPr/>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Session 1 : Introduction and Installation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What is Python ?</a:t>
            </a:r>
            <a:endParaRPr/>
          </a:p>
        </p:txBody>
      </p:sp>
      <p:sp>
        <p:nvSpPr>
          <p:cNvPr id="66" name="Google Shape;66;p14"/>
          <p:cNvSpPr txBox="1"/>
          <p:nvPr>
            <p:ph idx="1" type="body"/>
          </p:nvPr>
        </p:nvSpPr>
        <p:spPr>
          <a:xfrm>
            <a:off x="311700" y="1152475"/>
            <a:ext cx="8520600" cy="38013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de"/>
              <a:t>A </a:t>
            </a:r>
            <a:r>
              <a:rPr lang="de"/>
              <a:t>program</a:t>
            </a:r>
            <a:r>
              <a:rPr lang="de"/>
              <a:t> is one or many instructions written by a human that a computer is supposed to execute</a:t>
            </a:r>
            <a:endParaRPr/>
          </a:p>
          <a:p>
            <a:pPr indent="-342900" lvl="0" marL="457200" rtl="0" algn="l">
              <a:spcBef>
                <a:spcPts val="0"/>
              </a:spcBef>
              <a:spcAft>
                <a:spcPts val="0"/>
              </a:spcAft>
              <a:buSzPts val="1800"/>
              <a:buChar char="●"/>
            </a:pPr>
            <a:r>
              <a:rPr lang="de"/>
              <a:t>Code written by a human is transformed into machine binary language (sequences of 0/1) so that the computer can do what is asked from it</a:t>
            </a:r>
            <a:endParaRPr/>
          </a:p>
          <a:p>
            <a:pPr indent="-342900" lvl="0" marL="457200" rtl="0" algn="l">
              <a:spcBef>
                <a:spcPts val="0"/>
              </a:spcBef>
              <a:spcAft>
                <a:spcPts val="0"/>
              </a:spcAft>
              <a:buSzPts val="1800"/>
              <a:buChar char="●"/>
            </a:pPr>
            <a:r>
              <a:rPr lang="de"/>
              <a:t>A compiled programming language will transform all the code into machine language (this is called compiling) and create an executable file (.exe extension) that will then be launched to execute the instructions</a:t>
            </a:r>
            <a:endParaRPr/>
          </a:p>
          <a:p>
            <a:pPr indent="-342900" lvl="0" marL="457200" rtl="0" algn="l">
              <a:spcBef>
                <a:spcPts val="0"/>
              </a:spcBef>
              <a:spcAft>
                <a:spcPts val="0"/>
              </a:spcAft>
              <a:buSzPts val="1800"/>
              <a:buChar char="●"/>
            </a:pPr>
            <a:r>
              <a:rPr lang="de"/>
              <a:t>An interpreted </a:t>
            </a:r>
            <a:r>
              <a:rPr lang="de"/>
              <a:t>programming </a:t>
            </a:r>
            <a:r>
              <a:rPr lang="de"/>
              <a:t>language is one where each line of code is transformed into machine language and then executed. Starting from the first and ending with the last. It allows each line of code to be executed </a:t>
            </a:r>
            <a:r>
              <a:rPr lang="de"/>
              <a:t>independently</a:t>
            </a:r>
            <a:r>
              <a:rPr lang="de"/>
              <a:t> from the rest. It is slower than a compiled language</a:t>
            </a:r>
            <a:endParaRPr/>
          </a:p>
          <a:p>
            <a:pPr indent="-342900" lvl="0" marL="457200" rtl="0" algn="l">
              <a:spcBef>
                <a:spcPts val="0"/>
              </a:spcBef>
              <a:spcAft>
                <a:spcPts val="0"/>
              </a:spcAft>
              <a:buSzPts val="1800"/>
              <a:buChar char="●"/>
            </a:pPr>
            <a:r>
              <a:rPr lang="de"/>
              <a:t>Python is a programming language. More specifically, Python is an interpreted, scripting language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Why use Python ?</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de"/>
              <a:t>Easy to learn and to use</a:t>
            </a:r>
            <a:endParaRPr/>
          </a:p>
          <a:p>
            <a:pPr indent="-342900" lvl="0" marL="457200" rtl="0" algn="l">
              <a:spcBef>
                <a:spcPts val="0"/>
              </a:spcBef>
              <a:spcAft>
                <a:spcPts val="0"/>
              </a:spcAft>
              <a:buSzPts val="1800"/>
              <a:buChar char="●"/>
            </a:pPr>
            <a:r>
              <a:rPr lang="de"/>
              <a:t>Versatility: Python can be used for Web Development, Data Analysis, Machine Learning, …</a:t>
            </a:r>
            <a:endParaRPr/>
          </a:p>
          <a:p>
            <a:pPr indent="-342900" lvl="0" marL="457200" rtl="0" algn="l">
              <a:spcBef>
                <a:spcPts val="0"/>
              </a:spcBef>
              <a:spcAft>
                <a:spcPts val="0"/>
              </a:spcAft>
              <a:buSzPts val="1800"/>
              <a:buChar char="●"/>
            </a:pPr>
            <a:r>
              <a:rPr lang="de"/>
              <a:t>Widespread</a:t>
            </a:r>
            <a:r>
              <a:rPr lang="de"/>
              <a:t> : Python was created more than 30 years ago, which is a lot of time for any community of programming language to grow and mature adequately to support developers ranging from beginner to expert levels. It is the </a:t>
            </a:r>
            <a:r>
              <a:rPr lang="de"/>
              <a:t>most in demand language on the market</a:t>
            </a:r>
            <a:endParaRPr/>
          </a:p>
          <a:p>
            <a:pPr indent="-342900" lvl="0" marL="457200" rtl="0" algn="l">
              <a:spcBef>
                <a:spcPts val="0"/>
              </a:spcBef>
              <a:spcAft>
                <a:spcPts val="0"/>
              </a:spcAft>
              <a:buSzPts val="1800"/>
              <a:buChar char="●"/>
            </a:pPr>
            <a:r>
              <a:rPr lang="de"/>
              <a:t>Open Source: There is absolutely no cost involved in downloading or using Python. Additionally, there are no licensing fees as well for commercial platforms that use Python.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Programming Tools</a:t>
            </a:r>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de"/>
              <a:t>An IDE/IDLE is an integrated development </a:t>
            </a:r>
            <a:r>
              <a:rPr lang="de"/>
              <a:t>environment</a:t>
            </a:r>
            <a:r>
              <a:rPr lang="de"/>
              <a:t>. It is basically a tool to make programming easier</a:t>
            </a:r>
            <a:endParaRPr/>
          </a:p>
          <a:p>
            <a:pPr indent="-342900" lvl="0" marL="457200" rtl="0" algn="l">
              <a:spcBef>
                <a:spcPts val="0"/>
              </a:spcBef>
              <a:spcAft>
                <a:spcPts val="0"/>
              </a:spcAft>
              <a:buSzPts val="1800"/>
              <a:buChar char="●"/>
            </a:pPr>
            <a:r>
              <a:rPr lang="de"/>
              <a:t>Notebooks are files which supports the use of computer codes and text elements and images</a:t>
            </a:r>
            <a:endParaRPr/>
          </a:p>
          <a:p>
            <a:pPr indent="-342900" lvl="0" marL="457200" rtl="0" algn="l">
              <a:spcBef>
                <a:spcPts val="0"/>
              </a:spcBef>
              <a:spcAft>
                <a:spcPts val="0"/>
              </a:spcAft>
              <a:buSzPts val="1800"/>
              <a:buChar char="●"/>
            </a:pPr>
            <a:r>
              <a:rPr lang="de"/>
              <a:t>The benefits of a Notebook vs an IDE is that it is more user friendly for beginners and it </a:t>
            </a:r>
            <a:r>
              <a:rPr lang="de"/>
              <a:t>allows</a:t>
            </a:r>
            <a:r>
              <a:rPr lang="de"/>
              <a:t> you to segment your code and see the result of all blocks of code simultaneously</a:t>
            </a:r>
            <a:endParaRPr/>
          </a:p>
          <a:p>
            <a:pPr indent="-342900" lvl="0" marL="457200" rtl="0" algn="l">
              <a:spcBef>
                <a:spcPts val="0"/>
              </a:spcBef>
              <a:spcAft>
                <a:spcPts val="0"/>
              </a:spcAft>
              <a:buSzPts val="1800"/>
              <a:buChar char="●"/>
            </a:pPr>
            <a:r>
              <a:rPr lang="de"/>
              <a:t>Anaconda is a Python distribution plateforme. Anaconda allows you to download and install not only Python, but also the most used IDEs, Notebooks and packages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Downloading and Installing the Anaconda Suite</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de"/>
              <a:t>For this course we will download the Anaconda suite and use the python Jupyter Notebook</a:t>
            </a:r>
            <a:endParaRPr/>
          </a:p>
          <a:p>
            <a:pPr indent="-342900" lvl="0" marL="457200" rtl="0" algn="l">
              <a:spcBef>
                <a:spcPts val="0"/>
              </a:spcBef>
              <a:spcAft>
                <a:spcPts val="0"/>
              </a:spcAft>
              <a:buSzPts val="1800"/>
              <a:buChar char="●"/>
            </a:pPr>
            <a:r>
              <a:rPr lang="de" u="sng">
                <a:solidFill>
                  <a:schemeClr val="hlink"/>
                </a:solidFill>
                <a:hlinkClick r:id="rId3"/>
              </a:rPr>
              <a:t>https://www.anaconda.com/products/distribution</a:t>
            </a:r>
            <a:endParaRPr/>
          </a:p>
          <a:p>
            <a:pPr indent="-342900" lvl="0" marL="457200" rtl="0" algn="l">
              <a:spcBef>
                <a:spcPts val="0"/>
              </a:spcBef>
              <a:spcAft>
                <a:spcPts val="0"/>
              </a:spcAft>
              <a:buSzPts val="1800"/>
              <a:buChar char="●"/>
            </a:pPr>
            <a:r>
              <a:rPr lang="de"/>
              <a:t>Known issue with Anaconda is the numpy package. We need to uninstall and then install it using pip</a:t>
            </a:r>
            <a:endParaRPr/>
          </a:p>
          <a:p>
            <a:pPr indent="0" lvl="0" marL="45720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