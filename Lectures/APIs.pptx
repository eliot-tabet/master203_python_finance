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embeddedFontLst>
    <p:embeddedFont>
      <p:font typeface="Plus Jakarta Sans"/>
      <p:bold r:id="rId10"/>
    </p:embeddedFont>
    <p:embeddedFont>
      <p:font typeface="Space Grotesk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0D5CBB-FBF9-4148-B9FE-D177821DD368}" v="1" dt="2026-10-19T11:01:19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bet Eliot, BKW Energie AG" userId="eca77083-a850-4263-84d0-47e104089f76" providerId="ADAL" clId="{8E52AFE9-FC63-472D-95AE-DC52623EA9BD}"/>
    <pc:docChg chg="undo custSel delSld modSld">
      <pc:chgData name="Tabet Eliot, BKW Energie AG" userId="eca77083-a850-4263-84d0-47e104089f76" providerId="ADAL" clId="{8E52AFE9-FC63-472D-95AE-DC52623EA9BD}" dt="2026-10-19T11:01:52.050" v="18" actId="47"/>
      <pc:docMkLst>
        <pc:docMk/>
      </pc:docMkLst>
      <pc:sldChg chg="modSp mod">
        <pc:chgData name="Tabet Eliot, BKW Energie AG" userId="eca77083-a850-4263-84d0-47e104089f76" providerId="ADAL" clId="{8E52AFE9-FC63-472D-95AE-DC52623EA9BD}" dt="2026-10-19T10:59:43.293" v="13" actId="20577"/>
        <pc:sldMkLst>
          <pc:docMk/>
          <pc:sldMk cId="0" sldId="256"/>
        </pc:sldMkLst>
        <pc:spChg chg="mod">
          <ac:chgData name="Tabet Eliot, BKW Energie AG" userId="eca77083-a850-4263-84d0-47e104089f76" providerId="ADAL" clId="{8E52AFE9-FC63-472D-95AE-DC52623EA9BD}" dt="2026-10-19T10:59:43.293" v="13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Tabet Eliot, BKW Energie AG" userId="eca77083-a850-4263-84d0-47e104089f76" providerId="ADAL" clId="{8E52AFE9-FC63-472D-95AE-DC52623EA9BD}" dt="2026-10-19T11:01:19.147" v="16"/>
        <pc:sldMkLst>
          <pc:docMk/>
          <pc:sldMk cId="0" sldId="262"/>
        </pc:sldMkLst>
        <pc:spChg chg="mod">
          <ac:chgData name="Tabet Eliot, BKW Energie AG" userId="eca77083-a850-4263-84d0-47e104089f76" providerId="ADAL" clId="{8E52AFE9-FC63-472D-95AE-DC52623EA9BD}" dt="2026-10-19T11:01:19.147" v="16"/>
          <ac:spMkLst>
            <pc:docMk/>
            <pc:sldMk cId="0" sldId="262"/>
            <ac:spMk id="11" creationId="{00000000-0000-0000-0000-000000000000}"/>
          </ac:spMkLst>
        </pc:spChg>
      </pc:sldChg>
      <pc:sldChg chg="del">
        <pc:chgData name="Tabet Eliot, BKW Energie AG" userId="eca77083-a850-4263-84d0-47e104089f76" providerId="ADAL" clId="{8E52AFE9-FC63-472D-95AE-DC52623EA9BD}" dt="2026-10-19T11:01:39.268" v="17" actId="47"/>
        <pc:sldMkLst>
          <pc:docMk/>
          <pc:sldMk cId="0" sldId="263"/>
        </pc:sldMkLst>
      </pc:sldChg>
      <pc:sldChg chg="del">
        <pc:chgData name="Tabet Eliot, BKW Energie AG" userId="eca77083-a850-4263-84d0-47e104089f76" providerId="ADAL" clId="{8E52AFE9-FC63-472D-95AE-DC52623EA9BD}" dt="2026-10-19T11:01:52.050" v="18" actId="47"/>
        <pc:sldMkLst>
          <pc:docMk/>
          <pc:sldMk cId="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498627"/>
            <a:ext cx="5715000" cy="600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498627"/>
            <a:ext cx="571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59297"/>
            <a:ext cx="2857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216497"/>
            <a:ext cx="8601075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F8FAFC"/>
                </a:solidFill>
                <a:latin typeface="Plus Jakarta Sans"/>
              </a:rPr>
              <a:t>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46127"/>
            <a:ext cx="6572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non-technical executive guide to Application Programming Interfaces, RESTful standards, and live market data feeds.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1773584"/>
            <a:ext cx="37921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EA5E9"/>
                </a:solidFill>
                <a:latin typeface="Space Grotesk"/>
              </a:rPr>
              <a:t>FINTECH ARCHITECTURE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736752"/>
            <a:ext cx="16549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TARGET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17727"/>
            <a:ext cx="16549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Master's in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0775" y="4736752"/>
            <a:ext cx="2988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CORE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0775" y="4917727"/>
            <a:ext cx="2988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Top-Level Concepts &amp; Live Demos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038350"/>
            <a:ext cx="5295900" cy="1257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486150"/>
            <a:ext cx="5295900" cy="1057275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733925"/>
            <a:ext cx="52959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038350"/>
            <a:ext cx="38100" cy="1257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486150"/>
            <a:ext cx="38100" cy="10572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733925"/>
            <a:ext cx="38100" cy="105727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105025"/>
            <a:ext cx="52959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05025"/>
            <a:ext cx="5295900" cy="3619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266950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714750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4962525"/>
            <a:ext cx="1905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CORE 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What is an API? Think of a Restaurant Waiter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228850"/>
            <a:ext cx="6300787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The Customer (You / Your App)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2505075"/>
            <a:ext cx="48958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You sit at the table with a menu. You know what you want (e.g., current stock price), but you cannot walk into the kitchen to prepare it yourself.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676650"/>
            <a:ext cx="6300787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The Waiter (The API)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952875"/>
            <a:ext cx="4895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0C4A6E"/>
                </a:solidFill>
                <a:latin typeface="Plus Jakarta Sans"/>
              </a:rPr>
              <a:t>Takes your order (Request), delivers it safely to the kitchen, and brings back your dish (Response) in a clean, standardized format.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924425"/>
            <a:ext cx="6300787" cy="219075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The Kitchen (Server / Database)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5200650"/>
            <a:ext cx="4895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The bank's internal database holding millions of trade logs. It remains secure and protected behind the counter.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5125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05112"/>
            <a:ext cx="3505200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05112"/>
            <a:ext cx="3505200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09925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109912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310991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BUSINESS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Why Modern Finance Runs on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67125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Real-Time Data 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981450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Stock exchanges deliver tick-by-tick market pricing straight into Bloomberg terminals and trading desks via instant API responses.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67112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Payment Gateways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81437"/>
            <a:ext cx="314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Services like Stripe or PayPal process checkout payments instantly without ever holding customer credit card details on retail servers.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567112"/>
            <a:ext cx="388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Open Banking Regulation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3881437"/>
            <a:ext cx="314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Regulatory mandates force legacy banks to share account data safely with fintech wealth management apps like Plaid and Mint.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52712"/>
            <a:ext cx="5334000" cy="2486025"/>
          </a:xfrm>
          <a:prstGeom prst="roundRect">
            <a:avLst>
              <a:gd name="adj" fmla="val 4597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52712"/>
            <a:ext cx="5334000" cy="2486025"/>
          </a:xfrm>
          <a:prstGeom prst="roundRect">
            <a:avLst>
              <a:gd name="adj" fmla="val 4597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3450" y="3009900"/>
            <a:ext cx="866775" cy="219075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72250" y="3009900"/>
            <a:ext cx="962025" cy="219075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3800475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086225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371975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657725"/>
            <a:ext cx="114300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3800475"/>
            <a:ext cx="857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4086225"/>
            <a:ext cx="857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4371975"/>
            <a:ext cx="857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4657725"/>
            <a:ext cx="8572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ARCHITECTURE STANDARDS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RESTful vs. Non-RESTful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3414712"/>
            <a:ext cx="5857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C4A6E"/>
                </a:solidFill>
                <a:latin typeface="Plus Jakarta Sans"/>
              </a:rPr>
              <a:t>"The Universal Web Language"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3414712"/>
            <a:ext cx="5619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"Legacy or High-Speed Custom Protocols"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3048000"/>
            <a:ext cx="733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4525" y="2976562"/>
            <a:ext cx="165020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369A1"/>
                </a:solidFill>
                <a:latin typeface="Plus Jakarta Sans"/>
              </a:rPr>
              <a:t>RESTful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50" y="3786187"/>
            <a:ext cx="5667375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Web Native: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Uses standard HTTP web links &amp; web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950" y="4071937"/>
            <a:ext cx="5667375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Stateless: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Each request contains 100% of required 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4357687"/>
            <a:ext cx="5667375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Predictable: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Clean URLs like /stocks/AAPL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950" y="4643437"/>
            <a:ext cx="5667375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Format: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Returns lightweight JSON text responses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6550" y="3048000"/>
            <a:ext cx="828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SPECIALIZED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8575" y="2976562"/>
            <a:ext cx="242530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4155"/>
                </a:solidFill>
                <a:latin typeface="Plus Jakarta Sans"/>
              </a:rPr>
              <a:t>Non-RESTful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4175" y="3786187"/>
            <a:ext cx="5457825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SOAP / XML: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Heavy, strict financial messaging protocols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4175" y="4071937"/>
            <a:ext cx="5457825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WebSockets: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Continuous open pipe for sub-millisecond trading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4175" y="4357687"/>
            <a:ext cx="5457825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Stateful: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Server continuously tracks active user sessions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4175" y="4643437"/>
            <a:ext cx="5457825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Custom XML: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Verbose structured data envelopes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05025"/>
            <a:ext cx="1097280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28950"/>
            <a:ext cx="1097280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52875"/>
            <a:ext cx="1097280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876800"/>
            <a:ext cx="1097280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105025"/>
            <a:ext cx="57150" cy="7715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526637" y="2362200"/>
            <a:ext cx="1789062" cy="257175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028950"/>
            <a:ext cx="57150" cy="771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75167" y="3286125"/>
            <a:ext cx="1640532" cy="257175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3952875"/>
            <a:ext cx="57150" cy="771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55013" y="4210050"/>
            <a:ext cx="2160686" cy="257175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4876800"/>
            <a:ext cx="57150" cy="7715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55013" y="5133975"/>
            <a:ext cx="2160686" cy="257175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THE REST MECHANICS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HTTP Verbs in Financial Terms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2366962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59669"/>
                </a:solidFill>
                <a:latin typeface="Space Grotesk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0937" y="2419350"/>
            <a:ext cx="16557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monospace"/>
              </a:rPr>
              <a:t>GET /api/v1/rates/USD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3290887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Space Grotesk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9467" y="3343275"/>
            <a:ext cx="150718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monospace"/>
              </a:rPr>
              <a:t>POST /api/v1/orders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4214812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97706"/>
                </a:solidFill>
                <a:latin typeface="Space Grotesk"/>
              </a:rPr>
              <a:t>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9313" y="4267200"/>
            <a:ext cx="202733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monospace"/>
              </a:rPr>
              <a:t>PUT /api/v1/positions/4092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" y="5138737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C2626"/>
                </a:solidFill>
                <a:latin typeface="Space Grotesk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9313" y="5191125"/>
            <a:ext cx="202733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monospace"/>
              </a:rPr>
              <a:t>DELETE /api/v1/orders/8821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5950" y="2295525"/>
            <a:ext cx="955085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Fetch Data (Read Only)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5950" y="2514600"/>
            <a:ext cx="955085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Get current Bitcoin exchange rate or download Q3 balance sheet PDF.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85950" y="3219450"/>
            <a:ext cx="973652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Submit / Create New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85950" y="3438525"/>
            <a:ext cx="973652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Submit a new buy order for 100 shares of Apple to an execution engine.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5950" y="4143375"/>
            <a:ext cx="908632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Update Existing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5950" y="4362450"/>
            <a:ext cx="908632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Adjust stop-loss price threshold on an open trade position.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85950" y="5067300"/>
            <a:ext cx="908632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Cancel / Remove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85950" y="5286375"/>
            <a:ext cx="908632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Cancel a pending limit order before market close.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21076" y="2527399"/>
            <a:ext cx="6061323" cy="2698551"/>
          </a:xfrm>
          <a:prstGeom prst="roundRect">
            <a:avLst>
              <a:gd name="adj" fmla="val 423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95725"/>
            <a:ext cx="4606676" cy="933450"/>
          </a:xfrm>
          <a:prstGeom prst="roundRect">
            <a:avLst>
              <a:gd name="adj" fmla="val 816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895725"/>
            <a:ext cx="38100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14800"/>
            <a:ext cx="104775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DATA PAYLOADS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Understanding JSON: The Currency of REST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24175"/>
            <a:ext cx="604626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Human-Readable Key-Value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76600"/>
            <a:ext cx="470192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When an API responds, it doesn't send formatted web graphics. It sends raw structured text called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JSON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(JavaScript Object Notation).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7776" y="3253085"/>
            <a:ext cx="5623173" cy="1706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2E8F0"/>
                </a:solidFill>
                <a:latin typeface="monospace"/>
              </a:rPr>
              <a:t>{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 </a:t>
            </a:r>
            <a:r>
              <a:rPr sz="1050" b="0" i="0" u="none">
                <a:solidFill>
                  <a:srgbClr val="7DD3FC"/>
                </a:solidFill>
                <a:latin typeface="monospace"/>
              </a:rPr>
              <a:t>"ticker"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: </a:t>
            </a:r>
            <a:r>
              <a:rPr sz="1050" b="0" i="0" u="none">
                <a:solidFill>
                  <a:srgbClr val="FDE047"/>
                </a:solidFill>
                <a:latin typeface="monospace"/>
              </a:rPr>
              <a:t>"AAPL"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, </a:t>
            </a:r>
            <a:r>
              <a:rPr sz="1050" b="0" i="0" u="none">
                <a:solidFill>
                  <a:srgbClr val="7DD3FC"/>
                </a:solidFill>
                <a:latin typeface="monospace"/>
              </a:rPr>
              <a:t>"currency"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: </a:t>
            </a:r>
            <a:r>
              <a:rPr sz="1050" b="0" i="0" u="none">
                <a:solidFill>
                  <a:srgbClr val="FDE047"/>
                </a:solidFill>
                <a:latin typeface="monospace"/>
              </a:rPr>
              <a:t>"USD"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, </a:t>
            </a:r>
            <a:r>
              <a:rPr sz="1050" b="0" i="0" u="none">
                <a:solidFill>
                  <a:srgbClr val="7DD3FC"/>
                </a:solidFill>
                <a:latin typeface="monospace"/>
              </a:rPr>
              <a:t>"market_price"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: </a:t>
            </a:r>
            <a:r>
              <a:rPr sz="1050" b="0" i="0" u="none">
                <a:solidFill>
                  <a:srgbClr val="F472B6"/>
                </a:solidFill>
                <a:latin typeface="monospace"/>
              </a:rPr>
              <a:t>224.50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, </a:t>
            </a:r>
            <a:r>
              <a:rPr sz="1050" b="0" i="0" u="none">
                <a:solidFill>
                  <a:srgbClr val="7DD3FC"/>
                </a:solidFill>
                <a:latin typeface="monospace"/>
              </a:rPr>
              <a:t>"pe_ratio"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: </a:t>
            </a:r>
            <a:r>
              <a:rPr sz="1050" b="0" i="0" u="none">
                <a:solidFill>
                  <a:srgbClr val="F472B6"/>
                </a:solidFill>
                <a:latin typeface="monospace"/>
              </a:rPr>
              <a:t>33.8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, </a:t>
            </a:r>
            <a:r>
              <a:rPr sz="1050" b="0" i="0" u="none">
                <a:solidFill>
                  <a:srgbClr val="7DD3FC"/>
                </a:solidFill>
                <a:latin typeface="monospace"/>
              </a:rPr>
              <a:t>"market_cap_billions"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: </a:t>
            </a:r>
            <a:r>
              <a:rPr sz="1050" b="0" i="0" u="none">
                <a:solidFill>
                  <a:srgbClr val="F472B6"/>
                </a:solidFill>
                <a:latin typeface="monospace"/>
              </a:rPr>
              <a:t>3420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, </a:t>
            </a:r>
            <a:r>
              <a:rPr sz="1050" b="0" i="0" u="none">
                <a:solidFill>
                  <a:srgbClr val="7DD3FC"/>
                </a:solidFill>
                <a:latin typeface="monospace"/>
              </a:rPr>
              <a:t>"trading_volume"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: </a:t>
            </a:r>
            <a:r>
              <a:rPr sz="1050" b="0" i="0" u="none">
                <a:solidFill>
                  <a:srgbClr val="F472B6"/>
                </a:solidFill>
                <a:latin typeface="monospace"/>
              </a:rPr>
              <a:t>48120900</a:t>
            </a:r>
            <a:r>
              <a:rPr sz="1050" b="0" i="0" u="none">
                <a:solidFill>
                  <a:srgbClr val="F8FAFC"/>
                </a:solidFill>
                <a:latin typeface="monospace"/>
              </a:rPr>
              <a:t> 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086225"/>
            <a:ext cx="5234471" cy="17145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Key Finance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295775"/>
            <a:ext cx="428282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C4A6E"/>
                </a:solidFill>
                <a:latin typeface="Plus Jakarta Sans"/>
              </a:rPr>
              <a:t>Excel sheets, Python models, and trading bots parse this identical JSON payload instantly to compute financial ratios.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7776" y="2794099"/>
            <a:ext cx="1714872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94A3B8"/>
                </a:solidFill>
                <a:latin typeface="monospace"/>
              </a:rPr>
              <a:t>HTTP RESPONSE 200 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674" y="2794099"/>
            <a:ext cx="1108918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38BDF8"/>
                </a:solidFill>
                <a:latin typeface="monospace"/>
              </a:rPr>
              <a:t>JSON Payload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0650"/>
            <a:ext cx="1097280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95350" y="1990725"/>
            <a:ext cx="10401300" cy="514350"/>
          </a:xfrm>
          <a:prstGeom prst="roundRect">
            <a:avLst>
              <a:gd name="adj" fmla="val 1481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019425"/>
            <a:ext cx="5372100" cy="3305175"/>
          </a:xfrm>
          <a:prstGeom prst="roundRect">
            <a:avLst>
              <a:gd name="adj" fmla="val 230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019425"/>
            <a:ext cx="5372100" cy="3305175"/>
          </a:xfrm>
          <a:prstGeom prst="roundRect">
            <a:avLst>
              <a:gd name="adj" fmla="val 230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35455" y="2143125"/>
            <a:ext cx="1270694" cy="209550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704975"/>
            <a:ext cx="1905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CLASSROOM INTERACTIVE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Live Demo: Try an API in Your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1676400"/>
            <a:ext cx="11296650" cy="2000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Open any web browser tab and paste this public REST URL (No API Key Required):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2157412"/>
            <a:ext cx="28348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200" dirty="0">
                <a:solidFill>
                  <a:srgbClr val="38BDF8"/>
                </a:solidFill>
                <a:latin typeface="monospace"/>
              </a:rPr>
              <a:t>https://open-meteo.com/en/docs/ecmwf-api</a:t>
            </a:r>
            <a:endParaRPr sz="1200" b="0" i="0" u="none" dirty="0">
              <a:solidFill>
                <a:srgbClr val="38BDF8"/>
              </a:solidFill>
              <a:latin typeface="monospace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30705" y="2181225"/>
            <a:ext cx="117544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sans-serif"/>
              </a:rPr>
              <a:t>Live Exchange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219450"/>
            <a:ext cx="65258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What happens when you click?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495675"/>
            <a:ext cx="5067300" cy="382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Your browser sends a live GET request to the central server, returning real-time spot foreign exchange rates for over 150 currencies.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219450"/>
            <a:ext cx="5781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Other Keyless Finance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3495675"/>
            <a:ext cx="5067300" cy="588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Bitcoin Price: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api.coindesk.com/v1/bpi/currentprice.json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CoinGecko Crypto: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api.coingecko.com/api/v3/simple/price?ids=bitcoin&amp;vs_currencies=usd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38462"/>
            <a:ext cx="3352800" cy="2076450"/>
          </a:xfrm>
          <a:prstGeom prst="roundRect">
            <a:avLst>
              <a:gd name="adj" fmla="val 5504"/>
            </a:avLst>
          </a:prstGeom>
          <a:solidFill>
            <a:srgbClr val="1E293B"/>
          </a:solidFill>
          <a:ln w="381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2938462"/>
            <a:ext cx="33528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19600" y="2938462"/>
            <a:ext cx="3352800" cy="2076450"/>
          </a:xfrm>
          <a:prstGeom prst="roundRect">
            <a:avLst>
              <a:gd name="adj" fmla="val 5504"/>
            </a:avLst>
          </a:prstGeom>
          <a:solidFill>
            <a:srgbClr val="1E293B"/>
          </a:solidFill>
          <a:ln w="381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419600" y="2938462"/>
            <a:ext cx="33528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2938462"/>
            <a:ext cx="3352800" cy="2076450"/>
          </a:xfrm>
          <a:prstGeom prst="roundRect">
            <a:avLst>
              <a:gd name="adj" fmla="val 5504"/>
            </a:avLst>
          </a:prstGeom>
          <a:solidFill>
            <a:srgbClr val="1E293B"/>
          </a:solidFill>
          <a:ln w="381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938462"/>
            <a:ext cx="3352800" cy="381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1843087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128837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Three Rules for Future Financial Leaders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243262"/>
            <a:ext cx="283845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3243262"/>
            <a:ext cx="283845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60A5FA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243262"/>
            <a:ext cx="283845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A5B4FC"/>
                </a:solidFill>
                <a:latin typeface="Plus Jakarta San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814762"/>
            <a:ext cx="3600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APIs are Digital Contracts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110037"/>
            <a:ext cx="2838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They define exactly how financial institutions exchange valuable data securely without direct database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3814762"/>
            <a:ext cx="3600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REST is the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400" y="4110037"/>
            <a:ext cx="2838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RESTful web APIs powered by JSON format are predictable, scalable, and form the backbone of fintech innovation.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3814762"/>
            <a:ext cx="3600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Data Drives 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4110037"/>
            <a:ext cx="2838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Financial institutions with open, reliable API connectivity achieve faster customer acquisition and higher tech multiples.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76e33ca-d656-4e46-8bcb-7d5ba898ae66}" enabled="0" method="" siteId="{376e33ca-d656-4e46-8bcb-7d5ba898ae6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Space Grotesk</vt:lpstr>
      <vt:lpstr>sans-serif</vt:lpstr>
      <vt:lpstr>Calibri</vt:lpstr>
      <vt:lpstr>Plus Jakarta Sans</vt:lpstr>
      <vt:lpstr>monospace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Tabet Eliot, BKW Energie AG</cp:lastModifiedBy>
  <cp:revision>1</cp:revision>
  <dcterms:created xsi:type="dcterms:W3CDTF">2013-01-27T09:14:16Z</dcterms:created>
  <dcterms:modified xsi:type="dcterms:W3CDTF">2026-10-19T11:02:02Z</dcterms:modified>
  <cp:category/>
</cp:coreProperties>
</file>