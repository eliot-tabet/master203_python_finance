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embeddedFontLst>
    <p:embeddedFont>
      <p:font typeface="Plus Jakarta Sans"/>
      <p:bold r:id="rId12"/>
    </p:embeddedFont>
    <p:embeddedFont>
      <p:font typeface="Space Grotesk"/>
      <p:bold r:id="rId1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50" d="100"/>
          <a:sy n="150" d="100"/>
        </p:scale>
        <p:origin x="654" y="1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bet Eliot, BKW Energie AG" userId="eca77083-a850-4263-84d0-47e104089f76" providerId="ADAL" clId="{8E52AFE9-FC63-472D-95AE-DC52623EA9BD}"/>
    <pc:docChg chg="delSld">
      <pc:chgData name="Tabet Eliot, BKW Energie AG" userId="eca77083-a850-4263-84d0-47e104089f76" providerId="ADAL" clId="{8E52AFE9-FC63-472D-95AE-DC52623EA9BD}" dt="2026-10-09T15:02:15.126" v="2" actId="47"/>
      <pc:docMkLst>
        <pc:docMk/>
      </pc:docMkLst>
      <pc:sldChg chg="del">
        <pc:chgData name="Tabet Eliot, BKW Energie AG" userId="eca77083-a850-4263-84d0-47e104089f76" providerId="ADAL" clId="{8E52AFE9-FC63-472D-95AE-DC52623EA9BD}" dt="2026-10-09T15:02:11.192" v="0" actId="47"/>
        <pc:sldMkLst>
          <pc:docMk/>
          <pc:sldMk cId="0" sldId="266"/>
        </pc:sldMkLst>
      </pc:sldChg>
      <pc:sldChg chg="del">
        <pc:chgData name="Tabet Eliot, BKW Energie AG" userId="eca77083-a850-4263-84d0-47e104089f76" providerId="ADAL" clId="{8E52AFE9-FC63-472D-95AE-DC52623EA9BD}" dt="2026-10-09T15:02:14.050" v="1" actId="47"/>
        <pc:sldMkLst>
          <pc:docMk/>
          <pc:sldMk cId="0" sldId="267"/>
        </pc:sldMkLst>
      </pc:sldChg>
      <pc:sldChg chg="del">
        <pc:chgData name="Tabet Eliot, BKW Energie AG" userId="eca77083-a850-4263-84d0-47e104089f76" providerId="ADAL" clId="{8E52AFE9-FC63-472D-95AE-DC52623EA9BD}" dt="2026-10-09T15:02:15.126" v="2" actId="47"/>
        <pc:sldMkLst>
          <pc:docMk/>
          <pc:sldMk cId="0" sldId="26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609600" y="4732883"/>
            <a:ext cx="1097280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1439316"/>
            <a:ext cx="2733675" cy="285750"/>
          </a:xfrm>
          <a:prstGeom prst="roundRect">
            <a:avLst>
              <a:gd name="adj" fmla="val 5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600" y="4732883"/>
            <a:ext cx="10972800"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09600" y="1953666"/>
            <a:ext cx="9101137" cy="1226641"/>
          </a:xfrm>
          <a:prstGeom prst="rect">
            <a:avLst/>
          </a:prstGeom>
          <a:noFill/>
        </p:spPr>
        <p:txBody>
          <a:bodyPr wrap="square" lIns="0" tIns="0" rIns="0" bIns="0" anchor="t">
            <a:spAutoFit/>
          </a:bodyPr>
          <a:lstStyle/>
          <a:p>
            <a:pPr algn="l">
              <a:lnSpc>
                <a:spcPts val="4830"/>
              </a:lnSpc>
            </a:pPr>
            <a:r>
              <a:rPr sz="4200" b="1" i="0" u="none">
                <a:solidFill>
                  <a:srgbClr val="FFFFFF"/>
                </a:solidFill>
                <a:latin typeface="Space Grotesk"/>
              </a:rPr>
              <a:t>EUAs, PPAs, VPPs, VPSs &amp; Weather Derivatives</a:t>
            </a:r>
          </a:p>
        </p:txBody>
      </p:sp>
      <p:sp>
        <p:nvSpPr>
          <p:cNvPr id="6" name="TextBox 5"/>
          <p:cNvSpPr txBox="1"/>
          <p:nvPr/>
        </p:nvSpPr>
        <p:spPr>
          <a:xfrm>
            <a:off x="609600" y="3408908"/>
            <a:ext cx="6953250" cy="942975"/>
          </a:xfrm>
          <a:prstGeom prst="rect">
            <a:avLst/>
          </a:prstGeom>
          <a:noFill/>
        </p:spPr>
        <p:txBody>
          <a:bodyPr wrap="square" lIns="0" tIns="0" rIns="0" bIns="0" anchor="t">
            <a:spAutoFit/>
          </a:bodyPr>
          <a:lstStyle/>
          <a:p>
            <a:pPr algn="l">
              <a:lnSpc>
                <a:spcPts val="2475"/>
              </a:lnSpc>
            </a:pPr>
            <a:r>
              <a:rPr sz="1650" b="0" i="0" u="none">
                <a:solidFill>
                  <a:srgbClr val="94A3B8"/>
                </a:solidFill>
                <a:latin typeface="Plus Jakarta Sans"/>
              </a:rPr>
              <a:t>A executive guide to carbon compliance markets, long-term power contracting, flexible asset virtualization, and environmental risk hedging.</a:t>
            </a:r>
          </a:p>
        </p:txBody>
      </p:sp>
      <p:sp>
        <p:nvSpPr>
          <p:cNvPr id="7" name="TextBox 6"/>
          <p:cNvSpPr txBox="1"/>
          <p:nvPr/>
        </p:nvSpPr>
        <p:spPr>
          <a:xfrm>
            <a:off x="762000" y="1496466"/>
            <a:ext cx="2524125" cy="171450"/>
          </a:xfrm>
          <a:prstGeom prst="rect">
            <a:avLst/>
          </a:prstGeom>
          <a:noFill/>
        </p:spPr>
        <p:txBody>
          <a:bodyPr wrap="square" lIns="0" tIns="0" rIns="0" bIns="0" anchor="t">
            <a:spAutoFit/>
          </a:bodyPr>
          <a:lstStyle/>
          <a:p>
            <a:pPr algn="l"/>
            <a:r>
              <a:rPr sz="1050" b="1" i="0" u="none">
                <a:solidFill>
                  <a:srgbClr val="FFFFFF"/>
                </a:solidFill>
                <a:latin typeface="Plus Jakarta Sans"/>
              </a:rPr>
              <a:t>STRUCTURED ENERGY PRODUCTS</a:t>
            </a:r>
          </a:p>
        </p:txBody>
      </p:sp>
      <p:sp>
        <p:nvSpPr>
          <p:cNvPr id="8" name="TextBox 7"/>
          <p:cNvSpPr txBox="1"/>
          <p:nvPr/>
        </p:nvSpPr>
        <p:spPr>
          <a:xfrm>
            <a:off x="3457575" y="1496466"/>
            <a:ext cx="2416968" cy="171450"/>
          </a:xfrm>
          <a:prstGeom prst="rect">
            <a:avLst/>
          </a:prstGeom>
          <a:noFill/>
        </p:spPr>
        <p:txBody>
          <a:bodyPr wrap="none" lIns="0" tIns="0" rIns="0" bIns="0" anchor="t">
            <a:spAutoFit/>
          </a:bodyPr>
          <a:lstStyle/>
          <a:p>
            <a:pPr algn="l"/>
            <a:r>
              <a:rPr sz="1050" b="0" i="0" u="none">
                <a:solidFill>
                  <a:srgbClr val="94A3B8"/>
                </a:solidFill>
                <a:latin typeface="Plus Jakarta Sans"/>
              </a:rPr>
              <a:t>Market Overview &amp; Derivatives</a:t>
            </a:r>
          </a:p>
        </p:txBody>
      </p:sp>
      <p:sp>
        <p:nvSpPr>
          <p:cNvPr id="9" name="TextBox 8"/>
          <p:cNvSpPr txBox="1"/>
          <p:nvPr/>
        </p:nvSpPr>
        <p:spPr>
          <a:xfrm>
            <a:off x="609600" y="5009108"/>
            <a:ext cx="4595812" cy="171450"/>
          </a:xfrm>
          <a:prstGeom prst="rect">
            <a:avLst/>
          </a:prstGeom>
          <a:noFill/>
        </p:spPr>
        <p:txBody>
          <a:bodyPr wrap="none" lIns="0" tIns="0" rIns="0" bIns="0" anchor="t">
            <a:spAutoFit/>
          </a:bodyPr>
          <a:lstStyle/>
          <a:p>
            <a:pPr algn="l"/>
            <a:r>
              <a:rPr sz="1050" b="1" i="0" u="none">
                <a:solidFill>
                  <a:srgbClr val="64748B"/>
                </a:solidFill>
                <a:latin typeface="Plus Jakarta Sans"/>
              </a:rPr>
              <a:t>TARGET AUDIENCE</a:t>
            </a:r>
          </a:p>
        </p:txBody>
      </p:sp>
      <p:sp>
        <p:nvSpPr>
          <p:cNvPr id="10" name="TextBox 9"/>
          <p:cNvSpPr txBox="1"/>
          <p:nvPr/>
        </p:nvSpPr>
        <p:spPr>
          <a:xfrm>
            <a:off x="609600" y="5218658"/>
            <a:ext cx="4595812" cy="200025"/>
          </a:xfrm>
          <a:prstGeom prst="rect">
            <a:avLst/>
          </a:prstGeom>
          <a:noFill/>
        </p:spPr>
        <p:txBody>
          <a:bodyPr wrap="none" lIns="0" tIns="0" rIns="0" bIns="0" anchor="t">
            <a:spAutoFit/>
          </a:bodyPr>
          <a:lstStyle/>
          <a:p>
            <a:pPr algn="l"/>
            <a:r>
              <a:rPr sz="1200" b="0" i="0" u="none">
                <a:solidFill>
                  <a:srgbClr val="E2E8F0"/>
                </a:solidFill>
                <a:latin typeface="Plus Jakarta Sans"/>
              </a:rPr>
              <a:t>Energy Traders, Corporates &amp; Utility Risk Managers</a:t>
            </a:r>
          </a:p>
        </p:txBody>
      </p:sp>
      <p:sp>
        <p:nvSpPr>
          <p:cNvPr id="11" name="TextBox 10"/>
          <p:cNvSpPr txBox="1"/>
          <p:nvPr/>
        </p:nvSpPr>
        <p:spPr>
          <a:xfrm>
            <a:off x="4591050" y="5009108"/>
            <a:ext cx="5572125" cy="171450"/>
          </a:xfrm>
          <a:prstGeom prst="rect">
            <a:avLst/>
          </a:prstGeom>
          <a:noFill/>
        </p:spPr>
        <p:txBody>
          <a:bodyPr wrap="none" lIns="0" tIns="0" rIns="0" bIns="0" anchor="t">
            <a:spAutoFit/>
          </a:bodyPr>
          <a:lstStyle/>
          <a:p>
            <a:pPr algn="l"/>
            <a:r>
              <a:rPr sz="1050" b="1" i="0" u="none">
                <a:solidFill>
                  <a:srgbClr val="64748B"/>
                </a:solidFill>
                <a:latin typeface="Plus Jakarta Sans"/>
              </a:rPr>
              <a:t>FOCUS AREAS</a:t>
            </a:r>
          </a:p>
        </p:txBody>
      </p:sp>
      <p:sp>
        <p:nvSpPr>
          <p:cNvPr id="12" name="TextBox 11"/>
          <p:cNvSpPr txBox="1"/>
          <p:nvPr/>
        </p:nvSpPr>
        <p:spPr>
          <a:xfrm>
            <a:off x="4591050" y="5218658"/>
            <a:ext cx="5572125" cy="200025"/>
          </a:xfrm>
          <a:prstGeom prst="rect">
            <a:avLst/>
          </a:prstGeom>
          <a:noFill/>
        </p:spPr>
        <p:txBody>
          <a:bodyPr wrap="none" lIns="0" tIns="0" rIns="0" bIns="0" anchor="t">
            <a:spAutoFit/>
          </a:bodyPr>
          <a:lstStyle/>
          <a:p>
            <a:pPr algn="l"/>
            <a:r>
              <a:rPr sz="1200" b="0" i="0" u="none">
                <a:solidFill>
                  <a:srgbClr val="E2E8F0"/>
                </a:solidFill>
                <a:latin typeface="Plus Jakarta Sans"/>
              </a:rPr>
              <a:t>Emissions, Offtake Contracts, Asset Flexibility &amp; Weather Risk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ounded Rectangle 1"/>
          <p:cNvSpPr/>
          <p:nvPr/>
        </p:nvSpPr>
        <p:spPr>
          <a:xfrm>
            <a:off x="609600" y="2805112"/>
            <a:ext cx="2072580" cy="2124075"/>
          </a:xfrm>
          <a:prstGeom prst="roundRect">
            <a:avLst>
              <a:gd name="adj" fmla="val 551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2834580" y="2805112"/>
            <a:ext cx="2072580" cy="2124075"/>
          </a:xfrm>
          <a:prstGeom prst="roundRect">
            <a:avLst>
              <a:gd name="adj" fmla="val 551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59560" y="2805112"/>
            <a:ext cx="2072580" cy="2124075"/>
          </a:xfrm>
          <a:prstGeom prst="roundRect">
            <a:avLst>
              <a:gd name="adj" fmla="val 551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284541" y="2805112"/>
            <a:ext cx="2072580" cy="2124075"/>
          </a:xfrm>
          <a:prstGeom prst="roundRect">
            <a:avLst>
              <a:gd name="adj" fmla="val 551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509521" y="2805112"/>
            <a:ext cx="2072580" cy="2124075"/>
          </a:xfrm>
          <a:prstGeom prst="roundRect">
            <a:avLst>
              <a:gd name="adj" fmla="val 551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2"/>
          <a:stretch>
            <a:fillRect/>
          </a:stretch>
        </p:blipFill>
        <p:spPr>
          <a:xfrm>
            <a:off x="847725" y="3043237"/>
            <a:ext cx="381000" cy="381000"/>
          </a:xfrm>
          <a:prstGeom prst="rect">
            <a:avLst/>
          </a:prstGeom>
        </p:spPr>
      </p:pic>
      <p:pic>
        <p:nvPicPr>
          <p:cNvPr id="8" name="Picture 7" descr="image.png"/>
          <p:cNvPicPr>
            <a:picLocks noChangeAspect="1"/>
          </p:cNvPicPr>
          <p:nvPr/>
        </p:nvPicPr>
        <p:blipFill>
          <a:blip r:embed="rId3"/>
          <a:stretch>
            <a:fillRect/>
          </a:stretch>
        </p:blipFill>
        <p:spPr>
          <a:xfrm>
            <a:off x="3072705" y="3043237"/>
            <a:ext cx="381000" cy="381000"/>
          </a:xfrm>
          <a:prstGeom prst="rect">
            <a:avLst/>
          </a:prstGeom>
        </p:spPr>
      </p:pic>
      <p:pic>
        <p:nvPicPr>
          <p:cNvPr id="9" name="Picture 8" descr="image.png"/>
          <p:cNvPicPr>
            <a:picLocks noChangeAspect="1"/>
          </p:cNvPicPr>
          <p:nvPr/>
        </p:nvPicPr>
        <p:blipFill>
          <a:blip r:embed="rId4"/>
          <a:stretch>
            <a:fillRect/>
          </a:stretch>
        </p:blipFill>
        <p:spPr>
          <a:xfrm>
            <a:off x="5297685" y="3043237"/>
            <a:ext cx="381000" cy="381000"/>
          </a:xfrm>
          <a:prstGeom prst="rect">
            <a:avLst/>
          </a:prstGeom>
        </p:spPr>
      </p:pic>
      <p:pic>
        <p:nvPicPr>
          <p:cNvPr id="10" name="Picture 9" descr="image.png"/>
          <p:cNvPicPr>
            <a:picLocks noChangeAspect="1"/>
          </p:cNvPicPr>
          <p:nvPr/>
        </p:nvPicPr>
        <p:blipFill>
          <a:blip r:embed="rId5"/>
          <a:stretch>
            <a:fillRect/>
          </a:stretch>
        </p:blipFill>
        <p:spPr>
          <a:xfrm>
            <a:off x="7522666" y="3043237"/>
            <a:ext cx="381000" cy="381000"/>
          </a:xfrm>
          <a:prstGeom prst="rect">
            <a:avLst/>
          </a:prstGeom>
        </p:spPr>
      </p:pic>
      <p:pic>
        <p:nvPicPr>
          <p:cNvPr id="11" name="Picture 10" descr="image.png"/>
          <p:cNvPicPr>
            <a:picLocks noChangeAspect="1"/>
          </p:cNvPicPr>
          <p:nvPr/>
        </p:nvPicPr>
        <p:blipFill>
          <a:blip r:embed="rId6"/>
          <a:stretch>
            <a:fillRect/>
          </a:stretch>
        </p:blipFill>
        <p:spPr>
          <a:xfrm>
            <a:off x="9747646" y="3043237"/>
            <a:ext cx="381000" cy="381000"/>
          </a:xfrm>
          <a:prstGeom prst="rect">
            <a:avLst/>
          </a:prstGeom>
        </p:spPr>
      </p:pic>
      <p:pic>
        <p:nvPicPr>
          <p:cNvPr id="12" name="Picture 11" descr="image.png"/>
          <p:cNvPicPr>
            <a:picLocks noChangeAspect="1"/>
          </p:cNvPicPr>
          <p:nvPr/>
        </p:nvPicPr>
        <p:blipFill>
          <a:blip r:embed="rId7"/>
          <a:stretch>
            <a:fillRect/>
          </a:stretch>
        </p:blipFill>
        <p:spPr>
          <a:xfrm>
            <a:off x="952500" y="3148012"/>
            <a:ext cx="171450" cy="171450"/>
          </a:xfrm>
          <a:prstGeom prst="rect">
            <a:avLst/>
          </a:prstGeom>
        </p:spPr>
      </p:pic>
      <p:pic>
        <p:nvPicPr>
          <p:cNvPr id="13" name="Picture 12" descr="image.png"/>
          <p:cNvPicPr>
            <a:picLocks noChangeAspect="1"/>
          </p:cNvPicPr>
          <p:nvPr/>
        </p:nvPicPr>
        <p:blipFill>
          <a:blip r:embed="rId8"/>
          <a:stretch>
            <a:fillRect/>
          </a:stretch>
        </p:blipFill>
        <p:spPr>
          <a:xfrm>
            <a:off x="3196530" y="3148012"/>
            <a:ext cx="133350" cy="171450"/>
          </a:xfrm>
          <a:prstGeom prst="rect">
            <a:avLst/>
          </a:prstGeom>
        </p:spPr>
      </p:pic>
      <p:pic>
        <p:nvPicPr>
          <p:cNvPr id="14" name="Picture 13" descr="image.png"/>
          <p:cNvPicPr>
            <a:picLocks noChangeAspect="1"/>
          </p:cNvPicPr>
          <p:nvPr/>
        </p:nvPicPr>
        <p:blipFill>
          <a:blip r:embed="rId9"/>
          <a:stretch>
            <a:fillRect/>
          </a:stretch>
        </p:blipFill>
        <p:spPr>
          <a:xfrm>
            <a:off x="5378648" y="3148012"/>
            <a:ext cx="219075" cy="171450"/>
          </a:xfrm>
          <a:prstGeom prst="rect">
            <a:avLst/>
          </a:prstGeom>
        </p:spPr>
      </p:pic>
      <p:pic>
        <p:nvPicPr>
          <p:cNvPr id="15" name="Picture 14" descr="image.png"/>
          <p:cNvPicPr>
            <a:picLocks noChangeAspect="1"/>
          </p:cNvPicPr>
          <p:nvPr/>
        </p:nvPicPr>
        <p:blipFill>
          <a:blip r:embed="rId10"/>
          <a:stretch>
            <a:fillRect/>
          </a:stretch>
        </p:blipFill>
        <p:spPr>
          <a:xfrm>
            <a:off x="7617916" y="3148012"/>
            <a:ext cx="190500" cy="171450"/>
          </a:xfrm>
          <a:prstGeom prst="rect">
            <a:avLst/>
          </a:prstGeom>
        </p:spPr>
      </p:pic>
      <p:pic>
        <p:nvPicPr>
          <p:cNvPr id="16" name="Picture 15" descr="image.png"/>
          <p:cNvPicPr>
            <a:picLocks noChangeAspect="1"/>
          </p:cNvPicPr>
          <p:nvPr/>
        </p:nvPicPr>
        <p:blipFill>
          <a:blip r:embed="rId11"/>
          <a:stretch>
            <a:fillRect/>
          </a:stretch>
        </p:blipFill>
        <p:spPr>
          <a:xfrm>
            <a:off x="9828609" y="3148012"/>
            <a:ext cx="219075" cy="171450"/>
          </a:xfrm>
          <a:prstGeom prst="rect">
            <a:avLst/>
          </a:prstGeom>
        </p:spPr>
      </p:pic>
      <p:sp>
        <p:nvSpPr>
          <p:cNvPr id="17" name="TextBox 16"/>
          <p:cNvSpPr txBox="1"/>
          <p:nvPr/>
        </p:nvSpPr>
        <p:spPr>
          <a:xfrm>
            <a:off x="609600" y="457200"/>
            <a:ext cx="11582400" cy="171450"/>
          </a:xfrm>
          <a:prstGeom prst="rect">
            <a:avLst/>
          </a:prstGeom>
          <a:noFill/>
        </p:spPr>
        <p:txBody>
          <a:bodyPr wrap="none" lIns="0" tIns="0" rIns="0" bIns="0" anchor="t">
            <a:spAutoFit/>
          </a:bodyPr>
          <a:lstStyle/>
          <a:p>
            <a:pPr algn="l"/>
            <a:r>
              <a:rPr sz="1050" b="1" i="0" u="none">
                <a:solidFill>
                  <a:srgbClr val="059669"/>
                </a:solidFill>
                <a:latin typeface="Plus Jakarta Sans"/>
              </a:rPr>
              <a:t>MARKET TAXONOMY</a:t>
            </a:r>
          </a:p>
        </p:txBody>
      </p:sp>
      <p:sp>
        <p:nvSpPr>
          <p:cNvPr id="18" name="TextBox 17"/>
          <p:cNvSpPr txBox="1"/>
          <p:nvPr/>
        </p:nvSpPr>
        <p:spPr>
          <a:xfrm>
            <a:off x="609600" y="685800"/>
            <a:ext cx="11582400" cy="381000"/>
          </a:xfrm>
          <a:prstGeom prst="rect">
            <a:avLst/>
          </a:prstGeom>
          <a:noFill/>
        </p:spPr>
        <p:txBody>
          <a:bodyPr wrap="none" lIns="0" tIns="0" rIns="0" bIns="0" anchor="t">
            <a:spAutoFit/>
          </a:bodyPr>
          <a:lstStyle/>
          <a:p>
            <a:pPr algn="l"/>
            <a:r>
              <a:rPr sz="2400" b="1" i="0" u="none">
                <a:solidFill>
                  <a:srgbClr val="0F172A"/>
                </a:solidFill>
                <a:latin typeface="Space Grotesk"/>
              </a:rPr>
              <a:t>Five Pillars of Modern Energy Risk Management</a:t>
            </a:r>
          </a:p>
        </p:txBody>
      </p:sp>
      <p:sp>
        <p:nvSpPr>
          <p:cNvPr id="19" name="TextBox 18"/>
          <p:cNvSpPr txBox="1"/>
          <p:nvPr/>
        </p:nvSpPr>
        <p:spPr>
          <a:xfrm>
            <a:off x="847725" y="3576637"/>
            <a:ext cx="2095183" cy="238125"/>
          </a:xfrm>
          <a:prstGeom prst="rect">
            <a:avLst/>
          </a:prstGeom>
          <a:noFill/>
        </p:spPr>
        <p:txBody>
          <a:bodyPr wrap="none" lIns="0" tIns="0" rIns="0" bIns="0" anchor="t">
            <a:spAutoFit/>
          </a:bodyPr>
          <a:lstStyle/>
          <a:p>
            <a:pPr algn="l"/>
            <a:r>
              <a:rPr sz="1500" b="1" i="0" u="none">
                <a:solidFill>
                  <a:srgbClr val="0F172A"/>
                </a:solidFill>
                <a:latin typeface="Plus Jakarta Sans"/>
              </a:rPr>
              <a:t>EUAs</a:t>
            </a:r>
          </a:p>
        </p:txBody>
      </p:sp>
      <p:sp>
        <p:nvSpPr>
          <p:cNvPr id="20" name="TextBox 19"/>
          <p:cNvSpPr txBox="1"/>
          <p:nvPr/>
        </p:nvSpPr>
        <p:spPr>
          <a:xfrm>
            <a:off x="847725" y="3890962"/>
            <a:ext cx="1691580" cy="800100"/>
          </a:xfrm>
          <a:prstGeom prst="rect">
            <a:avLst/>
          </a:prstGeom>
          <a:noFill/>
        </p:spPr>
        <p:txBody>
          <a:bodyPr wrap="square" lIns="0" tIns="0" rIns="0" bIns="0" anchor="t">
            <a:spAutoFit/>
          </a:bodyPr>
          <a:lstStyle/>
          <a:p>
            <a:pPr algn="l">
              <a:lnSpc>
                <a:spcPts val="1575"/>
              </a:lnSpc>
            </a:pPr>
            <a:r>
              <a:rPr sz="1125" b="0" i="0" u="none">
                <a:solidFill>
                  <a:srgbClr val="475569"/>
                </a:solidFill>
                <a:latin typeface="Plus Jakarta Sans"/>
              </a:rPr>
              <a:t>Carbon compliance allowances in the EU ETS cap-and-trade market.</a:t>
            </a:r>
          </a:p>
        </p:txBody>
      </p:sp>
      <p:sp>
        <p:nvSpPr>
          <p:cNvPr id="21" name="TextBox 20"/>
          <p:cNvSpPr txBox="1"/>
          <p:nvPr/>
        </p:nvSpPr>
        <p:spPr>
          <a:xfrm>
            <a:off x="3072705" y="3576637"/>
            <a:ext cx="2095183" cy="238125"/>
          </a:xfrm>
          <a:prstGeom prst="rect">
            <a:avLst/>
          </a:prstGeom>
          <a:noFill/>
        </p:spPr>
        <p:txBody>
          <a:bodyPr wrap="none" lIns="0" tIns="0" rIns="0" bIns="0" anchor="t">
            <a:spAutoFit/>
          </a:bodyPr>
          <a:lstStyle/>
          <a:p>
            <a:pPr algn="l"/>
            <a:r>
              <a:rPr sz="1500" b="1" i="0" u="none">
                <a:solidFill>
                  <a:srgbClr val="0F172A"/>
                </a:solidFill>
                <a:latin typeface="Plus Jakarta Sans"/>
              </a:rPr>
              <a:t>PPAs / VPPAs</a:t>
            </a:r>
          </a:p>
        </p:txBody>
      </p:sp>
      <p:sp>
        <p:nvSpPr>
          <p:cNvPr id="22" name="TextBox 21"/>
          <p:cNvSpPr txBox="1"/>
          <p:nvPr/>
        </p:nvSpPr>
        <p:spPr>
          <a:xfrm>
            <a:off x="3072705" y="3890962"/>
            <a:ext cx="1691580" cy="600075"/>
          </a:xfrm>
          <a:prstGeom prst="rect">
            <a:avLst/>
          </a:prstGeom>
          <a:noFill/>
        </p:spPr>
        <p:txBody>
          <a:bodyPr wrap="square" lIns="0" tIns="0" rIns="0" bIns="0" anchor="t">
            <a:spAutoFit/>
          </a:bodyPr>
          <a:lstStyle/>
          <a:p>
            <a:pPr algn="l">
              <a:lnSpc>
                <a:spcPts val="1575"/>
              </a:lnSpc>
            </a:pPr>
            <a:r>
              <a:rPr sz="1125" b="0" i="0" u="none">
                <a:solidFill>
                  <a:srgbClr val="475569"/>
                </a:solidFill>
                <a:latin typeface="Plus Jakarta Sans"/>
              </a:rPr>
              <a:t>Long-term power purchase agreements for renewable volume.</a:t>
            </a:r>
          </a:p>
        </p:txBody>
      </p:sp>
      <p:sp>
        <p:nvSpPr>
          <p:cNvPr id="23" name="TextBox 22"/>
          <p:cNvSpPr txBox="1"/>
          <p:nvPr/>
        </p:nvSpPr>
        <p:spPr>
          <a:xfrm>
            <a:off x="5297685" y="3576637"/>
            <a:ext cx="2095183" cy="238125"/>
          </a:xfrm>
          <a:prstGeom prst="rect">
            <a:avLst/>
          </a:prstGeom>
          <a:noFill/>
        </p:spPr>
        <p:txBody>
          <a:bodyPr wrap="none" lIns="0" tIns="0" rIns="0" bIns="0" anchor="t">
            <a:spAutoFit/>
          </a:bodyPr>
          <a:lstStyle/>
          <a:p>
            <a:pPr algn="l"/>
            <a:r>
              <a:rPr sz="1500" b="1" i="0" u="none">
                <a:solidFill>
                  <a:srgbClr val="0F172A"/>
                </a:solidFill>
                <a:latin typeface="Plus Jakarta Sans"/>
              </a:rPr>
              <a:t>VPPs</a:t>
            </a:r>
          </a:p>
        </p:txBody>
      </p:sp>
      <p:sp>
        <p:nvSpPr>
          <p:cNvPr id="24" name="TextBox 23"/>
          <p:cNvSpPr txBox="1"/>
          <p:nvPr/>
        </p:nvSpPr>
        <p:spPr>
          <a:xfrm>
            <a:off x="5297685" y="3890962"/>
            <a:ext cx="1691580" cy="800100"/>
          </a:xfrm>
          <a:prstGeom prst="rect">
            <a:avLst/>
          </a:prstGeom>
          <a:noFill/>
        </p:spPr>
        <p:txBody>
          <a:bodyPr wrap="square" lIns="0" tIns="0" rIns="0" bIns="0" anchor="t">
            <a:spAutoFit/>
          </a:bodyPr>
          <a:lstStyle/>
          <a:p>
            <a:pPr algn="l">
              <a:lnSpc>
                <a:spcPts val="1575"/>
              </a:lnSpc>
            </a:pPr>
            <a:r>
              <a:rPr sz="1125" b="0" i="0" u="none">
                <a:solidFill>
                  <a:srgbClr val="475569"/>
                </a:solidFill>
                <a:latin typeface="Plus Jakarta Sans"/>
              </a:rPr>
              <a:t>Aggregated distributed energy resources for grid flexibility.</a:t>
            </a:r>
          </a:p>
        </p:txBody>
      </p:sp>
      <p:sp>
        <p:nvSpPr>
          <p:cNvPr id="25" name="TextBox 24"/>
          <p:cNvSpPr txBox="1"/>
          <p:nvPr/>
        </p:nvSpPr>
        <p:spPr>
          <a:xfrm>
            <a:off x="7522666" y="3576637"/>
            <a:ext cx="2095183" cy="238125"/>
          </a:xfrm>
          <a:prstGeom prst="rect">
            <a:avLst/>
          </a:prstGeom>
          <a:noFill/>
        </p:spPr>
        <p:txBody>
          <a:bodyPr wrap="none" lIns="0" tIns="0" rIns="0" bIns="0" anchor="t">
            <a:spAutoFit/>
          </a:bodyPr>
          <a:lstStyle/>
          <a:p>
            <a:pPr algn="l"/>
            <a:r>
              <a:rPr sz="1500" b="1" i="0" u="none">
                <a:solidFill>
                  <a:srgbClr val="0F172A"/>
                </a:solidFill>
                <a:latin typeface="Plus Jakarta Sans"/>
              </a:rPr>
              <a:t>VPSs</a:t>
            </a:r>
          </a:p>
        </p:txBody>
      </p:sp>
      <p:sp>
        <p:nvSpPr>
          <p:cNvPr id="26" name="TextBox 25"/>
          <p:cNvSpPr txBox="1"/>
          <p:nvPr/>
        </p:nvSpPr>
        <p:spPr>
          <a:xfrm>
            <a:off x="7522666" y="3890962"/>
            <a:ext cx="1691580" cy="800100"/>
          </a:xfrm>
          <a:prstGeom prst="rect">
            <a:avLst/>
          </a:prstGeom>
          <a:noFill/>
        </p:spPr>
        <p:txBody>
          <a:bodyPr wrap="square" lIns="0" tIns="0" rIns="0" bIns="0" anchor="t">
            <a:spAutoFit/>
          </a:bodyPr>
          <a:lstStyle/>
          <a:p>
            <a:pPr algn="l">
              <a:lnSpc>
                <a:spcPts val="1575"/>
              </a:lnSpc>
            </a:pPr>
            <a:r>
              <a:rPr sz="1125" b="0" i="0" u="none">
                <a:solidFill>
                  <a:srgbClr val="475569"/>
                </a:solidFill>
                <a:latin typeface="Plus Jakarta Sans"/>
              </a:rPr>
              <a:t>Virtual storage contracts for synthetic intraday price arbitrage.</a:t>
            </a:r>
          </a:p>
        </p:txBody>
      </p:sp>
      <p:sp>
        <p:nvSpPr>
          <p:cNvPr id="27" name="TextBox 26"/>
          <p:cNvSpPr txBox="1"/>
          <p:nvPr/>
        </p:nvSpPr>
        <p:spPr>
          <a:xfrm>
            <a:off x="9747646" y="3576637"/>
            <a:ext cx="2095183" cy="238125"/>
          </a:xfrm>
          <a:prstGeom prst="rect">
            <a:avLst/>
          </a:prstGeom>
          <a:noFill/>
        </p:spPr>
        <p:txBody>
          <a:bodyPr wrap="none" lIns="0" tIns="0" rIns="0" bIns="0" anchor="t">
            <a:spAutoFit/>
          </a:bodyPr>
          <a:lstStyle/>
          <a:p>
            <a:pPr algn="l"/>
            <a:r>
              <a:rPr sz="1500" b="1" i="0" u="none">
                <a:solidFill>
                  <a:srgbClr val="0F172A"/>
                </a:solidFill>
                <a:latin typeface="Plus Jakarta Sans"/>
              </a:rPr>
              <a:t>Weather</a:t>
            </a:r>
          </a:p>
        </p:txBody>
      </p:sp>
      <p:sp>
        <p:nvSpPr>
          <p:cNvPr id="28" name="TextBox 27"/>
          <p:cNvSpPr txBox="1"/>
          <p:nvPr/>
        </p:nvSpPr>
        <p:spPr>
          <a:xfrm>
            <a:off x="9747646" y="3890962"/>
            <a:ext cx="1691580" cy="800100"/>
          </a:xfrm>
          <a:prstGeom prst="rect">
            <a:avLst/>
          </a:prstGeom>
          <a:noFill/>
        </p:spPr>
        <p:txBody>
          <a:bodyPr wrap="square" lIns="0" tIns="0" rIns="0" bIns="0" anchor="t">
            <a:spAutoFit/>
          </a:bodyPr>
          <a:lstStyle/>
          <a:p>
            <a:pPr algn="l">
              <a:lnSpc>
                <a:spcPts val="1575"/>
              </a:lnSpc>
            </a:pPr>
            <a:r>
              <a:rPr sz="1125" b="0" i="0" u="none">
                <a:solidFill>
                  <a:srgbClr val="475569"/>
                </a:solidFill>
                <a:latin typeface="Plus Jakarta Sans"/>
              </a:rPr>
              <a:t>Financial derivatives hedging volumetric temperature &amp; wind risks.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6276975" y="2038350"/>
            <a:ext cx="5305425" cy="3619500"/>
          </a:xfrm>
          <a:prstGeom prst="rect">
            <a:avLst/>
          </a:prstGeom>
        </p:spPr>
      </p:pic>
      <p:pic>
        <p:nvPicPr>
          <p:cNvPr id="3" name="Picture 2" descr="image.png"/>
          <p:cNvPicPr>
            <a:picLocks noChangeAspect="1"/>
          </p:cNvPicPr>
          <p:nvPr/>
        </p:nvPicPr>
        <p:blipFill>
          <a:blip r:embed="rId3"/>
          <a:stretch>
            <a:fillRect/>
          </a:stretch>
        </p:blipFill>
        <p:spPr>
          <a:xfrm>
            <a:off x="6286500" y="2047875"/>
            <a:ext cx="5286375" cy="3600450"/>
          </a:xfrm>
          <a:prstGeom prst="rect">
            <a:avLst/>
          </a:prstGeom>
        </p:spPr>
      </p:pic>
      <p:pic>
        <p:nvPicPr>
          <p:cNvPr id="4" name="Picture 3" descr="image.png"/>
          <p:cNvPicPr>
            <a:picLocks noChangeAspect="1"/>
          </p:cNvPicPr>
          <p:nvPr/>
        </p:nvPicPr>
        <p:blipFill>
          <a:blip r:embed="rId4"/>
          <a:stretch>
            <a:fillRect/>
          </a:stretch>
        </p:blipFill>
        <p:spPr>
          <a:xfrm>
            <a:off x="609600" y="2836961"/>
            <a:ext cx="266700" cy="266700"/>
          </a:xfrm>
          <a:prstGeom prst="rect">
            <a:avLst/>
          </a:prstGeom>
        </p:spPr>
      </p:pic>
      <p:pic>
        <p:nvPicPr>
          <p:cNvPr id="5" name="Picture 4" descr="image.png"/>
          <p:cNvPicPr>
            <a:picLocks noChangeAspect="1"/>
          </p:cNvPicPr>
          <p:nvPr/>
        </p:nvPicPr>
        <p:blipFill>
          <a:blip r:embed="rId5"/>
          <a:stretch>
            <a:fillRect/>
          </a:stretch>
        </p:blipFill>
        <p:spPr>
          <a:xfrm>
            <a:off x="609600" y="3747194"/>
            <a:ext cx="266700" cy="266700"/>
          </a:xfrm>
          <a:prstGeom prst="rect">
            <a:avLst/>
          </a:prstGeom>
        </p:spPr>
      </p:pic>
      <p:pic>
        <p:nvPicPr>
          <p:cNvPr id="6" name="Picture 5" descr="image.png"/>
          <p:cNvPicPr>
            <a:picLocks noChangeAspect="1"/>
          </p:cNvPicPr>
          <p:nvPr/>
        </p:nvPicPr>
        <p:blipFill>
          <a:blip r:embed="rId4"/>
          <a:stretch>
            <a:fillRect/>
          </a:stretch>
        </p:blipFill>
        <p:spPr>
          <a:xfrm>
            <a:off x="609600" y="4417516"/>
            <a:ext cx="266700" cy="266700"/>
          </a:xfrm>
          <a:prstGeom prst="rect">
            <a:avLst/>
          </a:prstGeom>
        </p:spPr>
      </p:pic>
      <p:pic>
        <p:nvPicPr>
          <p:cNvPr id="7" name="Picture 6" descr="image.png"/>
          <p:cNvPicPr>
            <a:picLocks noChangeAspect="1"/>
          </p:cNvPicPr>
          <p:nvPr/>
        </p:nvPicPr>
        <p:blipFill>
          <a:blip r:embed="rId6"/>
          <a:stretch>
            <a:fillRect/>
          </a:stretch>
        </p:blipFill>
        <p:spPr>
          <a:xfrm>
            <a:off x="685800" y="2903636"/>
            <a:ext cx="114300" cy="133350"/>
          </a:xfrm>
          <a:prstGeom prst="rect">
            <a:avLst/>
          </a:prstGeom>
        </p:spPr>
      </p:pic>
      <p:pic>
        <p:nvPicPr>
          <p:cNvPr id="8" name="Picture 7" descr="image.png"/>
          <p:cNvPicPr>
            <a:picLocks noChangeAspect="1"/>
          </p:cNvPicPr>
          <p:nvPr/>
        </p:nvPicPr>
        <p:blipFill>
          <a:blip r:embed="rId7"/>
          <a:stretch>
            <a:fillRect/>
          </a:stretch>
        </p:blipFill>
        <p:spPr>
          <a:xfrm>
            <a:off x="685800" y="3813869"/>
            <a:ext cx="114300" cy="133350"/>
          </a:xfrm>
          <a:prstGeom prst="rect">
            <a:avLst/>
          </a:prstGeom>
        </p:spPr>
      </p:pic>
      <p:pic>
        <p:nvPicPr>
          <p:cNvPr id="9" name="Picture 8" descr="image.png"/>
          <p:cNvPicPr>
            <a:picLocks noChangeAspect="1"/>
          </p:cNvPicPr>
          <p:nvPr/>
        </p:nvPicPr>
        <p:blipFill>
          <a:blip r:embed="rId6"/>
          <a:stretch>
            <a:fillRect/>
          </a:stretch>
        </p:blipFill>
        <p:spPr>
          <a:xfrm>
            <a:off x="685800" y="4484191"/>
            <a:ext cx="114300" cy="133350"/>
          </a:xfrm>
          <a:prstGeom prst="rect">
            <a:avLst/>
          </a:prstGeom>
        </p:spPr>
      </p:pic>
      <p:sp>
        <p:nvSpPr>
          <p:cNvPr id="10" name="TextBox 9"/>
          <p:cNvSpPr txBox="1"/>
          <p:nvPr/>
        </p:nvSpPr>
        <p:spPr>
          <a:xfrm>
            <a:off x="609600" y="457200"/>
            <a:ext cx="11582400" cy="171450"/>
          </a:xfrm>
          <a:prstGeom prst="rect">
            <a:avLst/>
          </a:prstGeom>
          <a:noFill/>
        </p:spPr>
        <p:txBody>
          <a:bodyPr wrap="none" lIns="0" tIns="0" rIns="0" bIns="0" anchor="t">
            <a:spAutoFit/>
          </a:bodyPr>
          <a:lstStyle/>
          <a:p>
            <a:pPr algn="l"/>
            <a:r>
              <a:rPr sz="1050" b="1" i="0" u="none">
                <a:solidFill>
                  <a:srgbClr val="059669"/>
                </a:solidFill>
                <a:latin typeface="Plus Jakarta Sans"/>
              </a:rPr>
              <a:t>CARBON ALLOWANCE MECHANISM</a:t>
            </a:r>
          </a:p>
        </p:txBody>
      </p:sp>
      <p:sp>
        <p:nvSpPr>
          <p:cNvPr id="11" name="TextBox 10"/>
          <p:cNvSpPr txBox="1"/>
          <p:nvPr/>
        </p:nvSpPr>
        <p:spPr>
          <a:xfrm>
            <a:off x="609600" y="685800"/>
            <a:ext cx="11582400" cy="381000"/>
          </a:xfrm>
          <a:prstGeom prst="rect">
            <a:avLst/>
          </a:prstGeom>
          <a:noFill/>
        </p:spPr>
        <p:txBody>
          <a:bodyPr wrap="none" lIns="0" tIns="0" rIns="0" bIns="0" anchor="t">
            <a:spAutoFit/>
          </a:bodyPr>
          <a:lstStyle/>
          <a:p>
            <a:pPr algn="l"/>
            <a:r>
              <a:rPr sz="2400" b="1" i="0" u="none">
                <a:solidFill>
                  <a:srgbClr val="0F172A"/>
                </a:solidFill>
                <a:latin typeface="Space Grotesk"/>
              </a:rPr>
              <a:t>European Union Allowances (EUAs)</a:t>
            </a:r>
          </a:p>
        </p:txBody>
      </p:sp>
      <p:sp>
        <p:nvSpPr>
          <p:cNvPr id="12" name="TextBox 11"/>
          <p:cNvSpPr txBox="1"/>
          <p:nvPr/>
        </p:nvSpPr>
        <p:spPr>
          <a:xfrm>
            <a:off x="1028700" y="2817911"/>
            <a:ext cx="4962525" cy="719732"/>
          </a:xfrm>
          <a:prstGeom prst="rect">
            <a:avLst/>
          </a:prstGeom>
          <a:noFill/>
        </p:spPr>
        <p:txBody>
          <a:bodyPr wrap="square" lIns="0" tIns="0" rIns="0" bIns="0" anchor="t">
            <a:spAutoFit/>
          </a:bodyPr>
          <a:lstStyle/>
          <a:p>
            <a:pPr algn="l">
              <a:lnSpc>
                <a:spcPts val="1889"/>
              </a:lnSpc>
            </a:pPr>
            <a:r>
              <a:rPr sz="1350" b="1" i="0" u="none">
                <a:solidFill>
                  <a:srgbClr val="0F172A"/>
                </a:solidFill>
                <a:latin typeface="Plus Jakarta Sans"/>
              </a:rPr>
              <a:t>1 EUA = 1 Tonne CO2e:</a:t>
            </a:r>
            <a:r>
              <a:rPr sz="1350" b="0" i="0" u="none">
                <a:solidFill>
                  <a:srgbClr val="0F172A"/>
                </a:solidFill>
                <a:latin typeface="Plus Jakarta Sans"/>
              </a:rPr>
              <a:t> Fundamental compliance unit for European power generators, heavy industrial installations, and maritime operators.</a:t>
            </a:r>
          </a:p>
        </p:txBody>
      </p:sp>
      <p:sp>
        <p:nvSpPr>
          <p:cNvPr id="13" name="TextBox 12"/>
          <p:cNvSpPr txBox="1"/>
          <p:nvPr/>
        </p:nvSpPr>
        <p:spPr>
          <a:xfrm>
            <a:off x="1028700" y="3728144"/>
            <a:ext cx="4962525" cy="479821"/>
          </a:xfrm>
          <a:prstGeom prst="rect">
            <a:avLst/>
          </a:prstGeom>
          <a:noFill/>
        </p:spPr>
        <p:txBody>
          <a:bodyPr wrap="square" lIns="0" tIns="0" rIns="0" bIns="0" anchor="t">
            <a:spAutoFit/>
          </a:bodyPr>
          <a:lstStyle/>
          <a:p>
            <a:pPr algn="l">
              <a:lnSpc>
                <a:spcPts val="1889"/>
              </a:lnSpc>
            </a:pPr>
            <a:r>
              <a:rPr sz="1350" b="1" i="0" u="none">
                <a:solidFill>
                  <a:srgbClr val="0F172A"/>
                </a:solidFill>
                <a:latin typeface="Plus Jakarta Sans"/>
              </a:rPr>
              <a:t>Cap-and-Trade Framework:</a:t>
            </a:r>
            <a:r>
              <a:rPr sz="1350" b="0" i="0" u="none">
                <a:solidFill>
                  <a:srgbClr val="0F172A"/>
                </a:solidFill>
                <a:latin typeface="Plus Jakarta Sans"/>
              </a:rPr>
              <a:t> Total emissions cap declines annually to enforce net-zero targets across the EU economy.</a:t>
            </a:r>
          </a:p>
        </p:txBody>
      </p:sp>
      <p:sp>
        <p:nvSpPr>
          <p:cNvPr id="14" name="TextBox 13"/>
          <p:cNvSpPr txBox="1"/>
          <p:nvPr/>
        </p:nvSpPr>
        <p:spPr>
          <a:xfrm>
            <a:off x="1028700" y="4398466"/>
            <a:ext cx="4962525" cy="479821"/>
          </a:xfrm>
          <a:prstGeom prst="rect">
            <a:avLst/>
          </a:prstGeom>
          <a:noFill/>
        </p:spPr>
        <p:txBody>
          <a:bodyPr wrap="square" lIns="0" tIns="0" rIns="0" bIns="0" anchor="t">
            <a:spAutoFit/>
          </a:bodyPr>
          <a:lstStyle/>
          <a:p>
            <a:pPr algn="l">
              <a:lnSpc>
                <a:spcPts val="1889"/>
              </a:lnSpc>
            </a:pPr>
            <a:r>
              <a:rPr sz="1350" b="1" i="0" u="none">
                <a:solidFill>
                  <a:srgbClr val="0F172A"/>
                </a:solidFill>
                <a:latin typeface="Plus Jakarta Sans"/>
              </a:rPr>
              <a:t>EEX Primary Auctions &amp; ICE Futures:</a:t>
            </a:r>
            <a:r>
              <a:rPr sz="1350" b="0" i="0" u="none">
                <a:solidFill>
                  <a:srgbClr val="0F172A"/>
                </a:solidFill>
                <a:latin typeface="Plus Jakarta Sans"/>
              </a:rPr>
              <a:t> Highly liquid secondary trading via futures, options, and spot contracts.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ounded Rectangle 1"/>
          <p:cNvSpPr/>
          <p:nvPr/>
        </p:nvSpPr>
        <p:spPr>
          <a:xfrm>
            <a:off x="609600" y="1333500"/>
            <a:ext cx="3505200" cy="1371600"/>
          </a:xfrm>
          <a:prstGeom prst="roundRect">
            <a:avLst>
              <a:gd name="adj" fmla="val 833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343400" y="1333500"/>
            <a:ext cx="3505200" cy="1371600"/>
          </a:xfrm>
          <a:prstGeom prst="roundRect">
            <a:avLst>
              <a:gd name="adj" fmla="val 833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077200" y="1333500"/>
            <a:ext cx="3505200" cy="1371600"/>
          </a:xfrm>
          <a:prstGeom prst="roundRect">
            <a:avLst>
              <a:gd name="adj" fmla="val 833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09600" y="3995737"/>
            <a:ext cx="10972800" cy="1419225"/>
          </a:xfrm>
          <a:prstGeom prst="roundRect">
            <a:avLst>
              <a:gd name="adj" fmla="val 805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2"/>
          <a:stretch>
            <a:fillRect/>
          </a:stretch>
        </p:blipFill>
        <p:spPr>
          <a:xfrm>
            <a:off x="885825" y="4310062"/>
            <a:ext cx="142875" cy="190500"/>
          </a:xfrm>
          <a:prstGeom prst="rect">
            <a:avLst/>
          </a:prstGeom>
        </p:spPr>
      </p:pic>
      <p:sp>
        <p:nvSpPr>
          <p:cNvPr id="7" name="TextBox 6"/>
          <p:cNvSpPr txBox="1"/>
          <p:nvPr/>
        </p:nvSpPr>
        <p:spPr>
          <a:xfrm>
            <a:off x="609600" y="457200"/>
            <a:ext cx="11582400" cy="171450"/>
          </a:xfrm>
          <a:prstGeom prst="rect">
            <a:avLst/>
          </a:prstGeom>
          <a:noFill/>
        </p:spPr>
        <p:txBody>
          <a:bodyPr wrap="none" lIns="0" tIns="0" rIns="0" bIns="0" anchor="t">
            <a:spAutoFit/>
          </a:bodyPr>
          <a:lstStyle/>
          <a:p>
            <a:pPr algn="l"/>
            <a:r>
              <a:rPr sz="1050" b="1" i="0" u="none">
                <a:solidFill>
                  <a:srgbClr val="059669"/>
                </a:solidFill>
                <a:latin typeface="Plus Jakarta Sans"/>
              </a:rPr>
              <a:t>MARKET FUNDAMENTALS</a:t>
            </a:r>
          </a:p>
        </p:txBody>
      </p:sp>
      <p:sp>
        <p:nvSpPr>
          <p:cNvPr id="8" name="TextBox 7"/>
          <p:cNvSpPr txBox="1"/>
          <p:nvPr/>
        </p:nvSpPr>
        <p:spPr>
          <a:xfrm>
            <a:off x="609600" y="685800"/>
            <a:ext cx="11582400" cy="381000"/>
          </a:xfrm>
          <a:prstGeom prst="rect">
            <a:avLst/>
          </a:prstGeom>
          <a:noFill/>
        </p:spPr>
        <p:txBody>
          <a:bodyPr wrap="none" lIns="0" tIns="0" rIns="0" bIns="0" anchor="t">
            <a:spAutoFit/>
          </a:bodyPr>
          <a:lstStyle/>
          <a:p>
            <a:pPr algn="l"/>
            <a:r>
              <a:rPr sz="2400" b="1" i="0" u="none">
                <a:solidFill>
                  <a:srgbClr val="0F172A"/>
                </a:solidFill>
                <a:latin typeface="Space Grotesk"/>
              </a:rPr>
              <a:t>EUA Price Dynamics &amp; Fuel Switching</a:t>
            </a:r>
          </a:p>
        </p:txBody>
      </p:sp>
      <p:sp>
        <p:nvSpPr>
          <p:cNvPr id="9" name="TextBox 8"/>
          <p:cNvSpPr txBox="1"/>
          <p:nvPr/>
        </p:nvSpPr>
        <p:spPr>
          <a:xfrm>
            <a:off x="469106" y="1571625"/>
            <a:ext cx="3786187" cy="457200"/>
          </a:xfrm>
          <a:prstGeom prst="rect">
            <a:avLst/>
          </a:prstGeom>
          <a:noFill/>
        </p:spPr>
        <p:txBody>
          <a:bodyPr wrap="none" lIns="0" tIns="0" rIns="0" bIns="0" anchor="t">
            <a:spAutoFit/>
          </a:bodyPr>
          <a:lstStyle/>
          <a:p>
            <a:pPr algn="ctr">
              <a:lnSpc>
                <a:spcPts val="3600"/>
              </a:lnSpc>
            </a:pPr>
            <a:r>
              <a:rPr sz="3600" b="1" i="0" u="none">
                <a:solidFill>
                  <a:srgbClr val="059669"/>
                </a:solidFill>
                <a:latin typeface="Plus Jakarta Sans"/>
              </a:rPr>
              <a:t>4.3%</a:t>
            </a:r>
          </a:p>
        </p:txBody>
      </p:sp>
      <p:sp>
        <p:nvSpPr>
          <p:cNvPr id="10" name="TextBox 9"/>
          <p:cNvSpPr txBox="1"/>
          <p:nvPr/>
        </p:nvSpPr>
        <p:spPr>
          <a:xfrm>
            <a:off x="469106" y="2105025"/>
            <a:ext cx="3786187" cy="361950"/>
          </a:xfrm>
          <a:prstGeom prst="rect">
            <a:avLst/>
          </a:prstGeom>
          <a:noFill/>
        </p:spPr>
        <p:txBody>
          <a:bodyPr wrap="square" lIns="0" tIns="0" rIns="0" bIns="0" anchor="t">
            <a:spAutoFit/>
          </a:bodyPr>
          <a:lstStyle/>
          <a:p>
            <a:pPr algn="ctr"/>
            <a:r>
              <a:rPr sz="1125" b="0" i="0" u="none">
                <a:solidFill>
                  <a:srgbClr val="64748B"/>
                </a:solidFill>
                <a:latin typeface="Plus Jakarta Sans"/>
              </a:rPr>
              <a:t>Annual Cap Reduction Rate (Linear Reduction Factor)</a:t>
            </a:r>
          </a:p>
        </p:txBody>
      </p:sp>
      <p:sp>
        <p:nvSpPr>
          <p:cNvPr id="11" name="TextBox 10"/>
          <p:cNvSpPr txBox="1"/>
          <p:nvPr/>
        </p:nvSpPr>
        <p:spPr>
          <a:xfrm>
            <a:off x="4202906" y="1571625"/>
            <a:ext cx="3786187" cy="457200"/>
          </a:xfrm>
          <a:prstGeom prst="rect">
            <a:avLst/>
          </a:prstGeom>
          <a:noFill/>
        </p:spPr>
        <p:txBody>
          <a:bodyPr wrap="none" lIns="0" tIns="0" rIns="0" bIns="0" anchor="t">
            <a:spAutoFit/>
          </a:bodyPr>
          <a:lstStyle/>
          <a:p>
            <a:pPr algn="ctr">
              <a:lnSpc>
                <a:spcPts val="3600"/>
              </a:lnSpc>
            </a:pPr>
            <a:r>
              <a:rPr sz="3600" b="1" i="0" u="none">
                <a:solidFill>
                  <a:srgbClr val="0F172A"/>
                </a:solidFill>
                <a:latin typeface="Plus Jakarta Sans"/>
              </a:rPr>
              <a:t>MSR</a:t>
            </a:r>
          </a:p>
        </p:txBody>
      </p:sp>
      <p:sp>
        <p:nvSpPr>
          <p:cNvPr id="12" name="TextBox 11"/>
          <p:cNvSpPr txBox="1"/>
          <p:nvPr/>
        </p:nvSpPr>
        <p:spPr>
          <a:xfrm>
            <a:off x="4202906" y="2105025"/>
            <a:ext cx="3786187" cy="361950"/>
          </a:xfrm>
          <a:prstGeom prst="rect">
            <a:avLst/>
          </a:prstGeom>
          <a:noFill/>
        </p:spPr>
        <p:txBody>
          <a:bodyPr wrap="square" lIns="0" tIns="0" rIns="0" bIns="0" anchor="t">
            <a:spAutoFit/>
          </a:bodyPr>
          <a:lstStyle/>
          <a:p>
            <a:pPr algn="ctr"/>
            <a:r>
              <a:rPr sz="1125" b="0" i="0" u="none">
                <a:solidFill>
                  <a:srgbClr val="64748B"/>
                </a:solidFill>
                <a:latin typeface="Plus Jakarta Sans"/>
              </a:rPr>
              <a:t>Market Stability Reserve absorbs surplus market liquidity</a:t>
            </a:r>
          </a:p>
        </p:txBody>
      </p:sp>
      <p:sp>
        <p:nvSpPr>
          <p:cNvPr id="13" name="TextBox 12"/>
          <p:cNvSpPr txBox="1"/>
          <p:nvPr/>
        </p:nvSpPr>
        <p:spPr>
          <a:xfrm>
            <a:off x="7936706" y="1571625"/>
            <a:ext cx="3786187" cy="457200"/>
          </a:xfrm>
          <a:prstGeom prst="rect">
            <a:avLst/>
          </a:prstGeom>
          <a:noFill/>
        </p:spPr>
        <p:txBody>
          <a:bodyPr wrap="none" lIns="0" tIns="0" rIns="0" bIns="0" anchor="t">
            <a:spAutoFit/>
          </a:bodyPr>
          <a:lstStyle/>
          <a:p>
            <a:pPr algn="ctr">
              <a:lnSpc>
                <a:spcPts val="3600"/>
              </a:lnSpc>
            </a:pPr>
            <a:r>
              <a:rPr sz="3600" b="1" i="0" u="none">
                <a:solidFill>
                  <a:srgbClr val="2563EB"/>
                </a:solidFill>
                <a:latin typeface="Plus Jakarta Sans"/>
              </a:rPr>
              <a:t>CBAM</a:t>
            </a:r>
          </a:p>
        </p:txBody>
      </p:sp>
      <p:sp>
        <p:nvSpPr>
          <p:cNvPr id="14" name="TextBox 13"/>
          <p:cNvSpPr txBox="1"/>
          <p:nvPr/>
        </p:nvSpPr>
        <p:spPr>
          <a:xfrm>
            <a:off x="7936706" y="2105025"/>
            <a:ext cx="3786187" cy="361950"/>
          </a:xfrm>
          <a:prstGeom prst="rect">
            <a:avLst/>
          </a:prstGeom>
          <a:noFill/>
        </p:spPr>
        <p:txBody>
          <a:bodyPr wrap="square" lIns="0" tIns="0" rIns="0" bIns="0" anchor="t">
            <a:spAutoFit/>
          </a:bodyPr>
          <a:lstStyle/>
          <a:p>
            <a:pPr algn="ctr"/>
            <a:r>
              <a:rPr sz="1125" b="0" i="0" u="none">
                <a:solidFill>
                  <a:srgbClr val="64748B"/>
                </a:solidFill>
                <a:latin typeface="Plus Jakarta Sans"/>
              </a:rPr>
              <a:t>Carbon Border Adjustment Mechanism prevents carbon leakage</a:t>
            </a:r>
          </a:p>
        </p:txBody>
      </p:sp>
      <p:sp>
        <p:nvSpPr>
          <p:cNvPr id="15" name="TextBox 14"/>
          <p:cNvSpPr txBox="1"/>
          <p:nvPr/>
        </p:nvSpPr>
        <p:spPr>
          <a:xfrm>
            <a:off x="885825" y="4271962"/>
            <a:ext cx="11306175" cy="238125"/>
          </a:xfrm>
          <a:prstGeom prst="rect">
            <a:avLst/>
          </a:prstGeom>
          <a:noFill/>
        </p:spPr>
        <p:txBody>
          <a:bodyPr wrap="none" lIns="219075" tIns="0" rIns="0" bIns="0" anchor="t">
            <a:spAutoFit/>
          </a:bodyPr>
          <a:lstStyle/>
          <a:p>
            <a:pPr algn="l"/>
            <a:r>
              <a:rPr sz="1500" b="1" i="0" u="none">
                <a:solidFill>
                  <a:srgbClr val="0F172A"/>
                </a:solidFill>
                <a:latin typeface="Plus Jakarta Sans"/>
              </a:rPr>
              <a:t>Clean Dark Spread vs. Clean Spark Spread</a:t>
            </a:r>
          </a:p>
        </p:txBody>
      </p:sp>
      <p:sp>
        <p:nvSpPr>
          <p:cNvPr id="16" name="TextBox 15"/>
          <p:cNvSpPr txBox="1"/>
          <p:nvPr/>
        </p:nvSpPr>
        <p:spPr>
          <a:xfrm>
            <a:off x="885825" y="4624387"/>
            <a:ext cx="10515600" cy="514350"/>
          </a:xfrm>
          <a:prstGeom prst="rect">
            <a:avLst/>
          </a:prstGeom>
          <a:noFill/>
        </p:spPr>
        <p:txBody>
          <a:bodyPr wrap="square" lIns="0" tIns="0" rIns="0" bIns="0" anchor="t">
            <a:spAutoFit/>
          </a:bodyPr>
          <a:lstStyle/>
          <a:p>
            <a:pPr algn="l">
              <a:lnSpc>
                <a:spcPts val="2025"/>
              </a:lnSpc>
            </a:pPr>
            <a:r>
              <a:rPr sz="1350" b="0" i="0" u="none">
                <a:solidFill>
                  <a:srgbClr val="334155"/>
                </a:solidFill>
                <a:latin typeface="Plus Jakarta Sans"/>
              </a:rPr>
              <a:t>High carbon prices directly alter the merit order of thermal power generation. When EUA prices rise, power generation shifts from coal (high carbon intensity) to natural gas (lower carbon intensity) to minimize net emissions costs.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609600" y="2038350"/>
            <a:ext cx="5305425" cy="3619500"/>
          </a:xfrm>
          <a:prstGeom prst="rect">
            <a:avLst/>
          </a:prstGeom>
        </p:spPr>
      </p:pic>
      <p:pic>
        <p:nvPicPr>
          <p:cNvPr id="3" name="Picture 2" descr="image.png"/>
          <p:cNvPicPr>
            <a:picLocks noChangeAspect="1"/>
          </p:cNvPicPr>
          <p:nvPr/>
        </p:nvPicPr>
        <p:blipFill>
          <a:blip r:embed="rId3"/>
          <a:stretch>
            <a:fillRect/>
          </a:stretch>
        </p:blipFill>
        <p:spPr>
          <a:xfrm>
            <a:off x="619125" y="2047875"/>
            <a:ext cx="5286375" cy="3600450"/>
          </a:xfrm>
          <a:prstGeom prst="rect">
            <a:avLst/>
          </a:prstGeom>
        </p:spPr>
      </p:pic>
      <p:pic>
        <p:nvPicPr>
          <p:cNvPr id="4" name="Picture 3" descr="image.png"/>
          <p:cNvPicPr>
            <a:picLocks noChangeAspect="1"/>
          </p:cNvPicPr>
          <p:nvPr/>
        </p:nvPicPr>
        <p:blipFill>
          <a:blip r:embed="rId4"/>
          <a:stretch>
            <a:fillRect/>
          </a:stretch>
        </p:blipFill>
        <p:spPr>
          <a:xfrm>
            <a:off x="6296025" y="2717006"/>
            <a:ext cx="266700" cy="266700"/>
          </a:xfrm>
          <a:prstGeom prst="rect">
            <a:avLst/>
          </a:prstGeom>
        </p:spPr>
      </p:pic>
      <p:pic>
        <p:nvPicPr>
          <p:cNvPr id="5" name="Picture 4" descr="image.png"/>
          <p:cNvPicPr>
            <a:picLocks noChangeAspect="1"/>
          </p:cNvPicPr>
          <p:nvPr/>
        </p:nvPicPr>
        <p:blipFill>
          <a:blip r:embed="rId5"/>
          <a:stretch>
            <a:fillRect/>
          </a:stretch>
        </p:blipFill>
        <p:spPr>
          <a:xfrm>
            <a:off x="6296025" y="3627239"/>
            <a:ext cx="266700" cy="266700"/>
          </a:xfrm>
          <a:prstGeom prst="rect">
            <a:avLst/>
          </a:prstGeom>
        </p:spPr>
      </p:pic>
      <p:pic>
        <p:nvPicPr>
          <p:cNvPr id="6" name="Picture 5" descr="image.png"/>
          <p:cNvPicPr>
            <a:picLocks noChangeAspect="1"/>
          </p:cNvPicPr>
          <p:nvPr/>
        </p:nvPicPr>
        <p:blipFill>
          <a:blip r:embed="rId4"/>
          <a:stretch>
            <a:fillRect/>
          </a:stretch>
        </p:blipFill>
        <p:spPr>
          <a:xfrm>
            <a:off x="6296025" y="4537471"/>
            <a:ext cx="266700" cy="266700"/>
          </a:xfrm>
          <a:prstGeom prst="rect">
            <a:avLst/>
          </a:prstGeom>
        </p:spPr>
      </p:pic>
      <p:pic>
        <p:nvPicPr>
          <p:cNvPr id="7" name="Picture 6" descr="image.png"/>
          <p:cNvPicPr>
            <a:picLocks noChangeAspect="1"/>
          </p:cNvPicPr>
          <p:nvPr/>
        </p:nvPicPr>
        <p:blipFill>
          <a:blip r:embed="rId6"/>
          <a:stretch>
            <a:fillRect/>
          </a:stretch>
        </p:blipFill>
        <p:spPr>
          <a:xfrm>
            <a:off x="6343650" y="2783681"/>
            <a:ext cx="171450" cy="133350"/>
          </a:xfrm>
          <a:prstGeom prst="rect">
            <a:avLst/>
          </a:prstGeom>
        </p:spPr>
      </p:pic>
      <p:pic>
        <p:nvPicPr>
          <p:cNvPr id="8" name="Picture 7" descr="image.png"/>
          <p:cNvPicPr>
            <a:picLocks noChangeAspect="1"/>
          </p:cNvPicPr>
          <p:nvPr/>
        </p:nvPicPr>
        <p:blipFill>
          <a:blip r:embed="rId7"/>
          <a:stretch>
            <a:fillRect/>
          </a:stretch>
        </p:blipFill>
        <p:spPr>
          <a:xfrm>
            <a:off x="6362700" y="3693914"/>
            <a:ext cx="133350" cy="133350"/>
          </a:xfrm>
          <a:prstGeom prst="rect">
            <a:avLst/>
          </a:prstGeom>
        </p:spPr>
      </p:pic>
      <p:pic>
        <p:nvPicPr>
          <p:cNvPr id="9" name="Picture 8" descr="image.png"/>
          <p:cNvPicPr>
            <a:picLocks noChangeAspect="1"/>
          </p:cNvPicPr>
          <p:nvPr/>
        </p:nvPicPr>
        <p:blipFill>
          <a:blip r:embed="rId8"/>
          <a:stretch>
            <a:fillRect/>
          </a:stretch>
        </p:blipFill>
        <p:spPr>
          <a:xfrm>
            <a:off x="6362700" y="4604146"/>
            <a:ext cx="133350" cy="133350"/>
          </a:xfrm>
          <a:prstGeom prst="rect">
            <a:avLst/>
          </a:prstGeom>
        </p:spPr>
      </p:pic>
      <p:sp>
        <p:nvSpPr>
          <p:cNvPr id="10" name="TextBox 9"/>
          <p:cNvSpPr txBox="1"/>
          <p:nvPr/>
        </p:nvSpPr>
        <p:spPr>
          <a:xfrm>
            <a:off x="609600" y="457200"/>
            <a:ext cx="11582400" cy="171450"/>
          </a:xfrm>
          <a:prstGeom prst="rect">
            <a:avLst/>
          </a:prstGeom>
          <a:noFill/>
        </p:spPr>
        <p:txBody>
          <a:bodyPr wrap="none" lIns="0" tIns="0" rIns="0" bIns="0" anchor="t">
            <a:spAutoFit/>
          </a:bodyPr>
          <a:lstStyle/>
          <a:p>
            <a:pPr algn="l"/>
            <a:r>
              <a:rPr sz="1050" b="1" i="0" u="none">
                <a:solidFill>
                  <a:srgbClr val="059669"/>
                </a:solidFill>
                <a:latin typeface="Plus Jakarta Sans"/>
              </a:rPr>
              <a:t>RENEWABLE CONTRACTING</a:t>
            </a:r>
          </a:p>
        </p:txBody>
      </p:sp>
      <p:sp>
        <p:nvSpPr>
          <p:cNvPr id="11" name="TextBox 10"/>
          <p:cNvSpPr txBox="1"/>
          <p:nvPr/>
        </p:nvSpPr>
        <p:spPr>
          <a:xfrm>
            <a:off x="609600" y="685800"/>
            <a:ext cx="11582400" cy="381000"/>
          </a:xfrm>
          <a:prstGeom prst="rect">
            <a:avLst/>
          </a:prstGeom>
          <a:noFill/>
        </p:spPr>
        <p:txBody>
          <a:bodyPr wrap="none" lIns="0" tIns="0" rIns="0" bIns="0" anchor="t">
            <a:spAutoFit/>
          </a:bodyPr>
          <a:lstStyle/>
          <a:p>
            <a:pPr algn="l"/>
            <a:r>
              <a:rPr sz="2400" b="1" i="0" u="none">
                <a:solidFill>
                  <a:srgbClr val="0F172A"/>
                </a:solidFill>
                <a:latin typeface="Space Grotesk"/>
              </a:rPr>
              <a:t>Power Purchase Agreements (PPAs)</a:t>
            </a:r>
          </a:p>
        </p:txBody>
      </p:sp>
      <p:sp>
        <p:nvSpPr>
          <p:cNvPr id="12" name="TextBox 11"/>
          <p:cNvSpPr txBox="1"/>
          <p:nvPr/>
        </p:nvSpPr>
        <p:spPr>
          <a:xfrm>
            <a:off x="6715125" y="2697956"/>
            <a:ext cx="4962525" cy="719732"/>
          </a:xfrm>
          <a:prstGeom prst="rect">
            <a:avLst/>
          </a:prstGeom>
          <a:noFill/>
        </p:spPr>
        <p:txBody>
          <a:bodyPr wrap="square" lIns="0" tIns="0" rIns="0" bIns="0" anchor="t">
            <a:spAutoFit/>
          </a:bodyPr>
          <a:lstStyle/>
          <a:p>
            <a:pPr algn="l">
              <a:lnSpc>
                <a:spcPts val="1889"/>
              </a:lnSpc>
            </a:pPr>
            <a:r>
              <a:rPr sz="1350" b="1" i="0" u="none">
                <a:solidFill>
                  <a:srgbClr val="0F172A"/>
                </a:solidFill>
                <a:latin typeface="Plus Jakarta Sans"/>
              </a:rPr>
              <a:t>Long-Term Offtake Securitization:</a:t>
            </a:r>
            <a:r>
              <a:rPr sz="1350" b="0" i="0" u="none">
                <a:solidFill>
                  <a:srgbClr val="0F172A"/>
                </a:solidFill>
                <a:latin typeface="Plus Jakarta Sans"/>
              </a:rPr>
              <a:t> 10-20 year contracts between renewable developers and off-takers securing project bankability.</a:t>
            </a:r>
          </a:p>
        </p:txBody>
      </p:sp>
      <p:sp>
        <p:nvSpPr>
          <p:cNvPr id="13" name="TextBox 12"/>
          <p:cNvSpPr txBox="1"/>
          <p:nvPr/>
        </p:nvSpPr>
        <p:spPr>
          <a:xfrm>
            <a:off x="6715125" y="3608189"/>
            <a:ext cx="4962525" cy="719732"/>
          </a:xfrm>
          <a:prstGeom prst="rect">
            <a:avLst/>
          </a:prstGeom>
          <a:noFill/>
        </p:spPr>
        <p:txBody>
          <a:bodyPr wrap="square" lIns="0" tIns="0" rIns="0" bIns="0" anchor="t">
            <a:spAutoFit/>
          </a:bodyPr>
          <a:lstStyle/>
          <a:p>
            <a:pPr algn="l">
              <a:lnSpc>
                <a:spcPts val="1889"/>
              </a:lnSpc>
            </a:pPr>
            <a:r>
              <a:rPr sz="1350" b="1" i="0" u="none">
                <a:solidFill>
                  <a:srgbClr val="0F172A"/>
                </a:solidFill>
                <a:latin typeface="Plus Jakarta Sans"/>
              </a:rPr>
              <a:t>Price Volatility Protection:</a:t>
            </a:r>
            <a:r>
              <a:rPr sz="1350" b="0" i="0" u="none">
                <a:solidFill>
                  <a:srgbClr val="0F172A"/>
                </a:solidFill>
                <a:latin typeface="Plus Jakarta Sans"/>
              </a:rPr>
              <a:t> Fixed strike price hedges corporate consumers against wholesale electricity price spikes.</a:t>
            </a:r>
          </a:p>
        </p:txBody>
      </p:sp>
      <p:sp>
        <p:nvSpPr>
          <p:cNvPr id="14" name="TextBox 13"/>
          <p:cNvSpPr txBox="1"/>
          <p:nvPr/>
        </p:nvSpPr>
        <p:spPr>
          <a:xfrm>
            <a:off x="6715125" y="4518421"/>
            <a:ext cx="4962525" cy="479821"/>
          </a:xfrm>
          <a:prstGeom prst="rect">
            <a:avLst/>
          </a:prstGeom>
          <a:noFill/>
        </p:spPr>
        <p:txBody>
          <a:bodyPr wrap="square" lIns="0" tIns="0" rIns="0" bIns="0" anchor="t">
            <a:spAutoFit/>
          </a:bodyPr>
          <a:lstStyle/>
          <a:p>
            <a:pPr algn="l">
              <a:lnSpc>
                <a:spcPts val="1889"/>
              </a:lnSpc>
            </a:pPr>
            <a:r>
              <a:rPr sz="1350" b="1" i="0" u="none">
                <a:solidFill>
                  <a:srgbClr val="0F172A"/>
                </a:solidFill>
                <a:latin typeface="Plus Jakarta Sans"/>
              </a:rPr>
              <a:t>Guarantee of Origin (GoO):</a:t>
            </a:r>
            <a:r>
              <a:rPr sz="1350" b="0" i="0" u="none">
                <a:solidFill>
                  <a:srgbClr val="0F172A"/>
                </a:solidFill>
                <a:latin typeface="Plus Jakarta Sans"/>
              </a:rPr>
              <a:t> Transfers green electricity certificates to satisfy corporate Scope 2 ESG requirements.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ounded Rectangle 1"/>
          <p:cNvSpPr/>
          <p:nvPr/>
        </p:nvSpPr>
        <p:spPr>
          <a:xfrm>
            <a:off x="609600" y="2200275"/>
            <a:ext cx="10972800" cy="3333750"/>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3" name="Table 2"/>
          <p:cNvGraphicFramePr>
            <a:graphicFrameLocks noGrp="1"/>
          </p:cNvGraphicFramePr>
          <p:nvPr/>
        </p:nvGraphicFramePr>
        <p:xfrm>
          <a:off x="609600" y="2200275"/>
          <a:ext cx="10953749" cy="3333750"/>
        </p:xfrm>
        <a:graphic>
          <a:graphicData uri="http://schemas.openxmlformats.org/drawingml/2006/table">
            <a:tbl>
              <a:tblPr/>
              <a:tblGrid>
                <a:gridCol w="2409825">
                  <a:extLst>
                    <a:ext uri="{9D8B030D-6E8A-4147-A177-3AD203B41FA5}">
                      <a16:colId xmlns:a16="http://schemas.microsoft.com/office/drawing/2014/main" val="20000"/>
                    </a:ext>
                  </a:extLst>
                </a:gridCol>
                <a:gridCol w="4271962">
                  <a:extLst>
                    <a:ext uri="{9D8B030D-6E8A-4147-A177-3AD203B41FA5}">
                      <a16:colId xmlns:a16="http://schemas.microsoft.com/office/drawing/2014/main" val="20001"/>
                    </a:ext>
                  </a:extLst>
                </a:gridCol>
                <a:gridCol w="4271962">
                  <a:extLst>
                    <a:ext uri="{9D8B030D-6E8A-4147-A177-3AD203B41FA5}">
                      <a16:colId xmlns:a16="http://schemas.microsoft.com/office/drawing/2014/main" val="20002"/>
                    </a:ext>
                  </a:extLst>
                </a:gridCol>
              </a:tblGrid>
              <a:tr h="666750">
                <a:tc>
                  <a:txBody>
                    <a:bodyPr/>
                    <a:lstStyle/>
                    <a:p>
                      <a:pPr algn="l"/>
                      <a:r>
                        <a:rPr sz="1200" b="1" i="0" u="none">
                          <a:solidFill>
                            <a:srgbClr val="FFFFFF"/>
                          </a:solidFill>
                          <a:latin typeface="Plus Jakarta Sans"/>
                        </a:rPr>
                        <a:t>Feature</a:t>
                      </a:r>
                    </a:p>
                  </a:txBody>
                  <a:tcPr marL="63500" marR="63500" marT="25400" marB="25400" anchor="ctr">
                    <a:lnL>
                      <a:noFill/>
                    </a:lnL>
                    <a:lnR>
                      <a:noFill/>
                    </a:lnR>
                    <a:lnT>
                      <a:noFill/>
                    </a:lnT>
                    <a:lnB>
                      <a:noFill/>
                    </a:lnB>
                    <a:solidFill>
                      <a:srgbClr val="0F172A"/>
                    </a:solidFill>
                  </a:tcPr>
                </a:tc>
                <a:tc>
                  <a:txBody>
                    <a:bodyPr/>
                    <a:lstStyle/>
                    <a:p>
                      <a:pPr algn="l"/>
                      <a:r>
                        <a:rPr sz="1200" b="1" i="0" u="none">
                          <a:solidFill>
                            <a:srgbClr val="FFFFFF"/>
                          </a:solidFill>
                          <a:latin typeface="Plus Jakarta Sans"/>
                        </a:rPr>
                        <a:t>Physical PPA</a:t>
                      </a:r>
                    </a:p>
                  </a:txBody>
                  <a:tcPr marL="63500" marR="63500" marT="25400" marB="25400" anchor="ctr">
                    <a:lnL>
                      <a:noFill/>
                    </a:lnL>
                    <a:lnR>
                      <a:noFill/>
                    </a:lnR>
                    <a:lnT>
                      <a:noFill/>
                    </a:lnT>
                    <a:lnB>
                      <a:noFill/>
                    </a:lnB>
                    <a:solidFill>
                      <a:srgbClr val="0F172A"/>
                    </a:solidFill>
                  </a:tcPr>
                </a:tc>
                <a:tc>
                  <a:txBody>
                    <a:bodyPr/>
                    <a:lstStyle/>
                    <a:p>
                      <a:pPr algn="l"/>
                      <a:r>
                        <a:rPr sz="1200" b="1" i="0" u="none">
                          <a:solidFill>
                            <a:srgbClr val="FFFFFF"/>
                          </a:solidFill>
                          <a:latin typeface="Plus Jakarta Sans"/>
                        </a:rPr>
                        <a:t>Virtual PPA (VPPA)</a:t>
                      </a:r>
                    </a:p>
                  </a:txBody>
                  <a:tcPr marL="63500" marR="63500" marT="25400" marB="25400" anchor="ctr">
                    <a:lnL>
                      <a:noFill/>
                    </a:lnL>
                    <a:lnR>
                      <a:noFill/>
                    </a:lnR>
                    <a:lnT>
                      <a:noFill/>
                    </a:lnT>
                    <a:lnB>
                      <a:noFill/>
                    </a:lnB>
                    <a:solidFill>
                      <a:srgbClr val="0F172A"/>
                    </a:solidFill>
                  </a:tcPr>
                </a:tc>
                <a:extLst>
                  <a:ext uri="{0D108BD9-81ED-4DB2-BD59-A6C34878D82A}">
                    <a16:rowId xmlns:a16="http://schemas.microsoft.com/office/drawing/2014/main" val="10000"/>
                  </a:ext>
                </a:extLst>
              </a:tr>
              <a:tr h="666750">
                <a:tc>
                  <a:txBody>
                    <a:bodyPr/>
                    <a:lstStyle/>
                    <a:p>
                      <a:pPr algn="l"/>
                      <a:r>
                        <a:rPr sz="1200" b="1" i="0" u="none">
                          <a:solidFill>
                            <a:srgbClr val="0F172A"/>
                          </a:solidFill>
                          <a:latin typeface="Plus Jakarta Sans"/>
                        </a:rPr>
                        <a:t>Power Delivery</a:t>
                      </a:r>
                    </a:p>
                  </a:txBody>
                  <a:tcPr marL="63500" marR="63500" marT="25400" marB="25400" anchor="ctr">
                    <a:lnL>
                      <a:noFill/>
                    </a:lnL>
                    <a:lnR>
                      <a:noFill/>
                    </a:lnR>
                    <a:lnT>
                      <a:noFill/>
                    </a:lnT>
                    <a:lnB>
                      <a:noFill/>
                    </a:lnB>
                    <a:solidFill>
                      <a:srgbClr val="F8FAFC"/>
                    </a:solidFill>
                  </a:tcPr>
                </a:tc>
                <a:tc>
                  <a:txBody>
                    <a:bodyPr/>
                    <a:lstStyle/>
                    <a:p>
                      <a:pPr algn="l"/>
                      <a:r>
                        <a:rPr sz="1200" b="0" i="0" u="none">
                          <a:solidFill>
                            <a:srgbClr val="334155"/>
                          </a:solidFill>
                          <a:latin typeface="Plus Jakarta Sans"/>
                        </a:rPr>
                        <a:t>Direct physical delivery to off-taker load point</a:t>
                      </a:r>
                    </a:p>
                  </a:txBody>
                  <a:tcPr marL="63500" marR="63500" marT="25400" marB="25400" anchor="ctr">
                    <a:lnL>
                      <a:noFill/>
                    </a:lnL>
                    <a:lnR>
                      <a:noFill/>
                    </a:lnR>
                    <a:lnT>
                      <a:noFill/>
                    </a:lnT>
                    <a:lnB>
                      <a:noFill/>
                    </a:lnB>
                    <a:solidFill>
                      <a:srgbClr val="FFFFFF"/>
                    </a:solidFill>
                  </a:tcPr>
                </a:tc>
                <a:tc>
                  <a:txBody>
                    <a:bodyPr/>
                    <a:lstStyle/>
                    <a:p>
                      <a:pPr algn="l"/>
                      <a:r>
                        <a:rPr sz="1200" b="0" i="0" u="none">
                          <a:solidFill>
                            <a:srgbClr val="334155"/>
                          </a:solidFill>
                          <a:latin typeface="Plus Jakarta Sans"/>
                        </a:rPr>
                        <a:t>Financial Contract for Difference (CfD); energy sold to grid</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1"/>
                  </a:ext>
                </a:extLst>
              </a:tr>
              <a:tr h="666750">
                <a:tc>
                  <a:txBody>
                    <a:bodyPr/>
                    <a:lstStyle/>
                    <a:p>
                      <a:pPr algn="l"/>
                      <a:r>
                        <a:rPr sz="1200" b="1" i="0" u="none">
                          <a:solidFill>
                            <a:srgbClr val="0F172A"/>
                          </a:solidFill>
                          <a:latin typeface="Plus Jakarta Sans"/>
                        </a:rPr>
                        <a:t>Cash Flow</a:t>
                      </a:r>
                    </a:p>
                  </a:txBody>
                  <a:tcPr marL="63500" marR="63500" marT="25400" marB="25400" anchor="ctr">
                    <a:lnL>
                      <a:noFill/>
                    </a:lnL>
                    <a:lnR>
                      <a:noFill/>
                    </a:lnR>
                    <a:lnT>
                      <a:noFill/>
                    </a:lnT>
                    <a:lnB>
                      <a:noFill/>
                    </a:lnB>
                    <a:solidFill>
                      <a:srgbClr val="F8FAFC"/>
                    </a:solidFill>
                  </a:tcPr>
                </a:tc>
                <a:tc>
                  <a:txBody>
                    <a:bodyPr/>
                    <a:lstStyle/>
                    <a:p>
                      <a:pPr algn="l"/>
                      <a:r>
                        <a:rPr sz="1200" b="0" i="0" u="none">
                          <a:solidFill>
                            <a:srgbClr val="334155"/>
                          </a:solidFill>
                          <a:latin typeface="Plus Jakarta Sans"/>
                        </a:rPr>
                        <a:t>Fixed rate paid per delivered MWh of electricity</a:t>
                      </a:r>
                    </a:p>
                  </a:txBody>
                  <a:tcPr marL="63500" marR="63500" marT="25400" marB="25400" anchor="ctr">
                    <a:lnL>
                      <a:noFill/>
                    </a:lnL>
                    <a:lnR>
                      <a:noFill/>
                    </a:lnR>
                    <a:lnT>
                      <a:noFill/>
                    </a:lnT>
                    <a:lnB>
                      <a:noFill/>
                    </a:lnB>
                    <a:solidFill>
                      <a:srgbClr val="FFFFFF"/>
                    </a:solidFill>
                  </a:tcPr>
                </a:tc>
                <a:tc>
                  <a:txBody>
                    <a:bodyPr/>
                    <a:lstStyle/>
                    <a:p>
                      <a:pPr algn="l"/>
                      <a:r>
                        <a:rPr sz="1200" b="0" i="0" u="none">
                          <a:solidFill>
                            <a:srgbClr val="334155"/>
                          </a:solidFill>
                          <a:latin typeface="Plus Jakarta Sans"/>
                        </a:rPr>
                        <a:t>Financial settlement between market spot price &amp; strike price</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2"/>
                  </a:ext>
                </a:extLst>
              </a:tr>
              <a:tr h="666750">
                <a:tc>
                  <a:txBody>
                    <a:bodyPr/>
                    <a:lstStyle/>
                    <a:p>
                      <a:pPr algn="l"/>
                      <a:r>
                        <a:rPr sz="1200" b="1" i="0" u="none">
                          <a:solidFill>
                            <a:srgbClr val="0F172A"/>
                          </a:solidFill>
                          <a:latin typeface="Plus Jakarta Sans"/>
                        </a:rPr>
                        <a:t>Grid Location</a:t>
                      </a:r>
                    </a:p>
                  </a:txBody>
                  <a:tcPr marL="63500" marR="63500" marT="25400" marB="25400" anchor="ctr">
                    <a:lnL>
                      <a:noFill/>
                    </a:lnL>
                    <a:lnR>
                      <a:noFill/>
                    </a:lnR>
                    <a:lnT>
                      <a:noFill/>
                    </a:lnT>
                    <a:lnB>
                      <a:noFill/>
                    </a:lnB>
                    <a:solidFill>
                      <a:srgbClr val="F8FAFC"/>
                    </a:solidFill>
                  </a:tcPr>
                </a:tc>
                <a:tc>
                  <a:txBody>
                    <a:bodyPr/>
                    <a:lstStyle/>
                    <a:p>
                      <a:pPr algn="l"/>
                      <a:r>
                        <a:rPr sz="1200" b="0" i="0" u="none">
                          <a:solidFill>
                            <a:srgbClr val="334155"/>
                          </a:solidFill>
                          <a:latin typeface="Plus Jakarta Sans"/>
                        </a:rPr>
                        <a:t>Must reside within same regional power grid</a:t>
                      </a:r>
                    </a:p>
                  </a:txBody>
                  <a:tcPr marL="63500" marR="63500" marT="25400" marB="25400" anchor="ctr">
                    <a:lnL>
                      <a:noFill/>
                    </a:lnL>
                    <a:lnR>
                      <a:noFill/>
                    </a:lnR>
                    <a:lnT>
                      <a:noFill/>
                    </a:lnT>
                    <a:lnB>
                      <a:noFill/>
                    </a:lnB>
                    <a:solidFill>
                      <a:srgbClr val="FFFFFF"/>
                    </a:solidFill>
                  </a:tcPr>
                </a:tc>
                <a:tc>
                  <a:txBody>
                    <a:bodyPr/>
                    <a:lstStyle/>
                    <a:p>
                      <a:pPr algn="l"/>
                      <a:r>
                        <a:rPr sz="1200" b="0" i="0" u="none">
                          <a:solidFill>
                            <a:srgbClr val="334155"/>
                          </a:solidFill>
                          <a:latin typeface="Plus Jakarta Sans"/>
                        </a:rPr>
                        <a:t>Location independent across deregulated ISO markets</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3"/>
                  </a:ext>
                </a:extLst>
              </a:tr>
              <a:tr h="666750">
                <a:tc>
                  <a:txBody>
                    <a:bodyPr/>
                    <a:lstStyle/>
                    <a:p>
                      <a:pPr algn="l"/>
                      <a:r>
                        <a:rPr sz="1200" b="1" i="0" u="none">
                          <a:solidFill>
                            <a:srgbClr val="0F172A"/>
                          </a:solidFill>
                          <a:latin typeface="Plus Jakarta Sans"/>
                        </a:rPr>
                        <a:t>Environmental Attributes</a:t>
                      </a:r>
                    </a:p>
                  </a:txBody>
                  <a:tcPr marL="63500" marR="63500" marT="25400" marB="25400" anchor="ctr">
                    <a:lnL>
                      <a:noFill/>
                    </a:lnL>
                    <a:lnR>
                      <a:noFill/>
                    </a:lnR>
                    <a:lnT>
                      <a:noFill/>
                    </a:lnT>
                    <a:lnB>
                      <a:noFill/>
                    </a:lnB>
                    <a:solidFill>
                      <a:srgbClr val="F8FAFC"/>
                    </a:solidFill>
                  </a:tcPr>
                </a:tc>
                <a:tc>
                  <a:txBody>
                    <a:bodyPr/>
                    <a:lstStyle/>
                    <a:p>
                      <a:pPr algn="l"/>
                      <a:r>
                        <a:rPr sz="1200" b="0" i="0" u="none">
                          <a:solidFill>
                            <a:srgbClr val="334155"/>
                          </a:solidFill>
                          <a:latin typeface="Plus Jakarta Sans"/>
                        </a:rPr>
                        <a:t>Bundled with physical power purchase</a:t>
                      </a:r>
                    </a:p>
                  </a:txBody>
                  <a:tcPr marL="63500" marR="63500" marT="25400" marB="25400" anchor="ctr">
                    <a:lnL>
                      <a:noFill/>
                    </a:lnL>
                    <a:lnR>
                      <a:noFill/>
                    </a:lnR>
                    <a:lnT>
                      <a:noFill/>
                    </a:lnT>
                    <a:lnB>
                      <a:noFill/>
                    </a:lnB>
                    <a:solidFill>
                      <a:srgbClr val="FFFFFF"/>
                    </a:solidFill>
                  </a:tcPr>
                </a:tc>
                <a:tc>
                  <a:txBody>
                    <a:bodyPr/>
                    <a:lstStyle/>
                    <a:p>
                      <a:pPr algn="l"/>
                      <a:r>
                        <a:rPr sz="1200" b="0" i="0" u="none">
                          <a:solidFill>
                            <a:srgbClr val="334155"/>
                          </a:solidFill>
                          <a:latin typeface="Plus Jakarta Sans"/>
                        </a:rPr>
                        <a:t>Unbundled RECs / GoOs transferred financially</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4"/>
                  </a:ext>
                </a:extLst>
              </a:tr>
            </a:tbl>
          </a:graphicData>
        </a:graphic>
      </p:graphicFrame>
      <p:sp>
        <p:nvSpPr>
          <p:cNvPr id="4" name="TextBox 3"/>
          <p:cNvSpPr txBox="1"/>
          <p:nvPr/>
        </p:nvSpPr>
        <p:spPr>
          <a:xfrm>
            <a:off x="609600" y="457200"/>
            <a:ext cx="11582400" cy="171450"/>
          </a:xfrm>
          <a:prstGeom prst="rect">
            <a:avLst/>
          </a:prstGeom>
          <a:noFill/>
        </p:spPr>
        <p:txBody>
          <a:bodyPr wrap="none" lIns="0" tIns="0" rIns="0" bIns="0" anchor="t">
            <a:spAutoFit/>
          </a:bodyPr>
          <a:lstStyle/>
          <a:p>
            <a:pPr algn="l"/>
            <a:r>
              <a:rPr sz="1050" b="1" i="0" u="none">
                <a:solidFill>
                  <a:srgbClr val="059669"/>
                </a:solidFill>
                <a:latin typeface="Plus Jakarta Sans"/>
              </a:rPr>
              <a:t>CONTRACTUAL ARCHITECTURE</a:t>
            </a:r>
          </a:p>
        </p:txBody>
      </p:sp>
      <p:sp>
        <p:nvSpPr>
          <p:cNvPr id="5" name="TextBox 4"/>
          <p:cNvSpPr txBox="1"/>
          <p:nvPr/>
        </p:nvSpPr>
        <p:spPr>
          <a:xfrm>
            <a:off x="609600" y="685800"/>
            <a:ext cx="11582400" cy="381000"/>
          </a:xfrm>
          <a:prstGeom prst="rect">
            <a:avLst/>
          </a:prstGeom>
          <a:noFill/>
        </p:spPr>
        <p:txBody>
          <a:bodyPr wrap="none" lIns="0" tIns="0" rIns="0" bIns="0" anchor="t">
            <a:spAutoFit/>
          </a:bodyPr>
          <a:lstStyle/>
          <a:p>
            <a:pPr algn="l"/>
            <a:r>
              <a:rPr sz="2400" b="1" i="0" u="none">
                <a:solidFill>
                  <a:srgbClr val="0F172A"/>
                </a:solidFill>
                <a:latin typeface="Space Grotesk"/>
              </a:rPr>
              <a:t>Physical PPA vs. Virtual PPA (VPPA)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2595562"/>
            <a:ext cx="3505200" cy="2543175"/>
          </a:xfrm>
          <a:prstGeom prst="roundRect">
            <a:avLst>
              <a:gd name="adj" fmla="val 449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343400" y="2595562"/>
            <a:ext cx="3505200" cy="2543175"/>
          </a:xfrm>
          <a:prstGeom prst="roundRect">
            <a:avLst>
              <a:gd name="adj" fmla="val 449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077200" y="2595562"/>
            <a:ext cx="3505200" cy="2543175"/>
          </a:xfrm>
          <a:prstGeom prst="roundRect">
            <a:avLst>
              <a:gd name="adj" fmla="val 449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2"/>
          <a:stretch>
            <a:fillRect/>
          </a:stretch>
        </p:blipFill>
        <p:spPr>
          <a:xfrm>
            <a:off x="885825" y="2909887"/>
            <a:ext cx="457200" cy="457200"/>
          </a:xfrm>
          <a:prstGeom prst="rect">
            <a:avLst/>
          </a:prstGeom>
        </p:spPr>
      </p:pic>
      <p:pic>
        <p:nvPicPr>
          <p:cNvPr id="6" name="Picture 5" descr="image.png"/>
          <p:cNvPicPr>
            <a:picLocks noChangeAspect="1"/>
          </p:cNvPicPr>
          <p:nvPr/>
        </p:nvPicPr>
        <p:blipFill>
          <a:blip r:embed="rId3"/>
          <a:stretch>
            <a:fillRect/>
          </a:stretch>
        </p:blipFill>
        <p:spPr>
          <a:xfrm>
            <a:off x="4619625" y="2909887"/>
            <a:ext cx="457200" cy="457200"/>
          </a:xfrm>
          <a:prstGeom prst="rect">
            <a:avLst/>
          </a:prstGeom>
        </p:spPr>
      </p:pic>
      <p:pic>
        <p:nvPicPr>
          <p:cNvPr id="7" name="Picture 6" descr="image.png"/>
          <p:cNvPicPr>
            <a:picLocks noChangeAspect="1"/>
          </p:cNvPicPr>
          <p:nvPr/>
        </p:nvPicPr>
        <p:blipFill>
          <a:blip r:embed="rId4"/>
          <a:stretch>
            <a:fillRect/>
          </a:stretch>
        </p:blipFill>
        <p:spPr>
          <a:xfrm>
            <a:off x="8353425" y="2909887"/>
            <a:ext cx="457200" cy="457200"/>
          </a:xfrm>
          <a:prstGeom prst="rect">
            <a:avLst/>
          </a:prstGeom>
        </p:spPr>
      </p:pic>
      <p:pic>
        <p:nvPicPr>
          <p:cNvPr id="8" name="Picture 7" descr="image.png"/>
          <p:cNvPicPr>
            <a:picLocks noChangeAspect="1"/>
          </p:cNvPicPr>
          <p:nvPr/>
        </p:nvPicPr>
        <p:blipFill>
          <a:blip r:embed="rId5"/>
          <a:stretch>
            <a:fillRect/>
          </a:stretch>
        </p:blipFill>
        <p:spPr>
          <a:xfrm>
            <a:off x="981075" y="3033712"/>
            <a:ext cx="266700" cy="209550"/>
          </a:xfrm>
          <a:prstGeom prst="rect">
            <a:avLst/>
          </a:prstGeom>
        </p:spPr>
      </p:pic>
      <p:pic>
        <p:nvPicPr>
          <p:cNvPr id="9" name="Picture 8" descr="image.png"/>
          <p:cNvPicPr>
            <a:picLocks noChangeAspect="1"/>
          </p:cNvPicPr>
          <p:nvPr/>
        </p:nvPicPr>
        <p:blipFill>
          <a:blip r:embed="rId6"/>
          <a:stretch>
            <a:fillRect/>
          </a:stretch>
        </p:blipFill>
        <p:spPr>
          <a:xfrm>
            <a:off x="4714875" y="3033712"/>
            <a:ext cx="266700" cy="209550"/>
          </a:xfrm>
          <a:prstGeom prst="rect">
            <a:avLst/>
          </a:prstGeom>
        </p:spPr>
      </p:pic>
      <p:pic>
        <p:nvPicPr>
          <p:cNvPr id="10" name="Picture 9" descr="image.png"/>
          <p:cNvPicPr>
            <a:picLocks noChangeAspect="1"/>
          </p:cNvPicPr>
          <p:nvPr/>
        </p:nvPicPr>
        <p:blipFill>
          <a:blip r:embed="rId7"/>
          <a:stretch>
            <a:fillRect/>
          </a:stretch>
        </p:blipFill>
        <p:spPr>
          <a:xfrm>
            <a:off x="8477250" y="3033712"/>
            <a:ext cx="209550" cy="209550"/>
          </a:xfrm>
          <a:prstGeom prst="rect">
            <a:avLst/>
          </a:prstGeom>
        </p:spPr>
      </p:pic>
      <p:sp>
        <p:nvSpPr>
          <p:cNvPr id="11" name="TextBox 10"/>
          <p:cNvSpPr txBox="1"/>
          <p:nvPr/>
        </p:nvSpPr>
        <p:spPr>
          <a:xfrm>
            <a:off x="609600" y="457200"/>
            <a:ext cx="11582400" cy="171450"/>
          </a:xfrm>
          <a:prstGeom prst="rect">
            <a:avLst/>
          </a:prstGeom>
          <a:noFill/>
        </p:spPr>
        <p:txBody>
          <a:bodyPr wrap="none" lIns="0" tIns="0" rIns="0" bIns="0" anchor="t">
            <a:spAutoFit/>
          </a:bodyPr>
          <a:lstStyle/>
          <a:p>
            <a:pPr algn="l"/>
            <a:r>
              <a:rPr sz="1050" b="1" i="0" u="none">
                <a:solidFill>
                  <a:srgbClr val="059669"/>
                </a:solidFill>
                <a:latin typeface="Plus Jakarta Sans"/>
              </a:rPr>
              <a:t>DISTRIBUTED ENERGY AGGREGATION</a:t>
            </a:r>
          </a:p>
        </p:txBody>
      </p:sp>
      <p:sp>
        <p:nvSpPr>
          <p:cNvPr id="12" name="TextBox 11"/>
          <p:cNvSpPr txBox="1"/>
          <p:nvPr/>
        </p:nvSpPr>
        <p:spPr>
          <a:xfrm>
            <a:off x="609600" y="685800"/>
            <a:ext cx="11582400" cy="381000"/>
          </a:xfrm>
          <a:prstGeom prst="rect">
            <a:avLst/>
          </a:prstGeom>
          <a:noFill/>
        </p:spPr>
        <p:txBody>
          <a:bodyPr wrap="none" lIns="0" tIns="0" rIns="0" bIns="0" anchor="t">
            <a:spAutoFit/>
          </a:bodyPr>
          <a:lstStyle/>
          <a:p>
            <a:pPr algn="l"/>
            <a:r>
              <a:rPr sz="2400" b="1" i="0" u="none">
                <a:solidFill>
                  <a:srgbClr val="0F172A"/>
                </a:solidFill>
                <a:latin typeface="Space Grotesk"/>
              </a:rPr>
              <a:t>Virtual Power Plants (VPPs)</a:t>
            </a:r>
          </a:p>
        </p:txBody>
      </p:sp>
      <p:sp>
        <p:nvSpPr>
          <p:cNvPr id="13" name="TextBox 12"/>
          <p:cNvSpPr txBox="1"/>
          <p:nvPr/>
        </p:nvSpPr>
        <p:spPr>
          <a:xfrm>
            <a:off x="885825" y="3557587"/>
            <a:ext cx="3875484" cy="238125"/>
          </a:xfrm>
          <a:prstGeom prst="rect">
            <a:avLst/>
          </a:prstGeom>
          <a:noFill/>
        </p:spPr>
        <p:txBody>
          <a:bodyPr wrap="none" lIns="0" tIns="0" rIns="0" bIns="0" anchor="t">
            <a:spAutoFit/>
          </a:bodyPr>
          <a:lstStyle/>
          <a:p>
            <a:pPr algn="l"/>
            <a:r>
              <a:rPr sz="1500" b="1" i="0" u="none">
                <a:solidFill>
                  <a:srgbClr val="0F172A"/>
                </a:solidFill>
                <a:latin typeface="Plus Jakarta Sans"/>
              </a:rPr>
              <a:t>DER Aggregation</a:t>
            </a:r>
          </a:p>
        </p:txBody>
      </p:sp>
      <p:sp>
        <p:nvSpPr>
          <p:cNvPr id="14" name="TextBox 13"/>
          <p:cNvSpPr txBox="1"/>
          <p:nvPr/>
        </p:nvSpPr>
        <p:spPr>
          <a:xfrm>
            <a:off x="885825" y="3910012"/>
            <a:ext cx="3048000" cy="914400"/>
          </a:xfrm>
          <a:prstGeom prst="rect">
            <a:avLst/>
          </a:prstGeom>
          <a:noFill/>
        </p:spPr>
        <p:txBody>
          <a:bodyPr wrap="square" lIns="0" tIns="0" rIns="0" bIns="0" anchor="t">
            <a:spAutoFit/>
          </a:bodyPr>
          <a:lstStyle/>
          <a:p>
            <a:pPr algn="l">
              <a:lnSpc>
                <a:spcPts val="1800"/>
              </a:lnSpc>
            </a:pPr>
            <a:r>
              <a:rPr sz="1200" b="0" i="0" u="none">
                <a:solidFill>
                  <a:srgbClr val="475569"/>
                </a:solidFill>
                <a:latin typeface="Plus Jakarta Sans"/>
              </a:rPr>
              <a:t>Cloud software aggregates decentralized solar, batteries, and flexible EV loads into a unified dispatchable capacity profile.</a:t>
            </a:r>
          </a:p>
        </p:txBody>
      </p:sp>
      <p:sp>
        <p:nvSpPr>
          <p:cNvPr id="15" name="TextBox 14"/>
          <p:cNvSpPr txBox="1"/>
          <p:nvPr/>
        </p:nvSpPr>
        <p:spPr>
          <a:xfrm>
            <a:off x="4619625" y="3557587"/>
            <a:ext cx="3875484" cy="238125"/>
          </a:xfrm>
          <a:prstGeom prst="rect">
            <a:avLst/>
          </a:prstGeom>
          <a:noFill/>
        </p:spPr>
        <p:txBody>
          <a:bodyPr wrap="none" lIns="0" tIns="0" rIns="0" bIns="0" anchor="t">
            <a:spAutoFit/>
          </a:bodyPr>
          <a:lstStyle/>
          <a:p>
            <a:pPr algn="l"/>
            <a:r>
              <a:rPr sz="1500" b="1" i="0" u="none">
                <a:solidFill>
                  <a:srgbClr val="0F172A"/>
                </a:solidFill>
                <a:latin typeface="Plus Jakarta Sans"/>
              </a:rPr>
              <a:t>Ancillary Services</a:t>
            </a:r>
          </a:p>
        </p:txBody>
      </p:sp>
      <p:sp>
        <p:nvSpPr>
          <p:cNvPr id="16" name="TextBox 15"/>
          <p:cNvSpPr txBox="1"/>
          <p:nvPr/>
        </p:nvSpPr>
        <p:spPr>
          <a:xfrm>
            <a:off x="4619625" y="3910012"/>
            <a:ext cx="3048000" cy="685800"/>
          </a:xfrm>
          <a:prstGeom prst="rect">
            <a:avLst/>
          </a:prstGeom>
          <a:noFill/>
        </p:spPr>
        <p:txBody>
          <a:bodyPr wrap="square" lIns="0" tIns="0" rIns="0" bIns="0" anchor="t">
            <a:spAutoFit/>
          </a:bodyPr>
          <a:lstStyle/>
          <a:p>
            <a:pPr algn="l">
              <a:lnSpc>
                <a:spcPts val="1800"/>
              </a:lnSpc>
            </a:pPr>
            <a:r>
              <a:rPr sz="1200" b="0" i="0" u="none">
                <a:solidFill>
                  <a:srgbClr val="475569"/>
                </a:solidFill>
                <a:latin typeface="Plus Jakarta Sans"/>
              </a:rPr>
              <a:t>Provides millisecond grid frequency regulation, voltage control, and peak shaving services to system operators.</a:t>
            </a:r>
          </a:p>
        </p:txBody>
      </p:sp>
      <p:sp>
        <p:nvSpPr>
          <p:cNvPr id="17" name="TextBox 16"/>
          <p:cNvSpPr txBox="1"/>
          <p:nvPr/>
        </p:nvSpPr>
        <p:spPr>
          <a:xfrm>
            <a:off x="8353425" y="3557587"/>
            <a:ext cx="3838575" cy="238125"/>
          </a:xfrm>
          <a:prstGeom prst="rect">
            <a:avLst/>
          </a:prstGeom>
          <a:noFill/>
        </p:spPr>
        <p:txBody>
          <a:bodyPr wrap="none" lIns="0" tIns="0" rIns="0" bIns="0" anchor="t">
            <a:spAutoFit/>
          </a:bodyPr>
          <a:lstStyle/>
          <a:p>
            <a:pPr algn="l"/>
            <a:r>
              <a:rPr sz="1500" b="1" i="0" u="none">
                <a:solidFill>
                  <a:srgbClr val="0F172A"/>
                </a:solidFill>
                <a:latin typeface="Plus Jakarta Sans"/>
              </a:rPr>
              <a:t>Wholesale Optimization</a:t>
            </a:r>
          </a:p>
        </p:txBody>
      </p:sp>
      <p:sp>
        <p:nvSpPr>
          <p:cNvPr id="18" name="TextBox 17"/>
          <p:cNvSpPr txBox="1"/>
          <p:nvPr/>
        </p:nvSpPr>
        <p:spPr>
          <a:xfrm>
            <a:off x="8353425" y="3910012"/>
            <a:ext cx="3048000" cy="685800"/>
          </a:xfrm>
          <a:prstGeom prst="rect">
            <a:avLst/>
          </a:prstGeom>
          <a:noFill/>
        </p:spPr>
        <p:txBody>
          <a:bodyPr wrap="square" lIns="0" tIns="0" rIns="0" bIns="0" anchor="t">
            <a:spAutoFit/>
          </a:bodyPr>
          <a:lstStyle/>
          <a:p>
            <a:pPr algn="l">
              <a:lnSpc>
                <a:spcPts val="1800"/>
              </a:lnSpc>
            </a:pPr>
            <a:r>
              <a:rPr sz="1200" b="0" i="0" u="none">
                <a:solidFill>
                  <a:srgbClr val="475569"/>
                </a:solidFill>
                <a:latin typeface="Plus Jakarta Sans"/>
              </a:rPr>
              <a:t>Trades collective asset flexibility directly into day-ahead, intraday, and balancing electricity power markets.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6276975" y="2038350"/>
            <a:ext cx="5305425" cy="3619500"/>
          </a:xfrm>
          <a:prstGeom prst="rect">
            <a:avLst/>
          </a:prstGeom>
        </p:spPr>
      </p:pic>
      <p:pic>
        <p:nvPicPr>
          <p:cNvPr id="3" name="Picture 2" descr="image.png"/>
          <p:cNvPicPr>
            <a:picLocks noChangeAspect="1"/>
          </p:cNvPicPr>
          <p:nvPr/>
        </p:nvPicPr>
        <p:blipFill>
          <a:blip r:embed="rId3"/>
          <a:stretch>
            <a:fillRect/>
          </a:stretch>
        </p:blipFill>
        <p:spPr>
          <a:xfrm>
            <a:off x="6286500" y="2047875"/>
            <a:ext cx="5286375" cy="3600450"/>
          </a:xfrm>
          <a:prstGeom prst="rect">
            <a:avLst/>
          </a:prstGeom>
        </p:spPr>
      </p:pic>
      <p:pic>
        <p:nvPicPr>
          <p:cNvPr id="4" name="Picture 3" descr="image.png"/>
          <p:cNvPicPr>
            <a:picLocks noChangeAspect="1"/>
          </p:cNvPicPr>
          <p:nvPr/>
        </p:nvPicPr>
        <p:blipFill>
          <a:blip r:embed="rId4"/>
          <a:stretch>
            <a:fillRect/>
          </a:stretch>
        </p:blipFill>
        <p:spPr>
          <a:xfrm>
            <a:off x="609600" y="2597050"/>
            <a:ext cx="266700" cy="266700"/>
          </a:xfrm>
          <a:prstGeom prst="rect">
            <a:avLst/>
          </a:prstGeom>
        </p:spPr>
      </p:pic>
      <p:pic>
        <p:nvPicPr>
          <p:cNvPr id="5" name="Picture 4" descr="image.png"/>
          <p:cNvPicPr>
            <a:picLocks noChangeAspect="1"/>
          </p:cNvPicPr>
          <p:nvPr/>
        </p:nvPicPr>
        <p:blipFill>
          <a:blip r:embed="rId5"/>
          <a:stretch>
            <a:fillRect/>
          </a:stretch>
        </p:blipFill>
        <p:spPr>
          <a:xfrm>
            <a:off x="609600" y="3507283"/>
            <a:ext cx="266700" cy="266700"/>
          </a:xfrm>
          <a:prstGeom prst="rect">
            <a:avLst/>
          </a:prstGeom>
        </p:spPr>
      </p:pic>
      <p:pic>
        <p:nvPicPr>
          <p:cNvPr id="6" name="Picture 5" descr="image.png"/>
          <p:cNvPicPr>
            <a:picLocks noChangeAspect="1"/>
          </p:cNvPicPr>
          <p:nvPr/>
        </p:nvPicPr>
        <p:blipFill>
          <a:blip r:embed="rId4"/>
          <a:stretch>
            <a:fillRect/>
          </a:stretch>
        </p:blipFill>
        <p:spPr>
          <a:xfrm>
            <a:off x="609600" y="4417516"/>
            <a:ext cx="266700" cy="266700"/>
          </a:xfrm>
          <a:prstGeom prst="rect">
            <a:avLst/>
          </a:prstGeom>
        </p:spPr>
      </p:pic>
      <p:pic>
        <p:nvPicPr>
          <p:cNvPr id="7" name="Picture 6" descr="image.png"/>
          <p:cNvPicPr>
            <a:picLocks noChangeAspect="1"/>
          </p:cNvPicPr>
          <p:nvPr/>
        </p:nvPicPr>
        <p:blipFill>
          <a:blip r:embed="rId6"/>
          <a:stretch>
            <a:fillRect/>
          </a:stretch>
        </p:blipFill>
        <p:spPr>
          <a:xfrm>
            <a:off x="676275" y="2663725"/>
            <a:ext cx="133350" cy="133350"/>
          </a:xfrm>
          <a:prstGeom prst="rect">
            <a:avLst/>
          </a:prstGeom>
        </p:spPr>
      </p:pic>
      <p:pic>
        <p:nvPicPr>
          <p:cNvPr id="8" name="Picture 7" descr="image.png"/>
          <p:cNvPicPr>
            <a:picLocks noChangeAspect="1"/>
          </p:cNvPicPr>
          <p:nvPr/>
        </p:nvPicPr>
        <p:blipFill>
          <a:blip r:embed="rId7"/>
          <a:stretch>
            <a:fillRect/>
          </a:stretch>
        </p:blipFill>
        <p:spPr>
          <a:xfrm>
            <a:off x="666750" y="3573958"/>
            <a:ext cx="152400" cy="133350"/>
          </a:xfrm>
          <a:prstGeom prst="rect">
            <a:avLst/>
          </a:prstGeom>
        </p:spPr>
      </p:pic>
      <p:pic>
        <p:nvPicPr>
          <p:cNvPr id="9" name="Picture 8" descr="image.png"/>
          <p:cNvPicPr>
            <a:picLocks noChangeAspect="1"/>
          </p:cNvPicPr>
          <p:nvPr/>
        </p:nvPicPr>
        <p:blipFill>
          <a:blip r:embed="rId8"/>
          <a:stretch>
            <a:fillRect/>
          </a:stretch>
        </p:blipFill>
        <p:spPr>
          <a:xfrm>
            <a:off x="676275" y="4484191"/>
            <a:ext cx="133350" cy="133350"/>
          </a:xfrm>
          <a:prstGeom prst="rect">
            <a:avLst/>
          </a:prstGeom>
        </p:spPr>
      </p:pic>
      <p:sp>
        <p:nvSpPr>
          <p:cNvPr id="10" name="TextBox 9"/>
          <p:cNvSpPr txBox="1"/>
          <p:nvPr/>
        </p:nvSpPr>
        <p:spPr>
          <a:xfrm>
            <a:off x="609600" y="457200"/>
            <a:ext cx="11582400" cy="171450"/>
          </a:xfrm>
          <a:prstGeom prst="rect">
            <a:avLst/>
          </a:prstGeom>
          <a:noFill/>
        </p:spPr>
        <p:txBody>
          <a:bodyPr wrap="none" lIns="0" tIns="0" rIns="0" bIns="0" anchor="t">
            <a:spAutoFit/>
          </a:bodyPr>
          <a:lstStyle/>
          <a:p>
            <a:pPr algn="l"/>
            <a:r>
              <a:rPr sz="1050" b="1" i="0" u="none">
                <a:solidFill>
                  <a:srgbClr val="059669"/>
                </a:solidFill>
                <a:latin typeface="Plus Jakarta Sans"/>
              </a:rPr>
              <a:t>SYNTHETIC STORAGE PRODUCTS</a:t>
            </a:r>
          </a:p>
        </p:txBody>
      </p:sp>
      <p:sp>
        <p:nvSpPr>
          <p:cNvPr id="11" name="TextBox 10"/>
          <p:cNvSpPr txBox="1"/>
          <p:nvPr/>
        </p:nvSpPr>
        <p:spPr>
          <a:xfrm>
            <a:off x="609600" y="685800"/>
            <a:ext cx="11582400" cy="381000"/>
          </a:xfrm>
          <a:prstGeom prst="rect">
            <a:avLst/>
          </a:prstGeom>
          <a:noFill/>
        </p:spPr>
        <p:txBody>
          <a:bodyPr wrap="none" lIns="0" tIns="0" rIns="0" bIns="0" anchor="t">
            <a:spAutoFit/>
          </a:bodyPr>
          <a:lstStyle/>
          <a:p>
            <a:pPr algn="l"/>
            <a:r>
              <a:rPr sz="2400" b="1" i="0" u="none">
                <a:solidFill>
                  <a:srgbClr val="0F172A"/>
                </a:solidFill>
                <a:latin typeface="Space Grotesk"/>
              </a:rPr>
              <a:t>Virtual Pumped Storage (VPS)</a:t>
            </a:r>
          </a:p>
        </p:txBody>
      </p:sp>
      <p:sp>
        <p:nvSpPr>
          <p:cNvPr id="12" name="TextBox 11"/>
          <p:cNvSpPr txBox="1"/>
          <p:nvPr/>
        </p:nvSpPr>
        <p:spPr>
          <a:xfrm>
            <a:off x="1028700" y="2578000"/>
            <a:ext cx="4962525" cy="719732"/>
          </a:xfrm>
          <a:prstGeom prst="rect">
            <a:avLst/>
          </a:prstGeom>
          <a:noFill/>
        </p:spPr>
        <p:txBody>
          <a:bodyPr wrap="square" lIns="0" tIns="0" rIns="0" bIns="0" anchor="t">
            <a:spAutoFit/>
          </a:bodyPr>
          <a:lstStyle/>
          <a:p>
            <a:pPr algn="l">
              <a:lnSpc>
                <a:spcPts val="1889"/>
              </a:lnSpc>
            </a:pPr>
            <a:r>
              <a:rPr sz="1350" b="1" i="0" u="none">
                <a:solidFill>
                  <a:srgbClr val="0F172A"/>
                </a:solidFill>
                <a:latin typeface="Plus Jakarta Sans"/>
              </a:rPr>
              <a:t>Synthetic Flexibility Contracting:</a:t>
            </a:r>
            <a:r>
              <a:rPr sz="1350" b="0" i="0" u="none">
                <a:solidFill>
                  <a:srgbClr val="0F172A"/>
                </a:solidFill>
                <a:latin typeface="Plus Jakarta Sans"/>
              </a:rPr>
              <a:t> Enables energy traders to simulate physical hydro/battery storage without asset ownership.</a:t>
            </a:r>
          </a:p>
        </p:txBody>
      </p:sp>
      <p:sp>
        <p:nvSpPr>
          <p:cNvPr id="13" name="TextBox 12"/>
          <p:cNvSpPr txBox="1"/>
          <p:nvPr/>
        </p:nvSpPr>
        <p:spPr>
          <a:xfrm>
            <a:off x="1028700" y="3488233"/>
            <a:ext cx="4962525" cy="719732"/>
          </a:xfrm>
          <a:prstGeom prst="rect">
            <a:avLst/>
          </a:prstGeom>
          <a:noFill/>
        </p:spPr>
        <p:txBody>
          <a:bodyPr wrap="square" lIns="0" tIns="0" rIns="0" bIns="0" anchor="t">
            <a:spAutoFit/>
          </a:bodyPr>
          <a:lstStyle/>
          <a:p>
            <a:pPr algn="l">
              <a:lnSpc>
                <a:spcPts val="1889"/>
              </a:lnSpc>
            </a:pPr>
            <a:r>
              <a:rPr sz="1350" b="1" i="0" u="none">
                <a:solidFill>
                  <a:srgbClr val="0F172A"/>
                </a:solidFill>
                <a:latin typeface="Plus Jakarta Sans"/>
              </a:rPr>
              <a:t>Spread Capture Arbitrage:</a:t>
            </a:r>
            <a:r>
              <a:rPr sz="1350" b="0" i="0" u="none">
                <a:solidFill>
                  <a:srgbClr val="0F172A"/>
                </a:solidFill>
                <a:latin typeface="Plus Jakarta Sans"/>
              </a:rPr>
              <a:t> Buyer stores power during low off-peak hours and dispatches during high peak demand hours.</a:t>
            </a:r>
          </a:p>
        </p:txBody>
      </p:sp>
      <p:sp>
        <p:nvSpPr>
          <p:cNvPr id="14" name="TextBox 13"/>
          <p:cNvSpPr txBox="1"/>
          <p:nvPr/>
        </p:nvSpPr>
        <p:spPr>
          <a:xfrm>
            <a:off x="1028700" y="4398466"/>
            <a:ext cx="4962525" cy="719732"/>
          </a:xfrm>
          <a:prstGeom prst="rect">
            <a:avLst/>
          </a:prstGeom>
          <a:noFill/>
        </p:spPr>
        <p:txBody>
          <a:bodyPr wrap="square" lIns="0" tIns="0" rIns="0" bIns="0" anchor="t">
            <a:spAutoFit/>
          </a:bodyPr>
          <a:lstStyle/>
          <a:p>
            <a:pPr algn="l">
              <a:lnSpc>
                <a:spcPts val="1889"/>
              </a:lnSpc>
            </a:pPr>
            <a:r>
              <a:rPr sz="1350" b="1" i="0" u="none">
                <a:solidFill>
                  <a:srgbClr val="0F172A"/>
                </a:solidFill>
                <a:latin typeface="Plus Jakarta Sans"/>
              </a:rPr>
              <a:t>Defined Efficiency Factors:</a:t>
            </a:r>
            <a:r>
              <a:rPr sz="1350" b="0" i="0" u="none">
                <a:solidFill>
                  <a:srgbClr val="0F172A"/>
                </a:solidFill>
                <a:latin typeface="Plus Jakarta Sans"/>
              </a:rPr>
              <a:t> Contractual round-trip efficiency (RTE) parameter compensates for storage energy losses.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1333500"/>
            <a:ext cx="3505200" cy="1459110"/>
          </a:xfrm>
          <a:prstGeom prst="roundRect">
            <a:avLst>
              <a:gd name="adj" fmla="val 783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343400" y="1333500"/>
            <a:ext cx="3505200" cy="1459110"/>
          </a:xfrm>
          <a:prstGeom prst="roundRect">
            <a:avLst>
              <a:gd name="adj" fmla="val 783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077200" y="1333500"/>
            <a:ext cx="3505200" cy="1459110"/>
          </a:xfrm>
          <a:prstGeom prst="roundRect">
            <a:avLst>
              <a:gd name="adj" fmla="val 783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09600" y="4263330"/>
            <a:ext cx="10972800" cy="933450"/>
          </a:xfrm>
          <a:prstGeom prst="roundRect">
            <a:avLst>
              <a:gd name="adj" fmla="val 12244"/>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09600" y="457200"/>
            <a:ext cx="11582400" cy="171450"/>
          </a:xfrm>
          <a:prstGeom prst="rect">
            <a:avLst/>
          </a:prstGeom>
          <a:noFill/>
        </p:spPr>
        <p:txBody>
          <a:bodyPr wrap="none" lIns="0" tIns="0" rIns="0" bIns="0" anchor="t">
            <a:spAutoFit/>
          </a:bodyPr>
          <a:lstStyle/>
          <a:p>
            <a:pPr algn="l"/>
            <a:r>
              <a:rPr sz="1050" b="1" i="0" u="none">
                <a:solidFill>
                  <a:srgbClr val="059669"/>
                </a:solidFill>
                <a:latin typeface="Plus Jakarta Sans"/>
              </a:rPr>
              <a:t>VOLUMETRIC RISK MANAGEMENT</a:t>
            </a:r>
          </a:p>
        </p:txBody>
      </p:sp>
      <p:sp>
        <p:nvSpPr>
          <p:cNvPr id="7" name="TextBox 6"/>
          <p:cNvSpPr txBox="1"/>
          <p:nvPr/>
        </p:nvSpPr>
        <p:spPr>
          <a:xfrm>
            <a:off x="609600" y="685800"/>
            <a:ext cx="11582400" cy="381000"/>
          </a:xfrm>
          <a:prstGeom prst="rect">
            <a:avLst/>
          </a:prstGeom>
          <a:noFill/>
        </p:spPr>
        <p:txBody>
          <a:bodyPr wrap="none" lIns="0" tIns="0" rIns="0" bIns="0" anchor="t">
            <a:spAutoFit/>
          </a:bodyPr>
          <a:lstStyle/>
          <a:p>
            <a:pPr algn="l"/>
            <a:r>
              <a:rPr sz="2400" b="1" i="0" u="none">
                <a:solidFill>
                  <a:srgbClr val="0F172A"/>
                </a:solidFill>
                <a:latin typeface="Space Grotesk"/>
              </a:rPr>
              <a:t>Weather Derivatives in Energy Markets</a:t>
            </a:r>
          </a:p>
        </p:txBody>
      </p:sp>
      <p:sp>
        <p:nvSpPr>
          <p:cNvPr id="8" name="TextBox 7"/>
          <p:cNvSpPr txBox="1"/>
          <p:nvPr/>
        </p:nvSpPr>
        <p:spPr>
          <a:xfrm>
            <a:off x="847725" y="1571625"/>
            <a:ext cx="3786187" cy="333375"/>
          </a:xfrm>
          <a:prstGeom prst="rect">
            <a:avLst/>
          </a:prstGeom>
          <a:noFill/>
        </p:spPr>
        <p:txBody>
          <a:bodyPr wrap="none" lIns="0" tIns="0" rIns="0" bIns="0" anchor="t">
            <a:spAutoFit/>
          </a:bodyPr>
          <a:lstStyle/>
          <a:p>
            <a:pPr algn="l"/>
            <a:r>
              <a:rPr sz="2100" b="1" i="0" u="none">
                <a:solidFill>
                  <a:srgbClr val="16A34A"/>
                </a:solidFill>
                <a:latin typeface="Plus Jakarta Sans"/>
              </a:rPr>
              <a:t>HDD / CDD</a:t>
            </a:r>
          </a:p>
        </p:txBody>
      </p:sp>
      <p:sp>
        <p:nvSpPr>
          <p:cNvPr id="9" name="TextBox 8"/>
          <p:cNvSpPr txBox="1"/>
          <p:nvPr/>
        </p:nvSpPr>
        <p:spPr>
          <a:xfrm>
            <a:off x="847725" y="1962150"/>
            <a:ext cx="3786187" cy="180975"/>
          </a:xfrm>
          <a:prstGeom prst="rect">
            <a:avLst/>
          </a:prstGeom>
          <a:noFill/>
        </p:spPr>
        <p:txBody>
          <a:bodyPr wrap="none" lIns="0" tIns="0" rIns="0" bIns="0" anchor="t">
            <a:spAutoFit/>
          </a:bodyPr>
          <a:lstStyle/>
          <a:p>
            <a:pPr algn="l"/>
            <a:r>
              <a:rPr sz="1125" b="1" i="0" u="none">
                <a:solidFill>
                  <a:srgbClr val="0F172A"/>
                </a:solidFill>
                <a:latin typeface="Plus Jakarta Sans"/>
              </a:rPr>
              <a:t>Degree Day Indices</a:t>
            </a:r>
          </a:p>
        </p:txBody>
      </p:sp>
      <p:sp>
        <p:nvSpPr>
          <p:cNvPr id="10" name="TextBox 9"/>
          <p:cNvSpPr txBox="1"/>
          <p:nvPr/>
        </p:nvSpPr>
        <p:spPr>
          <a:xfrm>
            <a:off x="847725" y="2181225"/>
            <a:ext cx="3124200" cy="373260"/>
          </a:xfrm>
          <a:prstGeom prst="rect">
            <a:avLst/>
          </a:prstGeom>
          <a:noFill/>
        </p:spPr>
        <p:txBody>
          <a:bodyPr wrap="square" lIns="0" tIns="0" rIns="0" bIns="0" anchor="t">
            <a:spAutoFit/>
          </a:bodyPr>
          <a:lstStyle/>
          <a:p>
            <a:pPr algn="l">
              <a:lnSpc>
                <a:spcPts val="1470"/>
              </a:lnSpc>
            </a:pPr>
            <a:r>
              <a:rPr sz="1050" b="0" i="0" u="none">
                <a:solidFill>
                  <a:srgbClr val="64748B"/>
                </a:solidFill>
                <a:latin typeface="Plus Jakarta Sans"/>
              </a:rPr>
              <a:t>Heating &amp; Cooling Degree Days measure temperature deviations from 18°C baseline.</a:t>
            </a:r>
          </a:p>
        </p:txBody>
      </p:sp>
      <p:sp>
        <p:nvSpPr>
          <p:cNvPr id="11" name="TextBox 10"/>
          <p:cNvSpPr txBox="1"/>
          <p:nvPr/>
        </p:nvSpPr>
        <p:spPr>
          <a:xfrm>
            <a:off x="4581525" y="1571625"/>
            <a:ext cx="3786187" cy="333375"/>
          </a:xfrm>
          <a:prstGeom prst="rect">
            <a:avLst/>
          </a:prstGeom>
          <a:noFill/>
        </p:spPr>
        <p:txBody>
          <a:bodyPr wrap="none" lIns="0" tIns="0" rIns="0" bIns="0" anchor="t">
            <a:spAutoFit/>
          </a:bodyPr>
          <a:lstStyle/>
          <a:p>
            <a:pPr algn="l"/>
            <a:r>
              <a:rPr sz="2100" b="1" i="0" u="none">
                <a:solidFill>
                  <a:srgbClr val="16A34A"/>
                </a:solidFill>
                <a:latin typeface="Plus Jakarta Sans"/>
              </a:rPr>
              <a:t>Wind Swaps</a:t>
            </a:r>
          </a:p>
        </p:txBody>
      </p:sp>
      <p:sp>
        <p:nvSpPr>
          <p:cNvPr id="12" name="TextBox 11"/>
          <p:cNvSpPr txBox="1"/>
          <p:nvPr/>
        </p:nvSpPr>
        <p:spPr>
          <a:xfrm>
            <a:off x="4581525" y="1962150"/>
            <a:ext cx="3786187" cy="180975"/>
          </a:xfrm>
          <a:prstGeom prst="rect">
            <a:avLst/>
          </a:prstGeom>
          <a:noFill/>
        </p:spPr>
        <p:txBody>
          <a:bodyPr wrap="none" lIns="0" tIns="0" rIns="0" bIns="0" anchor="t">
            <a:spAutoFit/>
          </a:bodyPr>
          <a:lstStyle/>
          <a:p>
            <a:pPr algn="l"/>
            <a:r>
              <a:rPr sz="1125" b="1" i="0" u="none">
                <a:solidFill>
                  <a:srgbClr val="0F172A"/>
                </a:solidFill>
                <a:latin typeface="Plus Jakarta Sans"/>
              </a:rPr>
              <a:t>Volumetric Wind Hedges</a:t>
            </a:r>
          </a:p>
        </p:txBody>
      </p:sp>
      <p:sp>
        <p:nvSpPr>
          <p:cNvPr id="13" name="TextBox 12"/>
          <p:cNvSpPr txBox="1"/>
          <p:nvPr/>
        </p:nvSpPr>
        <p:spPr>
          <a:xfrm>
            <a:off x="4581525" y="2181225"/>
            <a:ext cx="3124200" cy="373260"/>
          </a:xfrm>
          <a:prstGeom prst="rect">
            <a:avLst/>
          </a:prstGeom>
          <a:noFill/>
        </p:spPr>
        <p:txBody>
          <a:bodyPr wrap="square" lIns="0" tIns="0" rIns="0" bIns="0" anchor="t">
            <a:spAutoFit/>
          </a:bodyPr>
          <a:lstStyle/>
          <a:p>
            <a:pPr algn="l">
              <a:lnSpc>
                <a:spcPts val="1470"/>
              </a:lnSpc>
            </a:pPr>
            <a:r>
              <a:rPr sz="1050" b="0" i="0" u="none">
                <a:solidFill>
                  <a:srgbClr val="64748B"/>
                </a:solidFill>
                <a:latin typeface="Plus Jakarta Sans"/>
              </a:rPr>
              <a:t>Protects wind farm operators against low wind speed seasons (volume deficit).</a:t>
            </a:r>
          </a:p>
        </p:txBody>
      </p:sp>
      <p:sp>
        <p:nvSpPr>
          <p:cNvPr id="14" name="TextBox 13"/>
          <p:cNvSpPr txBox="1"/>
          <p:nvPr/>
        </p:nvSpPr>
        <p:spPr>
          <a:xfrm>
            <a:off x="8315325" y="1571625"/>
            <a:ext cx="3786187" cy="333375"/>
          </a:xfrm>
          <a:prstGeom prst="rect">
            <a:avLst/>
          </a:prstGeom>
          <a:noFill/>
        </p:spPr>
        <p:txBody>
          <a:bodyPr wrap="none" lIns="0" tIns="0" rIns="0" bIns="0" anchor="t">
            <a:spAutoFit/>
          </a:bodyPr>
          <a:lstStyle/>
          <a:p>
            <a:pPr algn="l"/>
            <a:r>
              <a:rPr sz="2100" b="1" i="0" u="none">
                <a:solidFill>
                  <a:srgbClr val="16A34A"/>
                </a:solidFill>
                <a:latin typeface="Plus Jakarta Sans"/>
              </a:rPr>
              <a:t>Solar Swaps</a:t>
            </a:r>
          </a:p>
        </p:txBody>
      </p:sp>
      <p:sp>
        <p:nvSpPr>
          <p:cNvPr id="15" name="TextBox 14"/>
          <p:cNvSpPr txBox="1"/>
          <p:nvPr/>
        </p:nvSpPr>
        <p:spPr>
          <a:xfrm>
            <a:off x="8315325" y="1962150"/>
            <a:ext cx="3786187" cy="180975"/>
          </a:xfrm>
          <a:prstGeom prst="rect">
            <a:avLst/>
          </a:prstGeom>
          <a:noFill/>
        </p:spPr>
        <p:txBody>
          <a:bodyPr wrap="none" lIns="0" tIns="0" rIns="0" bIns="0" anchor="t">
            <a:spAutoFit/>
          </a:bodyPr>
          <a:lstStyle/>
          <a:p>
            <a:pPr algn="l"/>
            <a:r>
              <a:rPr sz="1125" b="1" i="0" u="none">
                <a:solidFill>
                  <a:srgbClr val="0F172A"/>
                </a:solidFill>
                <a:latin typeface="Plus Jakarta Sans"/>
              </a:rPr>
              <a:t>Irradiance Contracts</a:t>
            </a:r>
          </a:p>
        </p:txBody>
      </p:sp>
      <p:sp>
        <p:nvSpPr>
          <p:cNvPr id="16" name="TextBox 15"/>
          <p:cNvSpPr txBox="1"/>
          <p:nvPr/>
        </p:nvSpPr>
        <p:spPr>
          <a:xfrm>
            <a:off x="8315325" y="2181225"/>
            <a:ext cx="3124200" cy="373260"/>
          </a:xfrm>
          <a:prstGeom prst="rect">
            <a:avLst/>
          </a:prstGeom>
          <a:noFill/>
        </p:spPr>
        <p:txBody>
          <a:bodyPr wrap="square" lIns="0" tIns="0" rIns="0" bIns="0" anchor="t">
            <a:spAutoFit/>
          </a:bodyPr>
          <a:lstStyle/>
          <a:p>
            <a:pPr algn="l">
              <a:lnSpc>
                <a:spcPts val="1470"/>
              </a:lnSpc>
            </a:pPr>
            <a:r>
              <a:rPr sz="1050" b="0" i="0" u="none">
                <a:solidFill>
                  <a:srgbClr val="64748B"/>
                </a:solidFill>
                <a:latin typeface="Plus Jakarta Sans"/>
              </a:rPr>
              <a:t>Stabilizes revenues against prolonged cloud coverage and poor solar irradiance.</a:t>
            </a:r>
          </a:p>
        </p:txBody>
      </p:sp>
      <p:sp>
        <p:nvSpPr>
          <p:cNvPr id="17" name="TextBox 16"/>
          <p:cNvSpPr txBox="1"/>
          <p:nvPr/>
        </p:nvSpPr>
        <p:spPr>
          <a:xfrm>
            <a:off x="847725" y="4501455"/>
            <a:ext cx="10591800" cy="457200"/>
          </a:xfrm>
          <a:prstGeom prst="rect">
            <a:avLst/>
          </a:prstGeom>
          <a:noFill/>
        </p:spPr>
        <p:txBody>
          <a:bodyPr wrap="square" lIns="0" tIns="0" rIns="0" bIns="0" anchor="t">
            <a:spAutoFit/>
          </a:bodyPr>
          <a:lstStyle/>
          <a:p>
            <a:pPr algn="l">
              <a:lnSpc>
                <a:spcPts val="1800"/>
              </a:lnSpc>
            </a:pPr>
            <a:r>
              <a:rPr sz="1200" b="1" i="0" u="none">
                <a:solidFill>
                  <a:srgbClr val="166534"/>
                </a:solidFill>
                <a:latin typeface="Plus Jakarta Sans"/>
              </a:rPr>
              <a:t>Volume Risk vs. Price Risk:</a:t>
            </a:r>
            <a:r>
              <a:rPr sz="1200" b="0" i="0" u="none">
                <a:solidFill>
                  <a:srgbClr val="166534"/>
                </a:solidFill>
                <a:latin typeface="Plus Jakarta Sans"/>
              </a:rPr>
              <a:t> Standard derivatives hedge commodity price fluctuations ($/MWh), whereas weather derivatives protect energy producers against volumetric output shortfall (MWh deficit) caused by anomalous atmospheric conditions.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ounded Rectangle 1"/>
          <p:cNvSpPr/>
          <p:nvPr/>
        </p:nvSpPr>
        <p:spPr>
          <a:xfrm>
            <a:off x="609600" y="2400300"/>
            <a:ext cx="10972800" cy="2933700"/>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3" name="Table 2"/>
          <p:cNvGraphicFramePr>
            <a:graphicFrameLocks noGrp="1"/>
          </p:cNvGraphicFramePr>
          <p:nvPr/>
        </p:nvGraphicFramePr>
        <p:xfrm>
          <a:off x="609600" y="2400300"/>
          <a:ext cx="10953748" cy="2933700"/>
        </p:xfrm>
        <a:graphic>
          <a:graphicData uri="http://schemas.openxmlformats.org/drawingml/2006/table">
            <a:tbl>
              <a:tblPr/>
              <a:tblGrid>
                <a:gridCol w="1912292">
                  <a:extLst>
                    <a:ext uri="{9D8B030D-6E8A-4147-A177-3AD203B41FA5}">
                      <a16:colId xmlns:a16="http://schemas.microsoft.com/office/drawing/2014/main" val="20000"/>
                    </a:ext>
                  </a:extLst>
                </a:gridCol>
                <a:gridCol w="3027908">
                  <a:extLst>
                    <a:ext uri="{9D8B030D-6E8A-4147-A177-3AD203B41FA5}">
                      <a16:colId xmlns:a16="http://schemas.microsoft.com/office/drawing/2014/main" val="20001"/>
                    </a:ext>
                  </a:extLst>
                </a:gridCol>
                <a:gridCol w="3654772">
                  <a:extLst>
                    <a:ext uri="{9D8B030D-6E8A-4147-A177-3AD203B41FA5}">
                      <a16:colId xmlns:a16="http://schemas.microsoft.com/office/drawing/2014/main" val="20002"/>
                    </a:ext>
                  </a:extLst>
                </a:gridCol>
                <a:gridCol w="2358776">
                  <a:extLst>
                    <a:ext uri="{9D8B030D-6E8A-4147-A177-3AD203B41FA5}">
                      <a16:colId xmlns:a16="http://schemas.microsoft.com/office/drawing/2014/main" val="20003"/>
                    </a:ext>
                  </a:extLst>
                </a:gridCol>
              </a:tblGrid>
              <a:tr h="488950">
                <a:tc>
                  <a:txBody>
                    <a:bodyPr/>
                    <a:lstStyle/>
                    <a:p>
                      <a:pPr algn="l"/>
                      <a:r>
                        <a:rPr sz="1125" b="1" i="0" u="none">
                          <a:solidFill>
                            <a:srgbClr val="FFFFFF"/>
                          </a:solidFill>
                          <a:latin typeface="Plus Jakarta Sans"/>
                        </a:rPr>
                        <a:t>Product</a:t>
                      </a:r>
                    </a:p>
                  </a:txBody>
                  <a:tcPr marL="63500" marR="63500" marT="25400" marB="25400" anchor="ctr">
                    <a:lnL>
                      <a:noFill/>
                    </a:lnL>
                    <a:lnR>
                      <a:noFill/>
                    </a:lnR>
                    <a:lnT>
                      <a:noFill/>
                    </a:lnT>
                    <a:lnB>
                      <a:noFill/>
                    </a:lnB>
                    <a:solidFill>
                      <a:srgbClr val="0F172A"/>
                    </a:solidFill>
                  </a:tcPr>
                </a:tc>
                <a:tc>
                  <a:txBody>
                    <a:bodyPr/>
                    <a:lstStyle/>
                    <a:p>
                      <a:pPr algn="l"/>
                      <a:r>
                        <a:rPr sz="1125" b="1" i="0" u="none">
                          <a:solidFill>
                            <a:srgbClr val="FFFFFF"/>
                          </a:solidFill>
                          <a:latin typeface="Plus Jakarta Sans"/>
                        </a:rPr>
                        <a:t>Underlying Asset</a:t>
                      </a:r>
                    </a:p>
                  </a:txBody>
                  <a:tcPr marL="63500" marR="63500" marT="25400" marB="25400" anchor="ctr">
                    <a:lnL>
                      <a:noFill/>
                    </a:lnL>
                    <a:lnR>
                      <a:noFill/>
                    </a:lnR>
                    <a:lnT>
                      <a:noFill/>
                    </a:lnT>
                    <a:lnB>
                      <a:noFill/>
                    </a:lnB>
                    <a:solidFill>
                      <a:srgbClr val="0F172A"/>
                    </a:solidFill>
                  </a:tcPr>
                </a:tc>
                <a:tc>
                  <a:txBody>
                    <a:bodyPr/>
                    <a:lstStyle/>
                    <a:p>
                      <a:pPr algn="l"/>
                      <a:r>
                        <a:rPr sz="1125" b="1" i="0" u="none">
                          <a:solidFill>
                            <a:srgbClr val="FFFFFF"/>
                          </a:solidFill>
                          <a:latin typeface="Plus Jakarta Sans"/>
                        </a:rPr>
                        <a:t>Primary Risk Hedged</a:t>
                      </a:r>
                    </a:p>
                  </a:txBody>
                  <a:tcPr marL="63500" marR="63500" marT="25400" marB="25400" anchor="ctr">
                    <a:lnL>
                      <a:noFill/>
                    </a:lnL>
                    <a:lnR>
                      <a:noFill/>
                    </a:lnR>
                    <a:lnT>
                      <a:noFill/>
                    </a:lnT>
                    <a:lnB>
                      <a:noFill/>
                    </a:lnB>
                    <a:solidFill>
                      <a:srgbClr val="0F172A"/>
                    </a:solidFill>
                  </a:tcPr>
                </a:tc>
                <a:tc>
                  <a:txBody>
                    <a:bodyPr/>
                    <a:lstStyle/>
                    <a:p>
                      <a:pPr algn="l"/>
                      <a:r>
                        <a:rPr sz="1125" b="1" i="0" u="none">
                          <a:solidFill>
                            <a:srgbClr val="FFFFFF"/>
                          </a:solidFill>
                          <a:latin typeface="Plus Jakarta Sans"/>
                        </a:rPr>
                        <a:t>Typical Horizon</a:t>
                      </a:r>
                    </a:p>
                  </a:txBody>
                  <a:tcPr marL="63500" marR="63500" marT="25400" marB="25400" anchor="ctr">
                    <a:lnL>
                      <a:noFill/>
                    </a:lnL>
                    <a:lnR>
                      <a:noFill/>
                    </a:lnR>
                    <a:lnT>
                      <a:noFill/>
                    </a:lnT>
                    <a:lnB>
                      <a:noFill/>
                    </a:lnB>
                    <a:solidFill>
                      <a:srgbClr val="0F172A"/>
                    </a:solidFill>
                  </a:tcPr>
                </a:tc>
                <a:extLst>
                  <a:ext uri="{0D108BD9-81ED-4DB2-BD59-A6C34878D82A}">
                    <a16:rowId xmlns:a16="http://schemas.microsoft.com/office/drawing/2014/main" val="10000"/>
                  </a:ext>
                </a:extLst>
              </a:tr>
              <a:tr h="488950">
                <a:tc>
                  <a:txBody>
                    <a:bodyPr/>
                    <a:lstStyle/>
                    <a:p>
                      <a:pPr algn="l"/>
                      <a:r>
                        <a:rPr sz="1125" b="1" i="0" u="none">
                          <a:solidFill>
                            <a:srgbClr val="059669"/>
                          </a:solidFill>
                          <a:latin typeface="Plus Jakarta Sans"/>
                        </a:rPr>
                        <a:t>EUA</a:t>
                      </a:r>
                    </a:p>
                  </a:txBody>
                  <a:tcPr marL="63500" marR="63500" marT="25400" marB="25400" anchor="ctr">
                    <a:lnL>
                      <a:noFill/>
                    </a:lnL>
                    <a:lnR>
                      <a:noFill/>
                    </a:lnR>
                    <a:lnT>
                      <a:noFill/>
                    </a:lnT>
                    <a:lnB>
                      <a:noFill/>
                    </a:lnB>
                    <a:solidFill>
                      <a:srgbClr val="FFFFFF"/>
                    </a:solidFill>
                  </a:tcPr>
                </a:tc>
                <a:tc>
                  <a:txBody>
                    <a:bodyPr/>
                    <a:lstStyle/>
                    <a:p>
                      <a:pPr algn="l"/>
                      <a:r>
                        <a:rPr sz="1125" b="0" i="0" u="none">
                          <a:solidFill>
                            <a:srgbClr val="334155"/>
                          </a:solidFill>
                          <a:latin typeface="Plus Jakarta Sans"/>
                        </a:rPr>
                        <a:t>EU Carbon Allowances</a:t>
                      </a:r>
                    </a:p>
                  </a:txBody>
                  <a:tcPr marL="63500" marR="63500" marT="25400" marB="25400" anchor="ctr">
                    <a:lnL>
                      <a:noFill/>
                    </a:lnL>
                    <a:lnR>
                      <a:noFill/>
                    </a:lnR>
                    <a:lnT>
                      <a:noFill/>
                    </a:lnT>
                    <a:lnB>
                      <a:noFill/>
                    </a:lnB>
                    <a:solidFill>
                      <a:srgbClr val="FFFFFF"/>
                    </a:solidFill>
                  </a:tcPr>
                </a:tc>
                <a:tc>
                  <a:txBody>
                    <a:bodyPr/>
                    <a:lstStyle/>
                    <a:p>
                      <a:pPr algn="l"/>
                      <a:r>
                        <a:rPr sz="1125" b="0" i="0" u="none">
                          <a:solidFill>
                            <a:srgbClr val="334155"/>
                          </a:solidFill>
                          <a:latin typeface="Plus Jakarta Sans"/>
                        </a:rPr>
                        <a:t>Emissions Compliance Cost</a:t>
                      </a:r>
                    </a:p>
                  </a:txBody>
                  <a:tcPr marL="63500" marR="63500" marT="25400" marB="25400" anchor="ctr">
                    <a:lnL>
                      <a:noFill/>
                    </a:lnL>
                    <a:lnR>
                      <a:noFill/>
                    </a:lnR>
                    <a:lnT>
                      <a:noFill/>
                    </a:lnT>
                    <a:lnB>
                      <a:noFill/>
                    </a:lnB>
                    <a:solidFill>
                      <a:srgbClr val="FFFFFF"/>
                    </a:solidFill>
                  </a:tcPr>
                </a:tc>
                <a:tc>
                  <a:txBody>
                    <a:bodyPr/>
                    <a:lstStyle/>
                    <a:p>
                      <a:pPr algn="l"/>
                      <a:r>
                        <a:rPr sz="1125" b="0" i="0" u="none">
                          <a:solidFill>
                            <a:srgbClr val="334155"/>
                          </a:solidFill>
                          <a:latin typeface="Plus Jakarta Sans"/>
                        </a:rPr>
                        <a:t>1 to 5 Years</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1"/>
                  </a:ext>
                </a:extLst>
              </a:tr>
              <a:tr h="488950">
                <a:tc>
                  <a:txBody>
                    <a:bodyPr/>
                    <a:lstStyle/>
                    <a:p>
                      <a:pPr algn="l"/>
                      <a:r>
                        <a:rPr sz="1125" b="1" i="0" u="none">
                          <a:solidFill>
                            <a:srgbClr val="2563EB"/>
                          </a:solidFill>
                          <a:latin typeface="Plus Jakarta Sans"/>
                        </a:rPr>
                        <a:t>PPA / VPPA</a:t>
                      </a:r>
                    </a:p>
                  </a:txBody>
                  <a:tcPr marL="63500" marR="63500" marT="25400" marB="25400" anchor="ctr">
                    <a:lnL>
                      <a:noFill/>
                    </a:lnL>
                    <a:lnR>
                      <a:noFill/>
                    </a:lnR>
                    <a:lnT>
                      <a:noFill/>
                    </a:lnT>
                    <a:lnB>
                      <a:noFill/>
                    </a:lnB>
                    <a:solidFill>
                      <a:srgbClr val="FFFFFF"/>
                    </a:solidFill>
                  </a:tcPr>
                </a:tc>
                <a:tc>
                  <a:txBody>
                    <a:bodyPr/>
                    <a:lstStyle/>
                    <a:p>
                      <a:pPr algn="l"/>
                      <a:r>
                        <a:rPr sz="1125" b="0" i="0" u="none">
                          <a:solidFill>
                            <a:srgbClr val="334155"/>
                          </a:solidFill>
                          <a:latin typeface="Plus Jakarta Sans"/>
                        </a:rPr>
                        <a:t>Renewable Power Generation</a:t>
                      </a:r>
                    </a:p>
                  </a:txBody>
                  <a:tcPr marL="63500" marR="63500" marT="25400" marB="25400" anchor="ctr">
                    <a:lnL>
                      <a:noFill/>
                    </a:lnL>
                    <a:lnR>
                      <a:noFill/>
                    </a:lnR>
                    <a:lnT>
                      <a:noFill/>
                    </a:lnT>
                    <a:lnB>
                      <a:noFill/>
                    </a:lnB>
                    <a:solidFill>
                      <a:srgbClr val="FFFFFF"/>
                    </a:solidFill>
                  </a:tcPr>
                </a:tc>
                <a:tc>
                  <a:txBody>
                    <a:bodyPr/>
                    <a:lstStyle/>
                    <a:p>
                      <a:pPr algn="l"/>
                      <a:r>
                        <a:rPr sz="1125" b="0" i="0" u="none">
                          <a:solidFill>
                            <a:srgbClr val="334155"/>
                          </a:solidFill>
                          <a:latin typeface="Plus Jakarta Sans"/>
                        </a:rPr>
                        <a:t>Long-term Power Spot Volatility</a:t>
                      </a:r>
                    </a:p>
                  </a:txBody>
                  <a:tcPr marL="63500" marR="63500" marT="25400" marB="25400" anchor="ctr">
                    <a:lnL>
                      <a:noFill/>
                    </a:lnL>
                    <a:lnR>
                      <a:noFill/>
                    </a:lnR>
                    <a:lnT>
                      <a:noFill/>
                    </a:lnT>
                    <a:lnB>
                      <a:noFill/>
                    </a:lnB>
                    <a:solidFill>
                      <a:srgbClr val="FFFFFF"/>
                    </a:solidFill>
                  </a:tcPr>
                </a:tc>
                <a:tc>
                  <a:txBody>
                    <a:bodyPr/>
                    <a:lstStyle/>
                    <a:p>
                      <a:pPr algn="l"/>
                      <a:r>
                        <a:rPr sz="1125" b="0" i="0" u="none">
                          <a:solidFill>
                            <a:srgbClr val="334155"/>
                          </a:solidFill>
                          <a:latin typeface="Plus Jakarta Sans"/>
                        </a:rPr>
                        <a:t>10 to 20 Years</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2"/>
                  </a:ext>
                </a:extLst>
              </a:tr>
              <a:tr h="488950">
                <a:tc>
                  <a:txBody>
                    <a:bodyPr/>
                    <a:lstStyle/>
                    <a:p>
                      <a:pPr algn="l"/>
                      <a:r>
                        <a:rPr sz="1125" b="1" i="0" u="none">
                          <a:solidFill>
                            <a:srgbClr val="7C3AED"/>
                          </a:solidFill>
                          <a:latin typeface="Plus Jakarta Sans"/>
                        </a:rPr>
                        <a:t>VPP</a:t>
                      </a:r>
                    </a:p>
                  </a:txBody>
                  <a:tcPr marL="63500" marR="63500" marT="25400" marB="25400" anchor="ctr">
                    <a:lnL>
                      <a:noFill/>
                    </a:lnL>
                    <a:lnR>
                      <a:noFill/>
                    </a:lnR>
                    <a:lnT>
                      <a:noFill/>
                    </a:lnT>
                    <a:lnB>
                      <a:noFill/>
                    </a:lnB>
                    <a:solidFill>
                      <a:srgbClr val="FFFFFF"/>
                    </a:solidFill>
                  </a:tcPr>
                </a:tc>
                <a:tc>
                  <a:txBody>
                    <a:bodyPr/>
                    <a:lstStyle/>
                    <a:p>
                      <a:pPr algn="l"/>
                      <a:r>
                        <a:rPr sz="1125" b="0" i="0" u="none">
                          <a:solidFill>
                            <a:srgbClr val="334155"/>
                          </a:solidFill>
                          <a:latin typeface="Plus Jakarta Sans"/>
                        </a:rPr>
                        <a:t>Aggregated Asset Capacity</a:t>
                      </a:r>
                    </a:p>
                  </a:txBody>
                  <a:tcPr marL="63500" marR="63500" marT="25400" marB="25400" anchor="ctr">
                    <a:lnL>
                      <a:noFill/>
                    </a:lnL>
                    <a:lnR>
                      <a:noFill/>
                    </a:lnR>
                    <a:lnT>
                      <a:noFill/>
                    </a:lnT>
                    <a:lnB>
                      <a:noFill/>
                    </a:lnB>
                    <a:solidFill>
                      <a:srgbClr val="FFFFFF"/>
                    </a:solidFill>
                  </a:tcPr>
                </a:tc>
                <a:tc>
                  <a:txBody>
                    <a:bodyPr/>
                    <a:lstStyle/>
                    <a:p>
                      <a:pPr algn="l"/>
                      <a:r>
                        <a:rPr sz="1125" b="0" i="0" u="none">
                          <a:solidFill>
                            <a:srgbClr val="334155"/>
                          </a:solidFill>
                          <a:latin typeface="Plus Jakarta Sans"/>
                        </a:rPr>
                        <a:t>Intraday Imbalance &amp; Frequency Risk</a:t>
                      </a:r>
                    </a:p>
                  </a:txBody>
                  <a:tcPr marL="63500" marR="63500" marT="25400" marB="25400" anchor="ctr">
                    <a:lnL>
                      <a:noFill/>
                    </a:lnL>
                    <a:lnR>
                      <a:noFill/>
                    </a:lnR>
                    <a:lnT>
                      <a:noFill/>
                    </a:lnT>
                    <a:lnB>
                      <a:noFill/>
                    </a:lnB>
                    <a:solidFill>
                      <a:srgbClr val="FFFFFF"/>
                    </a:solidFill>
                  </a:tcPr>
                </a:tc>
                <a:tc>
                  <a:txBody>
                    <a:bodyPr/>
                    <a:lstStyle/>
                    <a:p>
                      <a:pPr algn="l"/>
                      <a:r>
                        <a:rPr sz="1125" b="0" i="0" u="none">
                          <a:solidFill>
                            <a:srgbClr val="334155"/>
                          </a:solidFill>
                          <a:latin typeface="Plus Jakarta Sans"/>
                        </a:rPr>
                        <a:t>Real-Time to Annual</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3"/>
                  </a:ext>
                </a:extLst>
              </a:tr>
              <a:tr h="488950">
                <a:tc>
                  <a:txBody>
                    <a:bodyPr/>
                    <a:lstStyle/>
                    <a:p>
                      <a:pPr algn="l"/>
                      <a:r>
                        <a:rPr sz="1125" b="1" i="0" u="none">
                          <a:solidFill>
                            <a:srgbClr val="EA580C"/>
                          </a:solidFill>
                          <a:latin typeface="Plus Jakarta Sans"/>
                        </a:rPr>
                        <a:t>VPS</a:t>
                      </a:r>
                    </a:p>
                  </a:txBody>
                  <a:tcPr marL="63500" marR="63500" marT="25400" marB="25400" anchor="ctr">
                    <a:lnL>
                      <a:noFill/>
                    </a:lnL>
                    <a:lnR>
                      <a:noFill/>
                    </a:lnR>
                    <a:lnT>
                      <a:noFill/>
                    </a:lnT>
                    <a:lnB>
                      <a:noFill/>
                    </a:lnB>
                    <a:solidFill>
                      <a:srgbClr val="FFFFFF"/>
                    </a:solidFill>
                  </a:tcPr>
                </a:tc>
                <a:tc>
                  <a:txBody>
                    <a:bodyPr/>
                    <a:lstStyle/>
                    <a:p>
                      <a:pPr algn="l"/>
                      <a:r>
                        <a:rPr sz="1125" b="0" i="0" u="none">
                          <a:solidFill>
                            <a:srgbClr val="334155"/>
                          </a:solidFill>
                          <a:latin typeface="Plus Jakarta Sans"/>
                        </a:rPr>
                        <a:t>Hydro / Battery Storage Capacity</a:t>
                      </a:r>
                    </a:p>
                  </a:txBody>
                  <a:tcPr marL="63500" marR="63500" marT="25400" marB="25400" anchor="ctr">
                    <a:lnL>
                      <a:noFill/>
                    </a:lnL>
                    <a:lnR>
                      <a:noFill/>
                    </a:lnR>
                    <a:lnT>
                      <a:noFill/>
                    </a:lnT>
                    <a:lnB>
                      <a:noFill/>
                    </a:lnB>
                    <a:solidFill>
                      <a:srgbClr val="FFFFFF"/>
                    </a:solidFill>
                  </a:tcPr>
                </a:tc>
                <a:tc>
                  <a:txBody>
                    <a:bodyPr/>
                    <a:lstStyle/>
                    <a:p>
                      <a:pPr algn="l"/>
                      <a:r>
                        <a:rPr sz="1125" b="0" i="0" u="none">
                          <a:solidFill>
                            <a:srgbClr val="334155"/>
                          </a:solidFill>
                          <a:latin typeface="Plus Jakarta Sans"/>
                        </a:rPr>
                        <a:t>Peak / Off-Peak Price Spreads</a:t>
                      </a:r>
                    </a:p>
                  </a:txBody>
                  <a:tcPr marL="63500" marR="63500" marT="25400" marB="25400" anchor="ctr">
                    <a:lnL>
                      <a:noFill/>
                    </a:lnL>
                    <a:lnR>
                      <a:noFill/>
                    </a:lnR>
                    <a:lnT>
                      <a:noFill/>
                    </a:lnT>
                    <a:lnB>
                      <a:noFill/>
                    </a:lnB>
                    <a:solidFill>
                      <a:srgbClr val="FFFFFF"/>
                    </a:solidFill>
                  </a:tcPr>
                </a:tc>
                <a:tc>
                  <a:txBody>
                    <a:bodyPr/>
                    <a:lstStyle/>
                    <a:p>
                      <a:pPr algn="l"/>
                      <a:r>
                        <a:rPr sz="1125" b="0" i="0" u="none">
                          <a:solidFill>
                            <a:srgbClr val="334155"/>
                          </a:solidFill>
                          <a:latin typeface="Plus Jakarta Sans"/>
                        </a:rPr>
                        <a:t>Monthly to Multi-Year</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4"/>
                  </a:ext>
                </a:extLst>
              </a:tr>
              <a:tr h="488950">
                <a:tc>
                  <a:txBody>
                    <a:bodyPr/>
                    <a:lstStyle/>
                    <a:p>
                      <a:pPr algn="l"/>
                      <a:r>
                        <a:rPr sz="1125" b="1" i="0" u="none">
                          <a:solidFill>
                            <a:srgbClr val="16A34A"/>
                          </a:solidFill>
                          <a:latin typeface="Plus Jakarta Sans"/>
                        </a:rPr>
                        <a:t>Weather Derivative</a:t>
                      </a:r>
                    </a:p>
                  </a:txBody>
                  <a:tcPr marL="63500" marR="63500" marT="25400" marB="25400" anchor="ctr">
                    <a:lnL>
                      <a:noFill/>
                    </a:lnL>
                    <a:lnR>
                      <a:noFill/>
                    </a:lnR>
                    <a:lnT>
                      <a:noFill/>
                    </a:lnT>
                    <a:lnB>
                      <a:noFill/>
                    </a:lnB>
                    <a:solidFill>
                      <a:srgbClr val="FFFFFF"/>
                    </a:solidFill>
                  </a:tcPr>
                </a:tc>
                <a:tc>
                  <a:txBody>
                    <a:bodyPr/>
                    <a:lstStyle/>
                    <a:p>
                      <a:pPr algn="l"/>
                      <a:r>
                        <a:rPr sz="1125" b="0" i="0" u="none">
                          <a:solidFill>
                            <a:srgbClr val="334155"/>
                          </a:solidFill>
                          <a:latin typeface="Plus Jakarta Sans"/>
                        </a:rPr>
                        <a:t>Temperature / Wind / Solar Indices</a:t>
                      </a:r>
                    </a:p>
                  </a:txBody>
                  <a:tcPr marL="63500" marR="63500" marT="25400" marB="25400" anchor="ctr">
                    <a:lnL>
                      <a:noFill/>
                    </a:lnL>
                    <a:lnR>
                      <a:noFill/>
                    </a:lnR>
                    <a:lnT>
                      <a:noFill/>
                    </a:lnT>
                    <a:lnB>
                      <a:noFill/>
                    </a:lnB>
                    <a:solidFill>
                      <a:srgbClr val="FFFFFF"/>
                    </a:solidFill>
                  </a:tcPr>
                </a:tc>
                <a:tc>
                  <a:txBody>
                    <a:bodyPr/>
                    <a:lstStyle/>
                    <a:p>
                      <a:pPr algn="l"/>
                      <a:r>
                        <a:rPr sz="1125" b="0" i="0" u="none">
                          <a:solidFill>
                            <a:srgbClr val="334155"/>
                          </a:solidFill>
                          <a:latin typeface="Plus Jakarta Sans"/>
                        </a:rPr>
                        <a:t>Volumetric Production &amp; Demand Shortfall</a:t>
                      </a:r>
                    </a:p>
                  </a:txBody>
                  <a:tcPr marL="63500" marR="63500" marT="25400" marB="25400" anchor="ctr">
                    <a:lnL>
                      <a:noFill/>
                    </a:lnL>
                    <a:lnR>
                      <a:noFill/>
                    </a:lnR>
                    <a:lnT>
                      <a:noFill/>
                    </a:lnT>
                    <a:lnB>
                      <a:noFill/>
                    </a:lnB>
                    <a:solidFill>
                      <a:srgbClr val="FFFFFF"/>
                    </a:solidFill>
                  </a:tcPr>
                </a:tc>
                <a:tc>
                  <a:txBody>
                    <a:bodyPr/>
                    <a:lstStyle/>
                    <a:p>
                      <a:pPr algn="l"/>
                      <a:r>
                        <a:rPr sz="1125" b="0" i="0" u="none">
                          <a:solidFill>
                            <a:srgbClr val="334155"/>
                          </a:solidFill>
                          <a:latin typeface="Plus Jakarta Sans"/>
                        </a:rPr>
                        <a:t>Seasonal (3 to 12 Months)</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5"/>
                  </a:ext>
                </a:extLst>
              </a:tr>
            </a:tbl>
          </a:graphicData>
        </a:graphic>
      </p:graphicFrame>
      <p:sp>
        <p:nvSpPr>
          <p:cNvPr id="4" name="TextBox 3"/>
          <p:cNvSpPr txBox="1"/>
          <p:nvPr/>
        </p:nvSpPr>
        <p:spPr>
          <a:xfrm>
            <a:off x="609600" y="457200"/>
            <a:ext cx="11582400" cy="171450"/>
          </a:xfrm>
          <a:prstGeom prst="rect">
            <a:avLst/>
          </a:prstGeom>
          <a:noFill/>
        </p:spPr>
        <p:txBody>
          <a:bodyPr wrap="none" lIns="0" tIns="0" rIns="0" bIns="0" anchor="t">
            <a:spAutoFit/>
          </a:bodyPr>
          <a:lstStyle/>
          <a:p>
            <a:pPr algn="l"/>
            <a:r>
              <a:rPr sz="1050" b="1" i="0" u="none">
                <a:solidFill>
                  <a:srgbClr val="059669"/>
                </a:solidFill>
                <a:latin typeface="Plus Jakarta Sans"/>
              </a:rPr>
              <a:t>CROSS-PRODUCT MATRIX</a:t>
            </a:r>
          </a:p>
        </p:txBody>
      </p:sp>
      <p:sp>
        <p:nvSpPr>
          <p:cNvPr id="5" name="TextBox 4"/>
          <p:cNvSpPr txBox="1"/>
          <p:nvPr/>
        </p:nvSpPr>
        <p:spPr>
          <a:xfrm>
            <a:off x="609600" y="685800"/>
            <a:ext cx="11582400" cy="381000"/>
          </a:xfrm>
          <a:prstGeom prst="rect">
            <a:avLst/>
          </a:prstGeom>
          <a:noFill/>
        </p:spPr>
        <p:txBody>
          <a:bodyPr wrap="none" lIns="0" tIns="0" rIns="0" bIns="0" anchor="t">
            <a:spAutoFit/>
          </a:bodyPr>
          <a:lstStyle/>
          <a:p>
            <a:pPr algn="l"/>
            <a:r>
              <a:rPr sz="2400" b="1" i="0" u="none">
                <a:solidFill>
                  <a:srgbClr val="0F172A"/>
                </a:solidFill>
                <a:latin typeface="Space Grotesk"/>
              </a:rPr>
              <a:t>Structured Product Profile Comparison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376e33ca-d656-4e46-8bcb-7d5ba898ae66}" enabled="0" method="" siteId="{376e33ca-d656-4e46-8bcb-7d5ba898ae66}" removed="1"/>
</clbl:labelList>
</file>

<file path=docProps/app.xml><?xml version="1.0" encoding="utf-8"?>
<Properties xmlns="http://schemas.openxmlformats.org/officeDocument/2006/extended-properties" xmlns:vt="http://schemas.openxmlformats.org/officeDocument/2006/docPropsVTypes">
  <TotalTime>0</TotalTime>
  <Words>730</Words>
  <Application>Microsoft Office PowerPoint</Application>
  <PresentationFormat>Widescreen</PresentationFormat>
  <Paragraphs>108</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Space Grotesk</vt:lpstr>
      <vt:lpstr>Plus Jakarta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Tabet Eliot, BKW Energie AG</cp:lastModifiedBy>
  <cp:revision>1</cp:revision>
  <dcterms:created xsi:type="dcterms:W3CDTF">2013-01-27T09:14:16Z</dcterms:created>
  <dcterms:modified xsi:type="dcterms:W3CDTF">2026-10-09T15:02:20Z</dcterms:modified>
  <cp:category/>
</cp:coreProperties>
</file>