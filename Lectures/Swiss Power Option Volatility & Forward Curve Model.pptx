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1"/>
    </p:embeddedFont>
    <p:embeddedFont>
      <p:font typeface="JetBrains Mono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custSel modSld">
      <pc:chgData name="Tabet Eliot, BKW Energie AG" userId="eca77083-a850-4263-84d0-47e104089f76" providerId="ADAL" clId="{8E52AFE9-FC63-472D-95AE-DC52623EA9BD}" dt="2026-10-09T14:54:06.120" v="59" actId="20577"/>
      <pc:docMkLst>
        <pc:docMk/>
      </pc:docMkLst>
      <pc:sldChg chg="modSp mod">
        <pc:chgData name="Tabet Eliot, BKW Energie AG" userId="eca77083-a850-4263-84d0-47e104089f76" providerId="ADAL" clId="{8E52AFE9-FC63-472D-95AE-DC52623EA9BD}" dt="2026-10-09T14:49:47.660" v="19" actId="20577"/>
        <pc:sldMkLst>
          <pc:docMk/>
          <pc:sldMk cId="0" sldId="256"/>
        </pc:sldMkLst>
        <pc:spChg chg="mod">
          <ac:chgData name="Tabet Eliot, BKW Energie AG" userId="eca77083-a850-4263-84d0-47e104089f76" providerId="ADAL" clId="{8E52AFE9-FC63-472D-95AE-DC52623EA9BD}" dt="2026-10-09T14:49:47.660" v="19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NotesTx">
        <pc:chgData name="Tabet Eliot, BKW Energie AG" userId="eca77083-a850-4263-84d0-47e104089f76" providerId="ADAL" clId="{8E52AFE9-FC63-472D-95AE-DC52623EA9BD}" dt="2026-10-09T14:54:06.120" v="59" actId="20577"/>
        <pc:sldMkLst>
          <pc:docMk/>
          <pc:sldMk cId="0" sldId="260"/>
        </pc:sldMkLst>
        <pc:spChg chg="del">
          <ac:chgData name="Tabet Eliot, BKW Energie AG" userId="eca77083-a850-4263-84d0-47e104089f76" providerId="ADAL" clId="{8E52AFE9-FC63-472D-95AE-DC52623EA9BD}" dt="2026-10-09T14:51:19.534" v="20" actId="478"/>
          <ac:spMkLst>
            <pc:docMk/>
            <pc:sldMk cId="0" sldId="260"/>
            <ac:spMk id="8" creationId="{00000000-0000-0000-0000-000000000000}"/>
          </ac:spMkLst>
        </pc:spChg>
        <pc:picChg chg="add mod">
          <ac:chgData name="Tabet Eliot, BKW Energie AG" userId="eca77083-a850-4263-84d0-47e104089f76" providerId="ADAL" clId="{8E52AFE9-FC63-472D-95AE-DC52623EA9BD}" dt="2026-10-09T14:51:35.808" v="26" actId="14100"/>
          <ac:picMkLst>
            <pc:docMk/>
            <pc:sldMk cId="0" sldId="260"/>
            <ac:picMk id="19" creationId="{FFA8929F-603C-E7D4-6B5F-BA248F0C3E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8874E-B824-441D-A2F7-AA59F65570D8}" type="datetimeFigureOut">
              <a:rPr lang="en-CH" smtClean="0"/>
              <a:t>09.10.2026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A6584-7117-4C93-AA9D-C6ABA0908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56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is just to avoid division by 0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A6584-7117-4C93-AA9D-C6ABA0908A27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8110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3094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88951"/>
            <a:ext cx="2476500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536626"/>
            <a:ext cx="930116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 dirty="0">
                <a:solidFill>
                  <a:srgbClr val="F8FAFC"/>
                </a:solidFill>
                <a:latin typeface="Inter"/>
              </a:rPr>
              <a:t>Implied Volatilities &amp; Forward Curve Calibration for </a:t>
            </a:r>
            <a:r>
              <a:rPr lang="en-US" sz="3600" b="1" i="0" u="none" dirty="0">
                <a:solidFill>
                  <a:srgbClr val="F8FAFC"/>
                </a:solidFill>
                <a:latin typeface="Inter"/>
              </a:rPr>
              <a:t>illiquid markets</a:t>
            </a:r>
            <a:endParaRPr sz="36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778448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Inferring Swiss implied volatility surfaces from EEX benchmark data and calibrating a 3-factor HJM model for swing option 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127051"/>
            <a:ext cx="2343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QUANTITATIVE ENERGY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17526"/>
            <a:ext cx="2988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POWER MARKETS / OPTION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3791"/>
            <a:ext cx="5334000" cy="1893391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53791"/>
            <a:ext cx="5334000" cy="1893391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68116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68116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372891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372891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MARKET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239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The Swiss Power Volatility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01516"/>
            <a:ext cx="4800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Swiss (CH) power options lack direct exchange liquidity. The German (DE) market traded on EEX serves as the primary regional benchmark for pricing and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801516"/>
            <a:ext cx="4800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1. Infer CH ATM volatility surface via benchmark scaling.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2. Calibrate a 3-Factor log-normal HJM model to simulate forward curves for complex swing option 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9225" y="3344316"/>
            <a:ext cx="408801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Illiquidity in CH Exchange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344316"/>
            <a:ext cx="41755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Two-Stage Calibration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0682"/>
            <a:ext cx="5372100" cy="2081361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47975"/>
            <a:ext cx="537210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488382"/>
            <a:ext cx="4819650" cy="576411"/>
          </a:xfrm>
          <a:prstGeom prst="roundRect">
            <a:avLst>
              <a:gd name="adj" fmla="val 13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6525" y="3495675"/>
            <a:ext cx="481965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3116907"/>
            <a:ext cx="1400175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6525" y="3124200"/>
            <a:ext cx="172402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3150244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775" y="3157537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Inferring CH Implied Volatility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640782"/>
            <a:ext cx="4610100" cy="271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IV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CHM01</a:t>
            </a:r>
            <a:r>
              <a:rPr sz="1200" b="1" i="0" u="none">
                <a:solidFill>
                  <a:srgbClr val="0F172A"/>
                </a:solidFill>
                <a:latin typeface="JetBrains Mono"/>
              </a:rPr>
              <a:t> = IV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DEM01</a:t>
            </a:r>
            <a:r>
              <a:rPr sz="1200" b="1" i="0" u="none">
                <a:solidFill>
                  <a:srgbClr val="0F172A"/>
                </a:solidFill>
                <a:latin typeface="JetBrains Mono"/>
              </a:rPr>
              <a:t> + DiffRealizedVol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CH/DEM01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217193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Combines DE benchmark monthly volatility with historical realized differential between CH and DE spot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6480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JetBrains Mono"/>
              </a:rPr>
              <a:t>IV</a:t>
            </a:r>
            <a:r>
              <a:rPr sz="937" b="1" i="0" u="none">
                <a:solidFill>
                  <a:srgbClr val="0F172A"/>
                </a:solidFill>
                <a:latin typeface="JetBrains Mono"/>
              </a:rPr>
              <a:t>CHM</a:t>
            </a:r>
            <a:r>
              <a:rPr sz="781" b="1" i="0" u="none">
                <a:solidFill>
                  <a:srgbClr val="0F172A"/>
                </a:solidFill>
                <a:latin typeface="JetBrains Mono"/>
              </a:rPr>
              <a:t>n</a:t>
            </a:r>
            <a:r>
              <a:rPr sz="1125" b="1" i="0" u="none">
                <a:solidFill>
                  <a:srgbClr val="0F172A"/>
                </a:solidFill>
                <a:latin typeface="JetBrains Mono"/>
              </a:rPr>
              <a:t> = IV</a:t>
            </a:r>
            <a:r>
              <a:rPr sz="937" b="1" i="0" u="none">
                <a:solidFill>
                  <a:srgbClr val="0F172A"/>
                </a:solidFill>
                <a:latin typeface="JetBrains Mono"/>
              </a:rPr>
              <a:t>CHM</a:t>
            </a:r>
            <a:r>
              <a:rPr sz="781" b="1" i="0" u="none">
                <a:solidFill>
                  <a:srgbClr val="0F172A"/>
                </a:solidFill>
                <a:latin typeface="JetBrains Mono"/>
              </a:rPr>
              <a:t>n-1</a:t>
            </a:r>
            <a:r>
              <a:rPr sz="1125" b="1" i="0" u="none">
                <a:solidFill>
                  <a:srgbClr val="0F172A"/>
                </a:solidFill>
                <a:latin typeface="JetBrains Mono"/>
              </a:rPr>
              <a:t> × ( IV</a:t>
            </a:r>
            <a:r>
              <a:rPr sz="937" b="1" i="0" u="none">
                <a:solidFill>
                  <a:srgbClr val="0F172A"/>
                </a:solidFill>
                <a:latin typeface="JetBrains Mono"/>
              </a:rPr>
              <a:t>DE,ATMM</a:t>
            </a:r>
            <a:r>
              <a:rPr sz="781" b="1" i="0" u="none">
                <a:solidFill>
                  <a:srgbClr val="0F172A"/>
                </a:solidFill>
                <a:latin typeface="JetBrains Mono"/>
              </a:rPr>
              <a:t>n</a:t>
            </a:r>
            <a:r>
              <a:rPr sz="1125" b="1" i="0" u="none">
                <a:solidFill>
                  <a:srgbClr val="0F172A"/>
                </a:solidFill>
                <a:latin typeface="JetBrains Mono"/>
              </a:rPr>
              <a:t> / IV</a:t>
            </a:r>
            <a:r>
              <a:rPr sz="937" b="1" i="0" u="none">
                <a:solidFill>
                  <a:srgbClr val="0F172A"/>
                </a:solidFill>
                <a:latin typeface="JetBrains Mono"/>
              </a:rPr>
              <a:t>DE,ATMM</a:t>
            </a:r>
            <a:r>
              <a:rPr sz="781" b="1" i="0" u="none">
                <a:solidFill>
                  <a:srgbClr val="0F172A"/>
                </a:solidFill>
                <a:latin typeface="JetBrains Mono"/>
              </a:rPr>
              <a:t>n-1</a:t>
            </a:r>
            <a:r>
              <a:rPr sz="1125" b="1" i="0" u="none">
                <a:solidFill>
                  <a:srgbClr val="0F172A"/>
                </a:solidFill>
                <a:latin typeface="JetBrains Mono"/>
              </a:rPr>
              <a:t>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210050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Scales previous month's Swiss volatility using the ratio of consecutive DE At-The-Money (ATM) benchmark tenors.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155007"/>
            <a:ext cx="1304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FRONT MONTH (M01)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162300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FORWARD TENORS (M02+)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24162"/>
            <a:ext cx="53721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2824162"/>
            <a:ext cx="5372100" cy="2152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96728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824162"/>
            <a:ext cx="53721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824162"/>
            <a:ext cx="9525" cy="2152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2824162"/>
            <a:ext cx="9525" cy="2152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4967287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824162"/>
            <a:ext cx="53721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2824162"/>
            <a:ext cx="9525" cy="2152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824162"/>
            <a:ext cx="9525" cy="2152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611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86112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239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Shortfalls of Surface Inferencing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633787"/>
            <a:ext cx="62257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Uniform Strike Scale 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97668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Assumes implied volatility increases identically across all strikes. Creates significant risk of mis-evaluating the Samuelson effect on Out-of-the-Money (OTM) options.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633787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Identical Monthly Co-Movement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97668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Assumes Swiss monthly implied volatilities shift in strict proportion with German ones, ignoring local hydro supply and cross-border capacity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10972800" cy="711100"/>
          </a:xfrm>
          <a:prstGeom prst="roundRect">
            <a:avLst>
              <a:gd name="adj" fmla="val 160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7862"/>
            <a:ext cx="3530649" cy="1409700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3617862"/>
            <a:ext cx="3530649" cy="1409700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3617862"/>
            <a:ext cx="3530649" cy="1409700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MODELING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3-Factor Log-Normal HJM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55987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FACTOR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94112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Short-Term Decay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38938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Fast exponential decay parameter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a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 Acts strongly on the prompt end of the curve.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855987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FACTOR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094112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Mid-Term 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438938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Slow exponential decay parameter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b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 Governs mid-term maturity dynamics.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3855987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FACTOR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4094112"/>
            <a:ext cx="3901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Parallel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438938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Constant parameter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c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across maturities. Captures market-wide shift factors.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A8929F-603C-E7D4-6B5F-BA248F0C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449" y="1304925"/>
            <a:ext cx="4548324" cy="71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2686"/>
            <a:ext cx="3530649" cy="1955601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33712"/>
            <a:ext cx="3530649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933700"/>
            <a:ext cx="3530649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74" y="330993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923" y="3209925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CALIBRATION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239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PCA &amp; Parameter Optimization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456086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PCA on Historical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70411"/>
            <a:ext cx="3073449" cy="831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Perform Principal Component Analysis on historical return series to construct the 3x3 correlation matrix of Brownian motions (W</a:t>
            </a:r>
            <a:r>
              <a:rPr sz="875" b="0" i="0" u="none">
                <a:solidFill>
                  <a:srgbClr val="475569"/>
                </a:solidFill>
                <a:latin typeface="Inter"/>
              </a:rPr>
              <a:t>1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, W</a:t>
            </a:r>
            <a:r>
              <a:rPr sz="875" b="0" i="0" u="none">
                <a:solidFill>
                  <a:srgbClr val="475569"/>
                </a:solidFill>
                <a:latin typeface="Inter"/>
              </a:rPr>
              <a:t>2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, W</a:t>
            </a:r>
            <a:r>
              <a:rPr sz="875" b="0" i="0" u="none">
                <a:solidFill>
                  <a:srgbClr val="475569"/>
                </a:solidFill>
                <a:latin typeface="Inter"/>
              </a:rPr>
              <a:t>3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576637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Volatility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890962"/>
            <a:ext cx="30734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Fit parameters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{a, b, c, d}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by minimizing the sum of squared errors between market ATM implied volatility and analytical model volatility.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124" y="3476625"/>
            <a:ext cx="3863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Granularity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90950"/>
            <a:ext cx="30734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Disaggregate simulated Monthly Power Forward Curves (MPFC) to Daily (DPFC) or Hourly (HPFC) curves using base HPFC coefficients.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198911"/>
            <a:ext cx="733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3314700"/>
            <a:ext cx="762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214687"/>
            <a:ext cx="762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30016"/>
            <a:ext cx="2600325" cy="1302841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230016"/>
            <a:ext cx="2600325" cy="1302841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30016"/>
            <a:ext cx="2600325" cy="1302841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30016"/>
            <a:ext cx="2600325" cy="1302841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239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Forward Curve Simulation Shortfalls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68141"/>
            <a:ext cx="27878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Deterministic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34841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Calibrated solely on ATM vol; ignores volatility skew and sudden volatility spikes.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468141"/>
            <a:ext cx="27878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Constant Correlations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734841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Brownian motion correlation matrix is static, failing during market stress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468141"/>
            <a:ext cx="27878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Spot Volatility Blindness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734841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Underestimates swing option value if exercised hourly due to missing intra-day dynamics.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468141"/>
            <a:ext cx="27878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Curve Smoothing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734841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Parameter fitting smoothes out maturity-specific volatility spikes or troughs.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89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337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386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005012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1237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Inter"/>
              </a:rPr>
              <a:t>Key Takeaways for Swing Option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29289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928937"/>
            <a:ext cx="8820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EEX Benchmark Proxy: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DE ATM options provide a robust foundation for building CH volatility surfaces despite regional illiquidity.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63378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633787"/>
            <a:ext cx="8820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HJM Factor Structure: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The 3-factor model effectively captures curve term structure (short decay, mid decay, parallel shift) via historical PCA.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386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338637"/>
            <a:ext cx="8820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Valuation Adjustments: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Spot volatility blindness means Monte Carlo swing option valuations should be adjusted upward for high-frequency exercise rights.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6e33ca-d656-4e46-8bcb-7d5ba898ae66}" enabled="0" method="" siteId="{376e33ca-d656-4e46-8bcb-7d5ba898ae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Inter</vt:lpstr>
      <vt:lpstr>Calibri</vt:lpstr>
      <vt:lpstr>Aptos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2026-10-09T14:54:17Z</dcterms:modified>
  <cp:category/>
</cp:coreProperties>
</file>