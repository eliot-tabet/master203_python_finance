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us Jakarta Sans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bet Eliot, BKW Energie AG" userId="eca77083-a850-4263-84d0-47e104089f76" providerId="ADAL" clId="{8E52AFE9-FC63-472D-95AE-DC52623EA9BD}"/>
    <pc:docChg chg="custSel delSld modSld">
      <pc:chgData name="Tabet Eliot, BKW Energie AG" userId="eca77083-a850-4263-84d0-47e104089f76" providerId="ADAL" clId="{8E52AFE9-FC63-472D-95AE-DC52623EA9BD}" dt="2026-10-13T16:55:39.882" v="244" actId="20577"/>
      <pc:docMkLst>
        <pc:docMk/>
      </pc:docMkLst>
      <pc:sldChg chg="delSp mod">
        <pc:chgData name="Tabet Eliot, BKW Energie AG" userId="eca77083-a850-4263-84d0-47e104089f76" providerId="ADAL" clId="{8E52AFE9-FC63-472D-95AE-DC52623EA9BD}" dt="2026-10-13T16:41:40.908" v="0" actId="478"/>
        <pc:sldMkLst>
          <pc:docMk/>
          <pc:sldMk cId="0" sldId="256"/>
        </pc:sldMkLst>
        <pc:spChg chg="del">
          <ac:chgData name="Tabet Eliot, BKW Energie AG" userId="eca77083-a850-4263-84d0-47e104089f76" providerId="ADAL" clId="{8E52AFE9-FC63-472D-95AE-DC52623EA9BD}" dt="2026-10-13T16:41:40.908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modNotesTx">
        <pc:chgData name="Tabet Eliot, BKW Energie AG" userId="eca77083-a850-4263-84d0-47e104089f76" providerId="ADAL" clId="{8E52AFE9-FC63-472D-95AE-DC52623EA9BD}" dt="2026-10-13T16:48:59.249" v="96" actId="20577"/>
        <pc:sldMkLst>
          <pc:docMk/>
          <pc:sldMk cId="0" sldId="258"/>
        </pc:sldMkLst>
        <pc:picChg chg="del">
          <ac:chgData name="Tabet Eliot, BKW Energie AG" userId="eca77083-a850-4263-84d0-47e104089f76" providerId="ADAL" clId="{8E52AFE9-FC63-472D-95AE-DC52623EA9BD}" dt="2026-10-13T16:44:53.388" v="2" actId="478"/>
          <ac:picMkLst>
            <pc:docMk/>
            <pc:sldMk cId="0" sldId="258"/>
            <ac:picMk id="10" creationId="{00000000-0000-0000-0000-000000000000}"/>
          </ac:picMkLst>
        </pc:picChg>
        <pc:picChg chg="add mod">
          <ac:chgData name="Tabet Eliot, BKW Energie AG" userId="eca77083-a850-4263-84d0-47e104089f76" providerId="ADAL" clId="{8E52AFE9-FC63-472D-95AE-DC52623EA9BD}" dt="2026-10-13T16:45:42.167" v="9" actId="14100"/>
          <ac:picMkLst>
            <pc:docMk/>
            <pc:sldMk cId="0" sldId="258"/>
            <ac:picMk id="21" creationId="{9732F247-C763-56BB-AE55-513B644D726D}"/>
          </ac:picMkLst>
        </pc:picChg>
      </pc:sldChg>
      <pc:sldChg chg="modNotesTx">
        <pc:chgData name="Tabet Eliot, BKW Energie AG" userId="eca77083-a850-4263-84d0-47e104089f76" providerId="ADAL" clId="{8E52AFE9-FC63-472D-95AE-DC52623EA9BD}" dt="2026-10-13T16:51:34.423" v="233" actId="20577"/>
        <pc:sldMkLst>
          <pc:docMk/>
          <pc:sldMk cId="0" sldId="259"/>
        </pc:sldMkLst>
      </pc:sldChg>
      <pc:sldChg chg="modSp mod">
        <pc:chgData name="Tabet Eliot, BKW Energie AG" userId="eca77083-a850-4263-84d0-47e104089f76" providerId="ADAL" clId="{8E52AFE9-FC63-472D-95AE-DC52623EA9BD}" dt="2026-10-13T16:55:39.882" v="244" actId="20577"/>
        <pc:sldMkLst>
          <pc:docMk/>
          <pc:sldMk cId="0" sldId="263"/>
        </pc:sldMkLst>
        <pc:spChg chg="mod">
          <ac:chgData name="Tabet Eliot, BKW Energie AG" userId="eca77083-a850-4263-84d0-47e104089f76" providerId="ADAL" clId="{8E52AFE9-FC63-472D-95AE-DC52623EA9BD}" dt="2026-10-13T16:55:39.882" v="244" actId="20577"/>
          <ac:spMkLst>
            <pc:docMk/>
            <pc:sldMk cId="0" sldId="263"/>
            <ac:spMk id="9" creationId="{00000000-0000-0000-0000-000000000000}"/>
          </ac:spMkLst>
        </pc:spChg>
      </pc:sldChg>
      <pc:sldChg chg="del">
        <pc:chgData name="Tabet Eliot, BKW Energie AG" userId="eca77083-a850-4263-84d0-47e104089f76" providerId="ADAL" clId="{8E52AFE9-FC63-472D-95AE-DC52623EA9BD}" dt="2026-10-13T16:42:03.008" v="1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37926-3D7F-4306-BE4E-0281EDCA2F89}" type="datetimeFigureOut">
              <a:rPr lang="en-CH" smtClean="0"/>
              <a:t>13.10.2026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B2A5D-9A49-44AE-A38F-18674F42FB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8047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70 € to liquify / MWh 1€ to </a:t>
            </a:r>
            <a:r>
              <a:rPr lang="en-US" dirty="0" err="1"/>
              <a:t>regasifiy</a:t>
            </a:r>
            <a:r>
              <a:rPr lang="en-US" dirty="0"/>
              <a:t> – 15k - 50k /day to wait on port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B2A5D-9A49-44AE-A38F-18674F42FBDC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11755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on one is very important for the global </a:t>
            </a:r>
            <a:r>
              <a:rPr lang="en-US" dirty="0" err="1"/>
              <a:t>SnD</a:t>
            </a:r>
            <a:r>
              <a:rPr lang="en-US" dirty="0"/>
              <a:t>, 4 </a:t>
            </a:r>
            <a:r>
              <a:rPr lang="en-US" dirty="0" err="1"/>
              <a:t>bcm</a:t>
            </a:r>
            <a:r>
              <a:rPr lang="en-US" dirty="0"/>
              <a:t> can tilt the global </a:t>
            </a:r>
            <a:r>
              <a:rPr lang="en-US" dirty="0" err="1"/>
              <a:t>SnD</a:t>
            </a:r>
            <a:r>
              <a:rPr lang="en-US" dirty="0"/>
              <a:t> – Egypt 2024 becomes importer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B2A5D-9A49-44AE-A38F-18674F42FBDC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3139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591175"/>
            <a:ext cx="106680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5911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63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199382"/>
            <a:ext cx="8701087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LNG Market Fundamentals &amp; Asian Arbitrage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01342"/>
            <a:ext cx="8286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Physical properties, global trade flows, contract structures, and inter-fuel substitution economics across Asian power &amp; industrial markets.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609600"/>
            <a:ext cx="3559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ENERGY MARKETS &amp; COMMODITIES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867400"/>
            <a:ext cx="2976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CORE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48375"/>
            <a:ext cx="2976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Global LNG Value Chain &amp;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5867400"/>
            <a:ext cx="3381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KEY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6048375"/>
            <a:ext cx="3381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Coal/LPG Inter-Fuel Switching in Asia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5867400"/>
            <a:ext cx="3071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GEOPOLITICS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6048375"/>
            <a:ext cx="3071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Atlantic vs. Pacific Cargo Spreads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19312"/>
            <a:ext cx="2600325" cy="32385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119312"/>
            <a:ext cx="2600325" cy="32385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119312"/>
            <a:ext cx="2600325" cy="32385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119312"/>
            <a:ext cx="2600325" cy="3238500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9553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3955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39553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239553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2500312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850" y="250031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500312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450" y="2500312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5505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Physical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91675" y="552450"/>
            <a:ext cx="2488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Cryogenic State to Energy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71525"/>
            <a:ext cx="71008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Methane Physics &amp; Unit Conversions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938712"/>
            <a:ext cx="2655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PHYSICAL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4938712"/>
            <a:ext cx="2655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VOLUMETRIC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938712"/>
            <a:ext cx="2655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MMBTU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4938712"/>
            <a:ext cx="2655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CARRIER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776537"/>
            <a:ext cx="2655093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-162°C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290887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Cryogenic Condensation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567112"/>
            <a:ext cx="22193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Atmospheric liquefaction temperature transforming gaseous methane into dense liquid.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8550" y="2776537"/>
            <a:ext cx="2655093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1 : 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8550" y="3290887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Volumetric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8550" y="3567112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1 m³ liquid methane expands to 600 m³ natural gas at standard temperature &amp; pressure.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375" y="2776537"/>
            <a:ext cx="2655093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0.293 MWh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3290887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Energy 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3567112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1 MMBtu equals ~0.3 MWh (293 kWh). Commercial trading benchmark unit.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200" y="2776537"/>
            <a:ext cx="2655093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~1.0 TWh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200" y="3290887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Standard Vessel Cargo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0200" y="3567112"/>
            <a:ext cx="22193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Average 174,000 m³ LNGC carries ~0.1 bcm gas (~1.0 TWh energy equivalent).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84205" y="1985962"/>
            <a:ext cx="5798194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84205" y="2890837"/>
            <a:ext cx="5798194" cy="923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84205" y="3967162"/>
            <a:ext cx="5798194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84205" y="4872037"/>
            <a:ext cx="5798194" cy="923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84205" y="1985962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84205" y="2890837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84205" y="3967162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84205" y="4872037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Infrastructure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End-to-End LNG Value Chain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805" y="2157412"/>
            <a:ext cx="61791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Upstream Production &amp; Liquefaction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805" y="2395537"/>
            <a:ext cx="61791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Gas extraction, acid removal, cooling down to -162°C via heavy refrigeration trains.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2805" y="3062287"/>
            <a:ext cx="61791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Cryogenic Marine Logistics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2805" y="3300412"/>
            <a:ext cx="54743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~800 specialized tankers globally using membrane or Moss tanks with boil-off re-liquefaction.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2805" y="4138612"/>
            <a:ext cx="61791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Regasification &amp; Entry Facilities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805" y="4376737"/>
            <a:ext cx="61791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Onshore terminals &amp; FSRUs warm LNG to vapor, feeding high-pressure TSO networks.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2805" y="5043487"/>
            <a:ext cx="61791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Grid Dispatch &amp; Wholesale Hubs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2805" y="5281612"/>
            <a:ext cx="54743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Entry/Exit tariff systems balancing CCGT power generation, industrial &amp; LDZ domestic demand.</a:t>
            </a:r>
          </a:p>
        </p:txBody>
      </p:sp>
      <p:pic>
        <p:nvPicPr>
          <p:cNvPr id="21" name="Picture 20" descr="What is an LNG terminal and how does it work? - Molgas Energy">
            <a:extLst>
              <a:ext uri="{FF2B5EF4-FFF2-40B4-BE49-F238E27FC236}">
                <a16:creationId xmlns:a16="http://schemas.microsoft.com/office/drawing/2014/main" id="{9732F247-C763-56BB-AE55-513B644D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985963"/>
            <a:ext cx="4917948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52675"/>
            <a:ext cx="5334000" cy="2771775"/>
          </a:xfrm>
          <a:prstGeom prst="roundRect">
            <a:avLst>
              <a:gd name="adj" fmla="val 41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52675"/>
            <a:ext cx="5334000" cy="2771775"/>
          </a:xfrm>
          <a:prstGeom prst="roundRect">
            <a:avLst>
              <a:gd name="adj" fmla="val 41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19087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59092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99097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439102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479107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6525" y="319087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6525" y="359092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86525" y="399097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86525" y="439102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86525" y="4791075"/>
            <a:ext cx="485775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3190875"/>
            <a:ext cx="1228873" cy="95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7725" y="3590925"/>
            <a:ext cx="903535" cy="9525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7725" y="3990975"/>
            <a:ext cx="888950" cy="952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725" y="4391025"/>
            <a:ext cx="369093" cy="952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7725" y="4791075"/>
            <a:ext cx="305990" cy="9525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86525" y="3190875"/>
            <a:ext cx="1214437" cy="952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86525" y="3590925"/>
            <a:ext cx="757683" cy="952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86525" y="3990975"/>
            <a:ext cx="757683" cy="952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86525" y="4391025"/>
            <a:ext cx="524619" cy="9525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86525" y="4791075"/>
            <a:ext cx="296316" cy="95250"/>
          </a:xfrm>
          <a:prstGeom prst="rect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600" y="533400"/>
            <a:ext cx="75628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Global Flow 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4525" y="552450"/>
            <a:ext cx="2559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 in Billion Cubic Meters (bcm)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771525"/>
            <a:ext cx="98012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High Supply &amp; Demand Concentration (2025/2026)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2590800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Top LNG Exporters 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Total ~603 bcm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2590800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Top LNG Importers 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Total ~584 bcm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2590800"/>
            <a:ext cx="1940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Top LNG Exporters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075" y="2624137"/>
            <a:ext cx="1200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Total ~603 bcm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6525" y="2590800"/>
            <a:ext cx="195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Top LNG Importers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9400" y="2624137"/>
            <a:ext cx="1190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Total ~584 bcm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3000375"/>
            <a:ext cx="1095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United States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3000375"/>
            <a:ext cx="90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152.8 bcm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3400425"/>
            <a:ext cx="638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Qatar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4925" y="3400425"/>
            <a:ext cx="8763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112.5 bcm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3800475"/>
            <a:ext cx="819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Australia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5400" y="3800475"/>
            <a:ext cx="885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110.8 bcm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4200525"/>
            <a:ext cx="685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Russia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3975" y="4200525"/>
            <a:ext cx="857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46.2 bcm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4600575"/>
            <a:ext cx="809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Malaysia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3975" y="4600575"/>
            <a:ext cx="857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38.2 bcm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6525" y="3000375"/>
            <a:ext cx="1535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European Union (EU)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5625" y="3000375"/>
            <a:ext cx="914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146.0 bcm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6525" y="3400425"/>
            <a:ext cx="638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China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9925" y="3400425"/>
            <a:ext cx="800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91.1 bcm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6525" y="3800475"/>
            <a:ext cx="647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Japan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9925" y="3800475"/>
            <a:ext cx="800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91.1 bcm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6525" y="4200525"/>
            <a:ext cx="1019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South Korea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72775" y="4200525"/>
            <a:ext cx="857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63.5 bcm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6525" y="4600575"/>
            <a:ext cx="5905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India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72775" y="4600575"/>
            <a:ext cx="857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35.9 bcm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76462"/>
            <a:ext cx="3505200" cy="3429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2176462"/>
            <a:ext cx="3505200" cy="3429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2176462"/>
            <a:ext cx="3505200" cy="3429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1764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8200" y="4805362"/>
            <a:ext cx="3048000" cy="533400"/>
          </a:xfrm>
          <a:prstGeom prst="roundRect">
            <a:avLst>
              <a:gd name="adj" fmla="val 10714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2176462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4805362"/>
            <a:ext cx="3048000" cy="533400"/>
          </a:xfrm>
          <a:prstGeom prst="roundRect">
            <a:avLst>
              <a:gd name="adj" fmla="val 10714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77200" y="2176462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05800" y="4957762"/>
            <a:ext cx="3048000" cy="38100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Commercial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Global Pricing Benchmarks &amp; Indexation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481262"/>
            <a:ext cx="3143250" cy="143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North America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919662"/>
            <a:ext cx="2914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Key trait: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Highly liquid, destination-free FOB sales.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81262"/>
            <a:ext cx="3143250" cy="143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Plus Jakarta Sans"/>
              </a:rPr>
              <a:t>European Hub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4919662"/>
            <a:ext cx="2914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Key trait: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High liquidity, driver of flexible US cargos.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2481262"/>
            <a:ext cx="3143250" cy="143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D97706"/>
                </a:solidFill>
                <a:latin typeface="Plus Jakarta Sans"/>
              </a:rPr>
              <a:t>Asian Spot &amp; Long-Term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5072062"/>
            <a:ext cx="2914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Key trait: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High seasonal premium over Europe.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757487"/>
            <a:ext cx="4000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Henry Hub (HH)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167062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US pipeline gas index. US export contracts are structured as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115% HH + liquefaction toll ($2.25-$3.50/MMBtu)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57487"/>
            <a:ext cx="4000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Dutch TTF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67062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Primary virtual trading point in Europe. Reflected in DES imports; acts as global market-clearing price floor/ceiling.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757487"/>
            <a:ext cx="38862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JKM &amp; Brent Slope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3167062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S&amp;P Japan Korea Marker for spot cargos. Long-term legacy contracts indexed to Brent crude oil (12%–14.5% slope).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8812"/>
            <a:ext cx="5353050" cy="3619500"/>
          </a:xfrm>
          <a:prstGeom prst="roundRect">
            <a:avLst>
              <a:gd name="adj" fmla="val 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928812"/>
            <a:ext cx="5353050" cy="3619500"/>
          </a:xfrm>
          <a:prstGeom prst="roundRect">
            <a:avLst>
              <a:gd name="adj" fmla="val 3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4891087"/>
            <a:ext cx="48006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5575" y="4891087"/>
            <a:ext cx="48006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205037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205037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300287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300287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67151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Market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050" y="552450"/>
            <a:ext cx="1595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Substitution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868858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Asian Inter-Fuel Arbitrage: Gas vs. Coal &amp; LPG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5005387"/>
            <a:ext cx="459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Switching Formula: Coal ($/t) / 24 + Carbon Penalty ≈ LNG Parity ($/MMBtu)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5005387"/>
            <a:ext cx="459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LPG Parity: Propane ($/ton) / 47.6 = Energy Equivalent LNG ($/MMBtu)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3975" y="2257425"/>
            <a:ext cx="37129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Gas-to-Coal Power Switching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547937"/>
            <a:ext cx="4895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Marginal Cost Parity: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Determined by JKM spot price vs. Newcastle Coal price + efficiency differential (CCGT 55% vs. Coal 38%).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035498"/>
            <a:ext cx="4895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Price Threshold: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JKM above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$12-$14/MMBtu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triggers price-sensitive Asian utilities (India, China, S. Korea) to maximize coal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523059"/>
            <a:ext cx="4895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Demand Elasticity: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Coal switching capability creates an upper boundary for spot LNG demand in emerging Asia.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725" y="2257425"/>
            <a:ext cx="40755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Industrial LPG &amp; Fuel Oil Arbitrage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2547937"/>
            <a:ext cx="4895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Ceramics &amp; Manufacturing: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Small-scale Asian industrial users switch between piped natural gas/LNG and Propane/Butane (LPG).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3035498"/>
            <a:ext cx="4895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LPG Discount Floor: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When LPG trades at a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15%+ discount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to LNG on energy content basis, industrial demand shifts away from LNG.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3523059"/>
            <a:ext cx="4895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Trucked LNG Impact: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Micro-LNG trucked distribution in China dynamically competes with domestic LPG fuel prices daily.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4293" y="2085975"/>
            <a:ext cx="5568106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14293" y="3238500"/>
            <a:ext cx="5568106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14293" y="4391025"/>
            <a:ext cx="5568106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76437"/>
            <a:ext cx="5061793" cy="3524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5867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Logistics &amp; Arbitrage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552450"/>
            <a:ext cx="2095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Global Fleet: ~800 Tankers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757594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LNG Carrier Fleet &amp; Shipping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4318" y="2286000"/>
            <a:ext cx="59776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Boil-Off Gas (BOG) &amp; Propulsion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4318" y="2543175"/>
            <a:ext cx="526330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0.10%–0.15% daily cargo boil-off used as propulsion fuel. Modern X-DF / ME-GI engines offer </a:t>
            </a:r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reliquefaction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to minimize cargo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4318" y="3438525"/>
            <a:ext cx="59776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Charter Rate Volatility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4318" y="3695700"/>
            <a:ext cx="526330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Spot day-rates range from $30,000/day in off-peak to $250,000+/day in winter squeeze, directly widening US Gulf to Asia transport spreads.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4318" y="4591050"/>
            <a:ext cx="59776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Chokepoints &amp; Route Arbitrage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4318" y="4848225"/>
            <a:ext cx="526330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Panama &amp; Suez Canal bottlenecks dictate US Gulf-to-Asia voyage times (22 days via Panama vs. 35 days via Cape of Good Hope).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76462"/>
            <a:ext cx="4904035" cy="3429000"/>
          </a:xfrm>
          <a:prstGeom prst="roundRect">
            <a:avLst>
              <a:gd name="adj" fmla="val 3333"/>
            </a:avLst>
          </a:prstGeom>
          <a:solidFill>
            <a:srgbClr val="0B1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56535" y="2619375"/>
            <a:ext cx="5725864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56535" y="4086225"/>
            <a:ext cx="5725864" cy="1076325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Inter-Basin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The Flexible Cargo Balancing Act: TTF vs. JKM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595" y="3081337"/>
            <a:ext cx="536804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Plus Jakarta Sans"/>
              </a:rPr>
              <a:t>DESTINATION FLEXIBILITY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595" y="3348037"/>
            <a:ext cx="5368044" cy="876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Space Grotesk"/>
              </a:rPr>
              <a:t>&gt; 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595" y="4300537"/>
            <a:ext cx="53680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Share of US </a:t>
            </a:r>
            <a:r>
              <a:rPr lang="en-US" sz="1200" b="0" i="0" u="none" dirty="0">
                <a:solidFill>
                  <a:srgbClr val="94A3B8"/>
                </a:solidFill>
                <a:latin typeface="Plus Jakarta Sans"/>
              </a:rPr>
              <a:t>FOB </a:t>
            </a:r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spot cargos with zero destination restriction clauses</a:t>
            </a:r>
            <a:r>
              <a:rPr lang="en-US" sz="12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endParaRPr sz="12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56560" y="2819400"/>
            <a:ext cx="61354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Asia-Europe Arbitrage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6560" y="3095625"/>
            <a:ext cx="542106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Traders redirect uncommitted US cargos based on the spread: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JKM - TTF - Freight Differential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. If JKM premium exceeds freight costs (~$1.50-$2.50/MMBtu), ships head to Asia.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6560" y="4286250"/>
            <a:ext cx="61354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Europe as Market Balancing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6560" y="4562475"/>
            <a:ext cx="542106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Post-2022, Europe replaced Russian pipeline gas with LNG. Europe acts as the default destination when Asian spot demand softens due to coal/LPG switching.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8769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8769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63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067050"/>
            <a:ext cx="3403550" cy="1352550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94150" y="3067050"/>
            <a:ext cx="3403550" cy="1352550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26300" y="3067050"/>
            <a:ext cx="3403550" cy="1352550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72650" y="609600"/>
            <a:ext cx="2071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LNG Market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238375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Space Grotesk"/>
              </a:rPr>
              <a:t>Key Takeaways for Energy Traders &amp; Analysts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6950"/>
            <a:ext cx="2702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End of Presentation • Q&amp;A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350" y="6076950"/>
            <a:ext cx="914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609600"/>
            <a:ext cx="2940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SUMMARY &amp; 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295650"/>
            <a:ext cx="3682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1. Concentration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590925"/>
            <a:ext cx="30416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Top 3 exporters control ~62% of supply; outage in US or Qatar creates instant global price shocks.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3295650"/>
            <a:ext cx="3682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2. Asian Price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750" y="3590925"/>
            <a:ext cx="30416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Coal switching in Asian power ($12-$14/MMBtu) &amp; LPG industrial substitution cap spot JKM upside.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4900" y="3295650"/>
            <a:ext cx="3682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3. US Cargo Arbitrage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900" y="3590925"/>
            <a:ext cx="30416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Flexible FOB destination contracts mean US LNG acts as the marginal balancing volume between TTF and JKM.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dd62b9-39f1-45ea-989a-e3b3cb1dd7ef}" enabled="1" method="Privileged" siteId="{376e33ca-d656-4e46-8bcb-7d5ba898ae6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1002</Words>
  <Application>Microsoft Office PowerPoint</Application>
  <PresentationFormat>Widescreen</PresentationFormat>
  <Paragraphs>127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Space Grotesk</vt:lpstr>
      <vt:lpstr>Plus Jakarta Sans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 Eliot, BKW Energie AG</cp:lastModifiedBy>
  <cp:revision>1</cp:revision>
  <dcterms:created xsi:type="dcterms:W3CDTF">2013-01-27T09:14:16Z</dcterms:created>
  <dcterms:modified xsi:type="dcterms:W3CDTF">2026-10-13T16:55:46Z</dcterms:modified>
  <cp:category/>
</cp:coreProperties>
</file>