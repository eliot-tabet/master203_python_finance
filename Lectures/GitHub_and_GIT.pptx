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lus Jakarta Sans"/>
      <p:bold r:id="rId10"/>
      <p:italic r:id="rId11"/>
    </p:embeddedFont>
    <p:embeddedFont>
      <p:font typeface="Space Grotesk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bet Eliot, BKW Energie AG" userId="eca77083-a850-4263-84d0-47e104089f76" providerId="ADAL" clId="{8E52AFE9-FC63-472D-95AE-DC52623EA9BD}"/>
    <pc:docChg chg="undo redo custSel delSld modSld">
      <pc:chgData name="Tabet Eliot, BKW Energie AG" userId="eca77083-a850-4263-84d0-47e104089f76" providerId="ADAL" clId="{8E52AFE9-FC63-472D-95AE-DC52623EA9BD}" dt="2026-10-19T11:32:34.861" v="34" actId="47"/>
      <pc:docMkLst>
        <pc:docMk/>
      </pc:docMkLst>
      <pc:sldChg chg="modSp mod">
        <pc:chgData name="Tabet Eliot, BKW Energie AG" userId="eca77083-a850-4263-84d0-47e104089f76" providerId="ADAL" clId="{8E52AFE9-FC63-472D-95AE-DC52623EA9BD}" dt="2026-10-19T11:28:40.791" v="33" actId="20577"/>
        <pc:sldMkLst>
          <pc:docMk/>
          <pc:sldMk cId="0" sldId="256"/>
        </pc:sldMkLst>
        <pc:spChg chg="mod">
          <ac:chgData name="Tabet Eliot, BKW Energie AG" userId="eca77083-a850-4263-84d0-47e104089f76" providerId="ADAL" clId="{8E52AFE9-FC63-472D-95AE-DC52623EA9BD}" dt="2026-10-19T11:28:40.791" v="33" actId="20577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Tabet Eliot, BKW Energie AG" userId="eca77083-a850-4263-84d0-47e104089f76" providerId="ADAL" clId="{8E52AFE9-FC63-472D-95AE-DC52623EA9BD}" dt="2026-10-19T11:32:34.861" v="34" actId="47"/>
        <pc:sldMkLst>
          <pc:docMk/>
          <pc:sldMk cId="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36727"/>
            <a:ext cx="5715000" cy="600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536727"/>
            <a:ext cx="57150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21197"/>
            <a:ext cx="295275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254597"/>
            <a:ext cx="9101137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solidFill>
                  <a:srgbClr val="F0F6FC"/>
                </a:solidFill>
                <a:latin typeface="Plus Jakarta Sans"/>
              </a:rPr>
              <a:t>GitHub &amp; Git: </a:t>
            </a:r>
            <a:r>
              <a:rPr lang="de-CH" sz="3900" b="1" i="0" u="none" dirty="0">
                <a:solidFill>
                  <a:srgbClr val="F0F6FC"/>
                </a:solidFill>
                <a:latin typeface="Plus Jakarta Sans"/>
              </a:rPr>
              <a:t>Version Control</a:t>
            </a:r>
            <a:endParaRPr sz="3900" b="1" i="0" u="none" dirty="0">
              <a:solidFill>
                <a:srgbClr val="F0F6FC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3584227"/>
            <a:ext cx="6762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8B949E"/>
                </a:solidFill>
                <a:latin typeface="Plus Jakarta Sans"/>
              </a:rPr>
              <a:t>Understanding remote repositories, local synchronization, branching, and pull requests for business &amp; finance leaders.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1575" y="1773584"/>
            <a:ext cx="39112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DA44E"/>
                </a:solidFill>
                <a:latin typeface="Space Grotesk"/>
              </a:rPr>
              <a:t>VERSION CONTROL &amp;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774852"/>
            <a:ext cx="221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E7681"/>
                </a:solidFill>
                <a:latin typeface="Plus Jakarta Sans"/>
              </a:rPr>
              <a:t>CORE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955827"/>
            <a:ext cx="221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9D1D9"/>
                </a:solidFill>
                <a:latin typeface="Plus Jakarta Sans"/>
              </a:rPr>
              <a:t>Git vs. GitHub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8450" y="4774852"/>
            <a:ext cx="286940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E7681"/>
                </a:solidFill>
                <a:latin typeface="Plus Jakarta Sans"/>
              </a:rPr>
              <a:t>PRACTICAL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8450" y="4955827"/>
            <a:ext cx="2869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9D1D9"/>
                </a:solidFill>
                <a:latin typeface="Plus Jakarta Sans"/>
              </a:rPr>
              <a:t>The 12-Step Feature Branch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019300"/>
            <a:ext cx="5334000" cy="1057275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267075"/>
            <a:ext cx="5334000" cy="12573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714875"/>
            <a:ext cx="5334000" cy="1057275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019300"/>
            <a:ext cx="38100" cy="1057275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267075"/>
            <a:ext cx="38100" cy="1257300"/>
          </a:xfrm>
          <a:prstGeom prst="rect">
            <a:avLst/>
          </a:prstGeom>
          <a:solidFill>
            <a:srgbClr val="1F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714875"/>
            <a:ext cx="38100" cy="1057275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085975"/>
            <a:ext cx="53340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085975"/>
            <a:ext cx="5334000" cy="3619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247900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495675"/>
            <a:ext cx="2190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943475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Space Grotesk"/>
              </a:rPr>
              <a:t>MENTAL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What is GitHub? Think "Track Changes" with a Cloud 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209800"/>
            <a:ext cx="6450806" cy="219075"/>
          </a:xfrm>
          <a:prstGeom prst="rect">
            <a:avLst/>
          </a:prstGeom>
          <a:noFill/>
        </p:spPr>
        <p:txBody>
          <a:bodyPr wrap="none" lIns="2857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Remote Repository (GitHub / GitLab)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486025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57606A"/>
                </a:solidFill>
                <a:latin typeface="Plus Jakarta Sans"/>
              </a:rPr>
              <a:t>The central source of truth in the cloud. It regulates every single action, keeping a clear audit log of who changed what, when, and why.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457575"/>
            <a:ext cx="6450806" cy="219075"/>
          </a:xfrm>
          <a:prstGeom prst="rect">
            <a:avLst/>
          </a:prstGeom>
          <a:noFill/>
        </p:spPr>
        <p:txBody>
          <a:bodyPr wrap="none" lIns="31432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Local Repository (Your PC)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733800"/>
            <a:ext cx="50101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57606A"/>
                </a:solidFill>
                <a:latin typeface="Plus Jakarta Sans"/>
              </a:rPr>
              <a:t>Your personal local copy. </a:t>
            </a:r>
            <a:r>
              <a:rPr sz="1125" b="1" i="0" u="none">
                <a:solidFill>
                  <a:srgbClr val="57606A"/>
                </a:solidFill>
                <a:latin typeface="Plus Jakarta Sans"/>
              </a:rPr>
              <a:t>Crucial Rule:</a:t>
            </a:r>
            <a:r>
              <a:rPr sz="1125" b="0" i="0" u="none">
                <a:solidFill>
                  <a:srgbClr val="57606A"/>
                </a:solidFill>
                <a:latin typeface="Plus Jakarta Sans"/>
              </a:rPr>
              <a:t> Your local PC is NOT automatically synced with the remote vault. You must explicitly push and pull files.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905375"/>
            <a:ext cx="6450806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Commit History &amp; Comments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5181600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57606A"/>
                </a:solidFill>
                <a:latin typeface="Plus Jakarta Sans"/>
              </a:rPr>
              <a:t>Every modification is accompanied by a mandatory comment explaining the business motivation behind the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6550"/>
            <a:ext cx="35052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76550"/>
            <a:ext cx="35052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76550"/>
            <a:ext cx="35052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90875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19087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190875"/>
            <a:ext cx="2286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Space Grotesk"/>
              </a:rPr>
              <a:t>CORE INVARIANT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Why Git Doesn't Auto-Sync (And Why That's Good)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648075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Protection &amp;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962400"/>
            <a:ext cx="3124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57606A"/>
                </a:solidFill>
                <a:latin typeface="Plus Jakarta Sans"/>
              </a:rPr>
              <a:t>Prevents unfinished or broken code on your laptop from immediately crashing the production financial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648075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Isolated Sandbox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962400"/>
            <a:ext cx="3124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57606A"/>
                </a:solidFill>
                <a:latin typeface="Plus Jakarta Sans"/>
              </a:rPr>
              <a:t>Allows analysts to experiment safely on new financial models on a private branch without affecting the master branch.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648075"/>
            <a:ext cx="387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Rigorous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962400"/>
            <a:ext cx="3124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57606A"/>
                </a:solidFill>
                <a:latin typeface="Plus Jakarta Sans"/>
              </a:rPr>
              <a:t>Shipping changes to master requires following strict commands (Fetch, Pull, Branch, Push, and Merge Request).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43225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52875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943225"/>
            <a:ext cx="57150" cy="85725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952875"/>
            <a:ext cx="57150" cy="857250"/>
          </a:xfrm>
          <a:prstGeom prst="rect">
            <a:avLst/>
          </a:prstGeom>
          <a:solidFill>
            <a:srgbClr val="1F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82101" y="3133725"/>
            <a:ext cx="933598" cy="219075"/>
          </a:xfrm>
          <a:prstGeom prst="roundRect">
            <a:avLst>
              <a:gd name="adj" fmla="val 17391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382101" y="3390900"/>
            <a:ext cx="933598" cy="219075"/>
          </a:xfrm>
          <a:prstGeom prst="roundRect">
            <a:avLst>
              <a:gd name="adj" fmla="val 17391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90323" y="4143375"/>
            <a:ext cx="1825376" cy="219075"/>
          </a:xfrm>
          <a:prstGeom prst="roundRect">
            <a:avLst>
              <a:gd name="adj" fmla="val 17391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90323" y="4400550"/>
            <a:ext cx="1825376" cy="219075"/>
          </a:xfrm>
          <a:prstGeom prst="roundRect">
            <a:avLst>
              <a:gd name="adj" fmla="val 17391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Space Grotesk"/>
              </a:rPr>
              <a:t>STEP-BY-STEP WORKFLOW (1/3)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Phase 1: Assessing &amp; Updating 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262312"/>
            <a:ext cx="1428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69DA"/>
                </a:solidFill>
                <a:latin typeface="Space Grotesk"/>
              </a:rPr>
              <a:t>Steps 1–2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4271962"/>
            <a:ext cx="1428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F883D"/>
                </a:solidFill>
                <a:latin typeface="Space Grotesk"/>
              </a:rPr>
              <a:t>Steps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6450" y="3176587"/>
            <a:ext cx="101155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Check Status &amp; Fetch Metadata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6450" y="3395662"/>
            <a:ext cx="10115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7606A"/>
                </a:solidFill>
                <a:latin typeface="Plus Jakarta Sans"/>
              </a:rPr>
              <a:t>Check your current branch, then fetch global info from GitHub to see if you are behind recent updates.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351" y="3171825"/>
            <a:ext cx="83834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9C0FF"/>
                </a:solidFill>
                <a:latin typeface="monospace"/>
              </a:rPr>
              <a:t>git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351" y="3429000"/>
            <a:ext cx="83834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9C0FF"/>
                </a:solidFill>
                <a:latin typeface="monospace"/>
              </a:rPr>
              <a:t>git fetch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6450" y="4186237"/>
            <a:ext cx="926734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Switch to Master &amp; Pull Latest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6450" y="4405312"/>
            <a:ext cx="926734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7606A"/>
                </a:solidFill>
                <a:latin typeface="Plus Jakarta Sans"/>
              </a:rPr>
              <a:t>Switch to the master branch and pull remote commits to ensure your starting point is up to 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5573" y="4181475"/>
            <a:ext cx="173012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9C0FF"/>
                </a:solidFill>
                <a:latin typeface="monospace"/>
              </a:rPr>
              <a:t>git checkout master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5573" y="4438650"/>
            <a:ext cx="173012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9C0FF"/>
                </a:solidFill>
                <a:latin typeface="monospace"/>
              </a:rPr>
              <a:t>git pull origin master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85975"/>
            <a:ext cx="5818882" cy="1143000"/>
          </a:xfrm>
          <a:prstGeom prst="roundRect">
            <a:avLst>
              <a:gd name="adj" fmla="val 6666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81375"/>
            <a:ext cx="5818882" cy="990600"/>
          </a:xfrm>
          <a:prstGeom prst="roundRect">
            <a:avLst>
              <a:gd name="adj" fmla="val 7692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24375"/>
            <a:ext cx="5818882" cy="1143000"/>
          </a:xfrm>
          <a:prstGeom prst="roundRect">
            <a:avLst>
              <a:gd name="adj" fmla="val 6666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085975"/>
            <a:ext cx="38100" cy="1143000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9150" y="2867025"/>
            <a:ext cx="2084486" cy="219075"/>
          </a:xfrm>
          <a:prstGeom prst="roundRect">
            <a:avLst>
              <a:gd name="adj" fmla="val 17391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381375"/>
            <a:ext cx="38100" cy="990600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9150" y="4010025"/>
            <a:ext cx="2233017" cy="219075"/>
          </a:xfrm>
          <a:prstGeom prst="roundRect">
            <a:avLst>
              <a:gd name="adj" fmla="val 17391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524375"/>
            <a:ext cx="38100" cy="1143000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9150" y="5305425"/>
            <a:ext cx="1861542" cy="219075"/>
          </a:xfrm>
          <a:prstGeom prst="roundRect">
            <a:avLst>
              <a:gd name="adj" fmla="val 17391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282" y="2162175"/>
            <a:ext cx="4849117" cy="3429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82" y="2162175"/>
            <a:ext cx="4849117" cy="3429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Space Grotesk"/>
              </a:rPr>
              <a:t>STEP-BY-STEP WORKFLOW (2/3)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Phase 2: Branching &amp; Local Modifications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2257425"/>
            <a:ext cx="679735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Step 5: Create New Branch from Fresh 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2476500"/>
            <a:ext cx="553313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7606A"/>
                </a:solidFill>
                <a:latin typeface="Plus Jakarta Sans"/>
              </a:rPr>
              <a:t>Crucial timing: Create your feature branch </a:t>
            </a:r>
            <a:r>
              <a:rPr sz="975" b="0" i="1" u="none">
                <a:solidFill>
                  <a:srgbClr val="57606A"/>
                </a:solidFill>
                <a:latin typeface="Plus Jakarta Sans"/>
              </a:rPr>
              <a:t>after</a:t>
            </a:r>
            <a:r>
              <a:rPr sz="975" b="0" i="0" u="none">
                <a:solidFill>
                  <a:srgbClr val="57606A"/>
                </a:solidFill>
                <a:latin typeface="Plus Jakarta Sans"/>
              </a:rPr>
              <a:t> updating master so you don't start from stale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2905125"/>
            <a:ext cx="202733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D2A8FF"/>
                </a:solidFill>
                <a:latin typeface="monospace"/>
              </a:rPr>
              <a:t>git branch my-feature-name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3552825"/>
            <a:ext cx="679735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Step 6: Switch to Your New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3771900"/>
            <a:ext cx="679735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7606A"/>
                </a:solidFill>
                <a:latin typeface="Plus Jakarta Sans"/>
              </a:rPr>
              <a:t>Creating a branch doesn't automatically move you into it; explicitly check it 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4048125"/>
            <a:ext cx="217586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D2A8FF"/>
                </a:solidFill>
                <a:latin typeface="monospace"/>
              </a:rPr>
              <a:t>git checkout my-feature-name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4695825"/>
            <a:ext cx="679735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Steps 7–9: Edit Files &amp; Track New Additions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" y="4914900"/>
            <a:ext cx="553313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7606A"/>
                </a:solidFill>
                <a:latin typeface="Plus Jakarta Sans"/>
              </a:rPr>
              <a:t>Perform changes locally. Add untracked new files using git add . and verify with git status.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5343525"/>
            <a:ext cx="180439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D2A8FF"/>
                </a:solidFill>
                <a:latin typeface="monospace"/>
              </a:rPr>
              <a:t>git add . &amp;&amp; git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81262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90912"/>
            <a:ext cx="10972800" cy="771525"/>
          </a:xfrm>
          <a:prstGeom prst="roundRect">
            <a:avLst>
              <a:gd name="adj" fmla="val 12345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414837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481262"/>
            <a:ext cx="57150" cy="857250"/>
          </a:xfrm>
          <a:prstGeom prst="rect">
            <a:avLst/>
          </a:prstGeom>
          <a:solidFill>
            <a:srgbClr val="1F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490912"/>
            <a:ext cx="57150" cy="771525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315575" y="3748087"/>
            <a:ext cx="1000125" cy="257175"/>
          </a:xfrm>
          <a:prstGeom prst="roundRect">
            <a:avLst>
              <a:gd name="adj" fmla="val 22222"/>
            </a:avLst>
          </a:prstGeom>
          <a:solidFill>
            <a:srgbClr val="D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414837"/>
            <a:ext cx="57150" cy="857250"/>
          </a:xfrm>
          <a:prstGeom prst="rect">
            <a:avLst/>
          </a:prstGeom>
          <a:solidFill>
            <a:srgbClr val="6E7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78539" y="2671762"/>
            <a:ext cx="3237160" cy="219075"/>
          </a:xfrm>
          <a:prstGeom prst="roundRect">
            <a:avLst>
              <a:gd name="adj" fmla="val 17391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78539" y="2928937"/>
            <a:ext cx="3237160" cy="219075"/>
          </a:xfrm>
          <a:prstGeom prst="roundRect">
            <a:avLst>
              <a:gd name="adj" fmla="val 17391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90323" y="4605337"/>
            <a:ext cx="1825376" cy="219075"/>
          </a:xfrm>
          <a:prstGeom prst="roundRect">
            <a:avLst>
              <a:gd name="adj" fmla="val 17391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490323" y="4862512"/>
            <a:ext cx="1825376" cy="219075"/>
          </a:xfrm>
          <a:prstGeom prst="roundRect">
            <a:avLst>
              <a:gd name="adj" fmla="val 17391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Space Grotesk"/>
              </a:rPr>
              <a:t>STEP-BY-STEP WORKFLOW (3/3)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Phase 3: Saving, Publishing &amp; Merging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2800350"/>
            <a:ext cx="1428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F883D"/>
                </a:solidFill>
                <a:latin typeface="Space Grotesk"/>
              </a:rPr>
              <a:t>Step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3767137"/>
            <a:ext cx="1428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69DA"/>
                </a:solidFill>
                <a:latin typeface="Space Grotesk"/>
              </a:rPr>
              <a:t>Step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9875" y="3805237"/>
            <a:ext cx="866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969DA"/>
                </a:solidFill>
                <a:latin typeface="Plus Jakarta Sans"/>
              </a:rPr>
              <a:t>Web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4733925"/>
            <a:ext cx="1428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57606A"/>
                </a:solidFill>
                <a:latin typeface="Space Grotesk"/>
              </a:rPr>
              <a:t>Step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6450" y="2714625"/>
            <a:ext cx="75026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Local Commit &amp; Remote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6450" y="2933700"/>
            <a:ext cx="750261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7606A"/>
                </a:solidFill>
                <a:latin typeface="Plus Jakarta Sans"/>
              </a:rPr>
              <a:t>Save a local checkpoint with a comment. Nobody sees it until you push your branch to GitHub.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789" y="2709862"/>
            <a:ext cx="314191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EE787"/>
                </a:solidFill>
                <a:latin typeface="monospace"/>
              </a:rPr>
              <a:t>git commit -am "added cash flow forecast"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789" y="2967037"/>
            <a:ext cx="314191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EE787"/>
                </a:solidFill>
                <a:latin typeface="monospace"/>
              </a:rPr>
              <a:t>git push origin my-feature-name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6450" y="3681412"/>
            <a:ext cx="101155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Initiate Merge / Pull Request (via Web UI)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76450" y="3900487"/>
            <a:ext cx="10115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7606A"/>
                </a:solidFill>
                <a:latin typeface="Plus Jakarta Sans"/>
              </a:rPr>
              <a:t>Open GitHub/GitLab web interface. Request to merge your feature branch into master for team review.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6450" y="4648200"/>
            <a:ext cx="926734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Final Alignment on 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6450" y="4867275"/>
            <a:ext cx="926734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7606A"/>
                </a:solidFill>
                <a:latin typeface="Plus Jakarta Sans"/>
              </a:rPr>
              <a:t>Switch back to master locally and pull to make your local PC identical to the newly updated remote master.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5573" y="4643437"/>
            <a:ext cx="173012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9D1D9"/>
                </a:solidFill>
                <a:latin typeface="monospace"/>
              </a:rPr>
              <a:t>git checkout master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5573" y="4900612"/>
            <a:ext cx="173012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9D1D9"/>
                </a:solidFill>
                <a:latin typeface="monospace"/>
              </a:rPr>
              <a:t>git pull origin master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638425"/>
          <a:ext cx="10972799" cy="2476500"/>
        </p:xfrm>
        <a:graphic>
          <a:graphicData uri="http://schemas.openxmlformats.org/drawingml/2006/table">
            <a:tbl>
              <a:tblPr/>
              <a:tblGrid>
                <a:gridCol w="3000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4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7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Command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What It Does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Financial Analogy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69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969DA"/>
                          </a:solidFill>
                          <a:latin typeface="Plus Jakarta Sans"/>
                        </a:rPr>
                        <a:t>git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Shows branch state &amp; modified files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Portfolio balance audit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969DA"/>
                          </a:solidFill>
                          <a:latin typeface="Plus Jakarta Sans"/>
                        </a:rPr>
                        <a:t>git fetch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Downloads remote updates without merging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Downloading raw ticker metadata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969DA"/>
                          </a:solidFill>
                          <a:latin typeface="Plus Jakarta Sans"/>
                        </a:rPr>
                        <a:t>git pull origin master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Updates local master to match remote vault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Syncing ledger with central bank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969DA"/>
                          </a:solidFill>
                          <a:latin typeface="Plus Jakarta Sans"/>
                        </a:rPr>
                        <a:t>git branch [name]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Creates an isolated working copy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Opening a trial scenario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969DA"/>
                          </a:solidFill>
                          <a:latin typeface="Plus Jakarta Sans"/>
                        </a:rPr>
                        <a:t>git commit -am "[msg]"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Saves timestamped local snapshot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Saving Excel version "v2_draft"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Space Grotesk"/>
              </a:rPr>
              <a:t>EXECUTIVE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Git Commands Quick Reference 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38462"/>
            <a:ext cx="3352800" cy="2076450"/>
          </a:xfrm>
          <a:prstGeom prst="roundRect">
            <a:avLst>
              <a:gd name="adj" fmla="val 5504"/>
            </a:avLst>
          </a:prstGeom>
          <a:solidFill>
            <a:srgbClr val="161B22"/>
          </a:solidFill>
          <a:ln w="381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2938462"/>
            <a:ext cx="3352800" cy="38100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19600" y="2938462"/>
            <a:ext cx="3352800" cy="2076450"/>
          </a:xfrm>
          <a:prstGeom prst="roundRect">
            <a:avLst>
              <a:gd name="adj" fmla="val 5504"/>
            </a:avLst>
          </a:prstGeom>
          <a:solidFill>
            <a:srgbClr val="161B22"/>
          </a:solidFill>
          <a:ln w="3810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419600" y="2938462"/>
            <a:ext cx="3352800" cy="381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2938462"/>
            <a:ext cx="3352800" cy="2076450"/>
          </a:xfrm>
          <a:prstGeom prst="roundRect">
            <a:avLst>
              <a:gd name="adj" fmla="val 5504"/>
            </a:avLst>
          </a:prstGeom>
          <a:solidFill>
            <a:srgbClr val="161B22"/>
          </a:solidFill>
          <a:ln w="38100">
            <a:solidFill>
              <a:srgbClr val="8250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938462"/>
            <a:ext cx="3352800" cy="38100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1843087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A44E"/>
                </a:solidFill>
                <a:latin typeface="Space Grotesk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128837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0F6FC"/>
                </a:solidFill>
                <a:latin typeface="Plus Jakarta Sans"/>
              </a:rPr>
              <a:t>Three Golden Rules of Version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243262"/>
            <a:ext cx="2838450" cy="146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DA44E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3243262"/>
            <a:ext cx="2838450" cy="146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58A6FF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243262"/>
            <a:ext cx="2838450" cy="146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BC8CFF"/>
                </a:solidFill>
                <a:latin typeface="Plus Jakarta San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814762"/>
            <a:ext cx="3600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0F6FC"/>
                </a:solidFill>
                <a:latin typeface="Plus Jakarta Sans"/>
              </a:rPr>
              <a:t>Pull Before You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110037"/>
            <a:ext cx="2838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8B949E"/>
                </a:solidFill>
                <a:latin typeface="Plus Jakarta Sans"/>
              </a:rPr>
              <a:t>Always update your master branch before creating a new branch to avoid working on outdated versions.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400" y="3814762"/>
            <a:ext cx="3600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0F6FC"/>
                </a:solidFill>
                <a:latin typeface="Plus Jakarta Sans"/>
              </a:rPr>
              <a:t>Commit Early &amp; Often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400" y="4110037"/>
            <a:ext cx="2838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8B949E"/>
                </a:solidFill>
                <a:latin typeface="Plus Jakarta Sans"/>
              </a:rPr>
              <a:t>Local commits are free checkpoints. Write clear messages explaining the business rationale for each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3814762"/>
            <a:ext cx="3600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0F6FC"/>
                </a:solidFill>
                <a:latin typeface="Plus Jakarta Sans"/>
              </a:rPr>
              <a:t>Master is Sacred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4110037"/>
            <a:ext cx="2838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8B949E"/>
                </a:solidFill>
                <a:latin typeface="Plus Jakarta Sans"/>
              </a:rPr>
              <a:t>Never push directly to master. Always use feature branches and peer-reviewed Pull/Merge Requests.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76e33ca-d656-4e46-8bcb-7d5ba898ae66}" enabled="0" method="" siteId="{376e33ca-d656-4e46-8bcb-7d5ba898ae6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Microsoft Office PowerPoint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Plus Jakarta Sans</vt:lpstr>
      <vt:lpstr>Calibri</vt:lpstr>
      <vt:lpstr>monospace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Tabet Eliot, BKW Energie AG</cp:lastModifiedBy>
  <cp:revision>1</cp:revision>
  <dcterms:created xsi:type="dcterms:W3CDTF">2013-01-27T09:14:16Z</dcterms:created>
  <dcterms:modified xsi:type="dcterms:W3CDTF">2026-10-19T11:32:45Z</dcterms:modified>
  <cp:category/>
</cp:coreProperties>
</file>