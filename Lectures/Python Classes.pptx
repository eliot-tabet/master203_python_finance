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Fira Code" panose="020B0809050000020004" pitchFamily="49" charset="0"/>
      <p:regular r:id="rId7"/>
      <p:italic r:id="rId8"/>
    </p:embeddedFont>
    <p:embeddedFont>
      <p:font typeface="Inter"/>
      <p:bold r:id="rId9"/>
    </p:embeddedFont>
    <p:embeddedFont>
      <p:font typeface="Space Grotesk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bet Eliot, BKW Energie AG" userId="eca77083-a850-4263-84d0-47e104089f76" providerId="ADAL" clId="{8E52AFE9-FC63-472D-95AE-DC52623EA9BD}"/>
    <pc:docChg chg="undo custSel modSld">
      <pc:chgData name="Tabet Eliot, BKW Energie AG" userId="eca77083-a850-4263-84d0-47e104089f76" providerId="ADAL" clId="{8E52AFE9-FC63-472D-95AE-DC52623EA9BD}" dt="2026-10-23T08:07:59.965" v="76" actId="20577"/>
      <pc:docMkLst>
        <pc:docMk/>
      </pc:docMkLst>
      <pc:sldChg chg="modSp mod">
        <pc:chgData name="Tabet Eliot, BKW Energie AG" userId="eca77083-a850-4263-84d0-47e104089f76" providerId="ADAL" clId="{8E52AFE9-FC63-472D-95AE-DC52623EA9BD}" dt="2026-10-23T08:07:59.965" v="76" actId="20577"/>
        <pc:sldMkLst>
          <pc:docMk/>
          <pc:sldMk cId="0" sldId="258"/>
        </pc:sldMkLst>
        <pc:spChg chg="mod">
          <ac:chgData name="Tabet Eliot, BKW Energie AG" userId="eca77083-a850-4263-84d0-47e104089f76" providerId="ADAL" clId="{8E52AFE9-FC63-472D-95AE-DC52623EA9BD}" dt="2026-10-23T08:04:23.657" v="18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Tabet Eliot, BKW Energie AG" userId="eca77083-a850-4263-84d0-47e104089f76" providerId="ADAL" clId="{8E52AFE9-FC63-472D-95AE-DC52623EA9BD}" dt="2026-10-23T08:07:59.965" v="76" actId="20577"/>
          <ac:spMkLst>
            <pc:docMk/>
            <pc:sldMk cId="0" sldId="258"/>
            <ac:spMk id="9" creationId="{00000000-0000-0000-0000-000000000000}"/>
          </ac:spMkLst>
        </pc:spChg>
      </pc:sldChg>
      <pc:sldChg chg="addSp delSp modSp mod">
        <pc:chgData name="Tabet Eliot, BKW Energie AG" userId="eca77083-a850-4263-84d0-47e104089f76" providerId="ADAL" clId="{8E52AFE9-FC63-472D-95AE-DC52623EA9BD}" dt="2026-10-23T08:06:12.588" v="71"/>
        <pc:sldMkLst>
          <pc:docMk/>
          <pc:sldMk cId="0" sldId="259"/>
        </pc:sldMkLst>
        <pc:spChg chg="mod">
          <ac:chgData name="Tabet Eliot, BKW Energie AG" userId="eca77083-a850-4263-84d0-47e104089f76" providerId="ADAL" clId="{8E52AFE9-FC63-472D-95AE-DC52623EA9BD}" dt="2026-10-23T08:05:01.173" v="33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Tabet Eliot, BKW Energie AG" userId="eca77083-a850-4263-84d0-47e104089f76" providerId="ADAL" clId="{8E52AFE9-FC63-472D-95AE-DC52623EA9BD}" dt="2026-10-23T08:04:57.299" v="32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Tabet Eliot, BKW Energie AG" userId="eca77083-a850-4263-84d0-47e104089f76" providerId="ADAL" clId="{8E52AFE9-FC63-472D-95AE-DC52623EA9BD}" dt="2026-10-23T08:06:08.798" v="69" actId="20577"/>
          <ac:spMkLst>
            <pc:docMk/>
            <pc:sldMk cId="0" sldId="259"/>
            <ac:spMk id="12" creationId="{00000000-0000-0000-0000-000000000000}"/>
          </ac:spMkLst>
        </pc:spChg>
        <pc:spChg chg="add del">
          <ac:chgData name="Tabet Eliot, BKW Energie AG" userId="eca77083-a850-4263-84d0-47e104089f76" providerId="ADAL" clId="{8E52AFE9-FC63-472D-95AE-DC52623EA9BD}" dt="2026-10-23T08:05:35.282" v="40" actId="478"/>
          <ac:spMkLst>
            <pc:docMk/>
            <pc:sldMk cId="0" sldId="259"/>
            <ac:spMk id="15" creationId="{00000000-0000-0000-0000-000000000000}"/>
          </ac:spMkLst>
        </pc:spChg>
        <pc:spChg chg="del mod">
          <ac:chgData name="Tabet Eliot, BKW Energie AG" userId="eca77083-a850-4263-84d0-47e104089f76" providerId="ADAL" clId="{8E52AFE9-FC63-472D-95AE-DC52623EA9BD}" dt="2026-10-23T08:06:12.588" v="71"/>
          <ac:spMkLst>
            <pc:docMk/>
            <pc:sldMk cId="0" sldId="259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732883"/>
            <a:ext cx="106680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732883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20291"/>
            <a:ext cx="2667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056733"/>
            <a:ext cx="1905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5056733"/>
            <a:ext cx="219075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153691"/>
            <a:ext cx="8601075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Space Grotesk"/>
              </a:rPr>
              <a:t>Mastering Classes in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723233"/>
            <a:ext cx="6286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A quick 5-step breakdown of Object-Oriented Programming basics, syntax, and instant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72679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PYTHON CORE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5047208"/>
            <a:ext cx="18335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Blueprints &amp; Objects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7525" y="5047208"/>
            <a:ext cx="1476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Methods &amp; 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8412"/>
            <a:ext cx="5062537" cy="2847975"/>
          </a:xfrm>
          <a:prstGeom prst="roundRect">
            <a:avLst>
              <a:gd name="adj" fmla="val 53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19862" y="2538412"/>
            <a:ext cx="5062537" cy="2847975"/>
          </a:xfrm>
          <a:prstGeom prst="roundRect">
            <a:avLst>
              <a:gd name="adj" fmla="val 53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2025" y="4595812"/>
            <a:ext cx="4357687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72287" y="4595812"/>
            <a:ext cx="4357687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8908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3829050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287" y="289083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3005137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3005137"/>
            <a:ext cx="25717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01 / MENTAL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What is a Class?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538537"/>
            <a:ext cx="571946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The Class (Blueprint)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929062"/>
            <a:ext cx="445293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An abstract structural template defining properties and behaviors.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4710112"/>
            <a:ext cx="414813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43F5E"/>
                </a:solidFill>
                <a:latin typeface="Fira Code"/>
              </a:rPr>
              <a:t>class</a:t>
            </a:r>
            <a:r>
              <a:rPr sz="1125" b="0" i="0" u="none">
                <a:solidFill>
                  <a:srgbClr val="0F172A"/>
                </a:solidFill>
                <a:latin typeface="Fira Code"/>
              </a:rPr>
              <a:t> Dog: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2287" y="3538537"/>
            <a:ext cx="53197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The Object (Instance)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2287" y="3929062"/>
            <a:ext cx="445293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 concrete instance created from the blueprint containing real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4687" y="4710112"/>
            <a:ext cx="414813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172A"/>
                </a:solidFill>
                <a:latin typeface="Fira Code"/>
              </a:rPr>
              <a:t>my_dog = Dog()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558479"/>
            <a:ext cx="6568380" cy="2035871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58980" y="2828925"/>
            <a:ext cx="4023419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58980" y="4019550"/>
            <a:ext cx="4023419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58980" y="2828925"/>
            <a:ext cx="38100" cy="10001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58980" y="4019550"/>
            <a:ext cx="38100" cy="1000125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02 / CORE SYNTAX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Defining Your First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787080"/>
            <a:ext cx="6130230" cy="1673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F43F5E"/>
                </a:solidFill>
                <a:latin typeface="Fira Code"/>
              </a:rPr>
              <a:t>class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 </a:t>
            </a:r>
            <a:r>
              <a:rPr sz="1350" b="0" i="0" u="none" dirty="0">
                <a:solidFill>
                  <a:srgbClr val="FBBF24"/>
                </a:solidFill>
                <a:latin typeface="Fira Code"/>
              </a:rPr>
              <a:t>Dog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: </a:t>
            </a:r>
            <a:r>
              <a:rPr sz="1350" b="0" i="1" u="none" dirty="0">
                <a:solidFill>
                  <a:srgbClr val="64748B"/>
                </a:solidFill>
                <a:latin typeface="Fira Code"/>
              </a:rPr>
              <a:t># Constructor method</a:t>
            </a:r>
            <a:endParaRPr lang="en-US" sz="1350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160"/>
              </a:lnSpc>
            </a:pPr>
            <a:r>
              <a:rPr lang="en-US" sz="1350" b="0" i="0" u="none" dirty="0">
                <a:solidFill>
                  <a:srgbClr val="F43F5E"/>
                </a:solidFill>
                <a:latin typeface="Fira Code"/>
              </a:rPr>
              <a:t>	</a:t>
            </a:r>
            <a:r>
              <a:rPr sz="1350" b="0" i="0" u="none" dirty="0">
                <a:solidFill>
                  <a:srgbClr val="F43F5E"/>
                </a:solidFill>
                <a:latin typeface="Fira Code"/>
              </a:rPr>
              <a:t>def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 </a:t>
            </a:r>
            <a:r>
              <a:rPr sz="1350" b="0" i="0" u="none" dirty="0">
                <a:solidFill>
                  <a:srgbClr val="38BDF8"/>
                </a:solidFill>
                <a:latin typeface="Fira Code"/>
              </a:rPr>
              <a:t>__</a:t>
            </a:r>
            <a:r>
              <a:rPr sz="1350" b="0" i="0" u="none" dirty="0" err="1">
                <a:solidFill>
                  <a:srgbClr val="38BDF8"/>
                </a:solidFill>
                <a:latin typeface="Fira Code"/>
              </a:rPr>
              <a:t>init</a:t>
            </a:r>
            <a:r>
              <a:rPr sz="1350" b="0" i="0" u="none" dirty="0">
                <a:solidFill>
                  <a:srgbClr val="38BDF8"/>
                </a:solidFill>
                <a:latin typeface="Fira Code"/>
              </a:rPr>
              <a:t>__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(</a:t>
            </a:r>
            <a:r>
              <a:rPr sz="1350" b="0" i="0" u="none" dirty="0">
                <a:solidFill>
                  <a:srgbClr val="FB7185"/>
                </a:solidFill>
                <a:latin typeface="Fira Code"/>
              </a:rPr>
              <a:t>self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, name, age):</a:t>
            </a:r>
            <a:endParaRPr lang="en-US" sz="135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160"/>
              </a:lnSpc>
            </a:pPr>
            <a:r>
              <a:rPr lang="en-US" sz="1350" b="0" i="0" u="none" dirty="0">
                <a:solidFill>
                  <a:srgbClr val="FB7185"/>
                </a:solidFill>
                <a:latin typeface="Fira Code"/>
              </a:rPr>
              <a:t>		</a:t>
            </a:r>
            <a:r>
              <a:rPr sz="1350" b="0" i="0" u="none" dirty="0">
                <a:solidFill>
                  <a:srgbClr val="FB7185"/>
                </a:solidFill>
                <a:latin typeface="Fira Code"/>
              </a:rPr>
              <a:t>self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.name = name </a:t>
            </a:r>
            <a:r>
              <a:rPr sz="1350" b="0" i="1" u="none" dirty="0">
                <a:solidFill>
                  <a:srgbClr val="64748B"/>
                </a:solidFill>
                <a:latin typeface="Fira Code"/>
              </a:rPr>
              <a:t># Attribute</a:t>
            </a:r>
            <a:endParaRPr lang="en-US" sz="1350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160"/>
              </a:lnSpc>
            </a:pPr>
            <a:r>
              <a:rPr lang="en-US" sz="1350" b="0" i="0" u="none" dirty="0">
                <a:solidFill>
                  <a:srgbClr val="FB7185"/>
                </a:solidFill>
                <a:latin typeface="Fira Code"/>
              </a:rPr>
              <a:t>		</a:t>
            </a:r>
            <a:r>
              <a:rPr sz="1350" b="0" i="0" u="none" dirty="0" err="1">
                <a:solidFill>
                  <a:srgbClr val="FB7185"/>
                </a:solidFill>
                <a:latin typeface="Fira Code"/>
              </a:rPr>
              <a:t>self</a:t>
            </a:r>
            <a:r>
              <a:rPr sz="1350" b="0" i="0" u="none" dirty="0" err="1">
                <a:solidFill>
                  <a:srgbClr val="E2E8F0"/>
                </a:solidFill>
                <a:latin typeface="Fira Code"/>
              </a:rPr>
              <a:t>.age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 = age </a:t>
            </a:r>
            <a:r>
              <a:rPr sz="1350" b="0" i="1" u="none" dirty="0">
                <a:solidFill>
                  <a:srgbClr val="64748B"/>
                </a:solidFill>
                <a:latin typeface="Fira Code"/>
              </a:rPr>
              <a:t># Attribute</a:t>
            </a:r>
            <a:endParaRPr lang="en-US" sz="1350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160"/>
              </a:lnSpc>
            </a:pPr>
            <a:r>
              <a:rPr lang="en-US" sz="1350" b="0" i="1" u="none" dirty="0">
                <a:solidFill>
                  <a:srgbClr val="64748B"/>
                </a:solidFill>
                <a:latin typeface="Fira Code"/>
              </a:rPr>
              <a:t>	</a:t>
            </a:r>
            <a:r>
              <a:rPr sz="1350" b="0" i="1" u="none" dirty="0">
                <a:solidFill>
                  <a:srgbClr val="64748B"/>
                </a:solidFill>
                <a:latin typeface="Fira Code"/>
              </a:rPr>
              <a:t># Custom method</a:t>
            </a:r>
            <a:endParaRPr lang="en-US" sz="1350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160"/>
              </a:lnSpc>
            </a:pPr>
            <a:r>
              <a:rPr lang="en-US" sz="1350" b="0" i="0" u="none">
                <a:solidFill>
                  <a:srgbClr val="F43F5E"/>
                </a:solidFill>
                <a:latin typeface="Fira Code"/>
              </a:rPr>
              <a:t>	</a:t>
            </a:r>
            <a:r>
              <a:rPr sz="1350" b="0" i="0" u="none">
                <a:solidFill>
                  <a:srgbClr val="F43F5E"/>
                </a:solidFill>
                <a:latin typeface="Fira Code"/>
              </a:rPr>
              <a:t>def</a:t>
            </a:r>
            <a:r>
              <a:rPr sz="1350" b="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sz="1350" b="0" i="0" u="none" dirty="0">
                <a:solidFill>
                  <a:srgbClr val="38BDF8"/>
                </a:solidFill>
                <a:latin typeface="Fira Code"/>
              </a:rPr>
              <a:t>bark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(</a:t>
            </a:r>
            <a:r>
              <a:rPr sz="1350" b="0" i="0" u="none" dirty="0">
                <a:solidFill>
                  <a:srgbClr val="FB7185"/>
                </a:solidFill>
                <a:latin typeface="Fira Code"/>
              </a:rPr>
              <a:t>self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): </a:t>
            </a:r>
            <a:r>
              <a:rPr sz="1350" b="0" i="0" u="none" dirty="0">
                <a:solidFill>
                  <a:srgbClr val="F43F5E"/>
                </a:solidFill>
                <a:latin typeface="Fira Code"/>
              </a:rPr>
              <a:t>return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 f</a:t>
            </a:r>
            <a:r>
              <a:rPr sz="1350" b="0" i="0" u="none" dirty="0">
                <a:solidFill>
                  <a:srgbClr val="34D399"/>
                </a:solidFill>
                <a:latin typeface="Fira Code"/>
              </a:rPr>
              <a:t>"{self.name} says Woof!"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7580" y="3019425"/>
            <a:ext cx="440441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__init__()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7580" y="3257550"/>
            <a:ext cx="369956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The constructor that automatically initializes object attributes upon creation.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7580" y="4210050"/>
            <a:ext cx="440441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self Parameter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7580" y="4448175"/>
            <a:ext cx="369956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Refers strictly to the specific instance currently executing the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558479"/>
            <a:ext cx="6568380" cy="2183944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58980" y="2792908"/>
            <a:ext cx="4023419" cy="1055191"/>
          </a:xfrm>
          <a:prstGeom prst="roundRect">
            <a:avLst>
              <a:gd name="adj" fmla="val 1083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58980" y="4000500"/>
            <a:ext cx="4023419" cy="1055191"/>
          </a:xfrm>
          <a:prstGeom prst="roundRect">
            <a:avLst>
              <a:gd name="adj" fmla="val 1083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59005" y="3212008"/>
            <a:ext cx="480119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01075" y="3212008"/>
            <a:ext cx="480119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35280" y="4632870"/>
            <a:ext cx="1577578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03 /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Creating &amp; Using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87080"/>
            <a:ext cx="6130230" cy="1955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1" u="none" dirty="0">
                <a:solidFill>
                  <a:srgbClr val="64748B"/>
                </a:solidFill>
                <a:latin typeface="Fira Code"/>
              </a:rPr>
              <a:t># 1. Instantiate objects</a:t>
            </a:r>
            <a:endParaRPr lang="en-US" sz="1350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E2E8F0"/>
                </a:solidFill>
                <a:latin typeface="Fira Code"/>
              </a:rPr>
              <a:t>dog1 = </a:t>
            </a:r>
            <a:r>
              <a:rPr sz="1350" b="0" i="0" u="none" dirty="0">
                <a:solidFill>
                  <a:srgbClr val="FBBF24"/>
                </a:solidFill>
                <a:latin typeface="Fira Code"/>
              </a:rPr>
              <a:t>Dog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(</a:t>
            </a:r>
            <a:r>
              <a:rPr sz="1350" b="0" i="0" u="none" dirty="0">
                <a:solidFill>
                  <a:srgbClr val="34D399"/>
                </a:solidFill>
                <a:latin typeface="Fira Code"/>
              </a:rPr>
              <a:t>"Buddy"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, </a:t>
            </a:r>
            <a:r>
              <a:rPr sz="1350" b="0" i="0" u="none" dirty="0">
                <a:solidFill>
                  <a:srgbClr val="34D399"/>
                </a:solidFill>
                <a:latin typeface="Fira Code"/>
              </a:rPr>
              <a:t>3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)</a:t>
            </a:r>
            <a:endParaRPr lang="en-US" sz="135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E2E8F0"/>
                </a:solidFill>
                <a:latin typeface="Fira Code"/>
              </a:rPr>
              <a:t>dog2 = </a:t>
            </a:r>
            <a:r>
              <a:rPr sz="1350" b="0" i="0" u="none" dirty="0">
                <a:solidFill>
                  <a:srgbClr val="FBBF24"/>
                </a:solidFill>
                <a:latin typeface="Fira Code"/>
              </a:rPr>
              <a:t>Dog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(</a:t>
            </a:r>
            <a:r>
              <a:rPr sz="1350" b="0" i="0" u="none" dirty="0">
                <a:solidFill>
                  <a:srgbClr val="34D399"/>
                </a:solidFill>
                <a:latin typeface="Fira Code"/>
              </a:rPr>
              <a:t>"Lucy"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, </a:t>
            </a:r>
            <a:r>
              <a:rPr sz="1350" b="0" i="0" u="none" dirty="0">
                <a:solidFill>
                  <a:srgbClr val="34D399"/>
                </a:solidFill>
                <a:latin typeface="Fira Code"/>
              </a:rPr>
              <a:t>5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)</a:t>
            </a:r>
            <a:endParaRPr lang="en-US" sz="135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160"/>
              </a:lnSpc>
            </a:pPr>
            <a:r>
              <a:rPr sz="1350" b="0" i="1" u="none" dirty="0">
                <a:solidFill>
                  <a:srgbClr val="64748B"/>
                </a:solidFill>
                <a:latin typeface="Fira Code"/>
              </a:rPr>
              <a:t># 2. Access attributes</a:t>
            </a:r>
            <a:endParaRPr lang="en-US" sz="1350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38BDF8"/>
                </a:solidFill>
                <a:latin typeface="Fira Code"/>
              </a:rPr>
              <a:t>print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(dog1.name)</a:t>
            </a:r>
            <a:r>
              <a:rPr sz="1350" b="0" i="1" u="none" dirty="0">
                <a:solidFill>
                  <a:srgbClr val="64748B"/>
                </a:solidFill>
                <a:latin typeface="Fira Code"/>
              </a:rPr>
              <a:t># Output: Buddy</a:t>
            </a:r>
            <a:endParaRPr lang="en-US" sz="1350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160"/>
              </a:lnSpc>
            </a:pPr>
            <a:r>
              <a:rPr sz="1350" b="0" i="1" u="none" dirty="0">
                <a:solidFill>
                  <a:srgbClr val="64748B"/>
                </a:solidFill>
                <a:latin typeface="Fira Code"/>
              </a:rPr>
              <a:t># 3. Call methods</a:t>
            </a:r>
            <a:endParaRPr lang="en-US" sz="1350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38BDF8"/>
                </a:solidFill>
                <a:latin typeface="Fira Code"/>
              </a:rPr>
              <a:t>print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(dog2.</a:t>
            </a:r>
            <a:r>
              <a:rPr sz="1350" b="0" i="0" u="none" dirty="0">
                <a:solidFill>
                  <a:srgbClr val="38BDF8"/>
                </a:solidFill>
                <a:latin typeface="Fira Code"/>
              </a:rPr>
              <a:t>bark</a:t>
            </a:r>
            <a:r>
              <a:rPr sz="1350" b="0" i="0" u="none" dirty="0">
                <a:solidFill>
                  <a:srgbClr val="E2E8F0"/>
                </a:solidFill>
                <a:latin typeface="Fira Code"/>
              </a:rPr>
              <a:t>()) </a:t>
            </a:r>
            <a:r>
              <a:rPr sz="1350" b="0" i="1" u="none" dirty="0">
                <a:solidFill>
                  <a:srgbClr val="64748B"/>
                </a:solidFill>
                <a:latin typeface="Fira Code"/>
              </a:rPr>
              <a:t># Output: Lucy says Woof!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9005" y="2992933"/>
            <a:ext cx="443299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INDEPENDENT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9005" y="3212008"/>
            <a:ext cx="3718619" cy="436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0" i="0" u="none" dirty="0">
                <a:solidFill>
                  <a:srgbClr val="334155"/>
                </a:solidFill>
                <a:latin typeface="Inter"/>
              </a:rPr>
              <a:t>dog1  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and </a:t>
            </a:r>
            <a:r>
              <a:rPr lang="en-US" sz="1200" b="0" i="0" u="none" dirty="0">
                <a:solidFill>
                  <a:srgbClr val="334155"/>
                </a:solidFill>
                <a:latin typeface="Inter"/>
              </a:rPr>
              <a:t>dog2 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hold unique attribute values while sharing identical methods.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9005" y="4200525"/>
            <a:ext cx="443299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DOT NOTATION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9005" y="4419600"/>
            <a:ext cx="3718619" cy="436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Access internal data or trigger actions using the standard syntax.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2430" y="4651920"/>
            <a:ext cx="185767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monospace"/>
              </a:rPr>
              <a:t>object.attribute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33500" y="3155156"/>
            <a:ext cx="3022550" cy="1862137"/>
          </a:xfrm>
          <a:prstGeom prst="roundRect">
            <a:avLst>
              <a:gd name="adj" fmla="val 81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84650" y="3155156"/>
            <a:ext cx="3022550" cy="1862137"/>
          </a:xfrm>
          <a:prstGeom prst="roundRect">
            <a:avLst>
              <a:gd name="adj" fmla="val 81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835800" y="3155156"/>
            <a:ext cx="3022550" cy="1862137"/>
          </a:xfrm>
          <a:prstGeom prst="roundRect">
            <a:avLst>
              <a:gd name="adj" fmla="val 81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25070" y="1840706"/>
            <a:ext cx="154185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Space Grotesk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4402" y="2164556"/>
            <a:ext cx="5563195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8FAFC"/>
                </a:solidFill>
                <a:latin typeface="Space Grotesk"/>
              </a:rPr>
              <a:t>3 Rules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725" y="3431381"/>
            <a:ext cx="30876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725" y="3821906"/>
            <a:ext cx="32420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Blueprints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725" y="4098131"/>
            <a:ext cx="25653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Classes structure code by grouping attributes (data) and methods (behavior)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875" y="3431381"/>
            <a:ext cx="30876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4D399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875" y="3821906"/>
            <a:ext cx="32420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Always Pass 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875" y="4098131"/>
            <a:ext cx="2565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Methods require </a:t>
            </a:r>
            <a:r>
              <a:rPr sz="1125" b="0" i="0" u="none">
                <a:solidFill>
                  <a:srgbClr val="FB7185"/>
                </a:solidFill>
                <a:latin typeface="Inter"/>
              </a:rPr>
              <a:t>self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as the first argument to access instance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2025" y="3431381"/>
            <a:ext cx="30876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BBF24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2025" y="3821906"/>
            <a:ext cx="32420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Reuse &amp;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2025" y="4098131"/>
            <a:ext cx="25653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Instantiate as many unique objects as needed from a single defined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76e33ca-d656-4e46-8bcb-7d5ba898ae66}" enabled="0" method="" siteId="{376e33ca-d656-4e46-8bcb-7d5ba898ae6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Space Grotesk</vt:lpstr>
      <vt:lpstr>Calibri</vt:lpstr>
      <vt:lpstr>Inter</vt:lpstr>
      <vt:lpstr>Arial</vt:lpstr>
      <vt:lpstr>Fira Code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Tabet Eliot, BKW Energie AG</cp:lastModifiedBy>
  <cp:revision>1</cp:revision>
  <dcterms:created xsi:type="dcterms:W3CDTF">2013-01-27T09:14:16Z</dcterms:created>
  <dcterms:modified xsi:type="dcterms:W3CDTF">2026-10-23T08:08:04Z</dcterms:modified>
  <cp:category/>
</cp:coreProperties>
</file>